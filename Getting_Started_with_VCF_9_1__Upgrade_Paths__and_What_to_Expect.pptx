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95" r:id="rId4"/>
  </p:sldMasterIdLst>
  <p:notesMasterIdLst>
    <p:notesMasterId r:id="rId31"/>
  </p:notesMasterIdLst>
  <p:handoutMasterIdLst>
    <p:handoutMasterId r:id="rId32"/>
  </p:handoutMasterIdLst>
  <p:sldIdLst>
    <p:sldId id="2147483316" r:id="rId5"/>
    <p:sldId id="2147483317" r:id="rId6"/>
    <p:sldId id="256" r:id="rId7"/>
    <p:sldId id="2147483311" r:id="rId8"/>
    <p:sldId id="317" r:id="rId9"/>
    <p:sldId id="305" r:id="rId10"/>
    <p:sldId id="2147483318" r:id="rId11"/>
    <p:sldId id="319" r:id="rId12"/>
    <p:sldId id="320" r:id="rId13"/>
    <p:sldId id="2147483319" r:id="rId14"/>
    <p:sldId id="2147483312" r:id="rId15"/>
    <p:sldId id="323" r:id="rId16"/>
    <p:sldId id="314" r:id="rId17"/>
    <p:sldId id="2147483320" r:id="rId18"/>
    <p:sldId id="312" r:id="rId19"/>
    <p:sldId id="311" r:id="rId20"/>
    <p:sldId id="322" r:id="rId21"/>
    <p:sldId id="2147483321" r:id="rId22"/>
    <p:sldId id="332" r:id="rId23"/>
    <p:sldId id="307" r:id="rId24"/>
    <p:sldId id="304" r:id="rId25"/>
    <p:sldId id="2147483322" r:id="rId26"/>
    <p:sldId id="335" r:id="rId27"/>
    <p:sldId id="336" r:id="rId28"/>
    <p:sldId id="337" r:id="rId29"/>
    <p:sldId id="2147483323" r:id="rId30"/>
  </p:sldIdLst>
  <p:sldSz cx="12188825"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3" clrIdx="1"/>
  <p:cmAuthor id="3" name="Wendy Ouellette" initials="WO" lastIdx="1" clrIdx="2">
    <p:extLst>
      <p:ext uri="{19B8F6BF-5375-455C-9EA6-DF929625EA0E}">
        <p15:presenceInfo xmlns:p15="http://schemas.microsoft.com/office/powerpoint/2012/main" userId="S::wouellette@vmware.com::1423423b-46e9-448d-b172-f148f3fbf4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A60C"/>
    <a:srgbClr val="FFFFFF"/>
    <a:srgbClr val="6C4A94"/>
    <a:srgbClr val="FF7E79"/>
    <a:srgbClr val="97999B"/>
    <a:srgbClr val="99999B"/>
    <a:srgbClr val="CC092F"/>
    <a:srgbClr val="E2E3E4"/>
    <a:srgbClr val="E68C28"/>
    <a:srgbClr val="5356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66" autoAdjust="0"/>
    <p:restoredTop sz="87339" autoAdjust="0"/>
  </p:normalViewPr>
  <p:slideViewPr>
    <p:cSldViewPr snapToGrid="0">
      <p:cViewPr varScale="1">
        <p:scale>
          <a:sx n="111" d="100"/>
          <a:sy n="111" d="100"/>
        </p:scale>
        <p:origin x="1440" y="200"/>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119" d="100"/>
          <a:sy n="119" d="100"/>
        </p:scale>
        <p:origin x="4136" y="8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t>5/13/26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t>‹#›</a:t>
            </a:fld>
            <a:endParaRPr lang="en-US" dirty="0"/>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n-l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n-lt"/>
              </a:defRPr>
            </a:lvl1pPr>
          </a:lstStyle>
          <a:p>
            <a:fld id="{3CB6F0DB-E055-41D0-9102-627A646E4242}" type="datetimeFigureOut">
              <a:rPr lang="en-US" smtClean="0"/>
              <a:pPr/>
              <a:t>5/13/26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n-l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n-lt"/>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The upgrade path to VCF 9.0 starts with VCF Operations.   Check for and resolve any alerts/alarms in your environment before attempting the upgrade.   Note that VUM and ELM are deprecated in VCF 9.0 and as such you will need to transition away from these solutions when you upgrade.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Talk Track: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VCF Operations is a required component of VCF 9.0.   As part of the VCF 9.0 upgrade you will need to either upgrade an existing Aria Operations instance to VCF Operations 9.0 or deploy a new VCF Operations 9.0 instance.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Before you attempt to upgrade, be sure to check for any open alerts/alarms in vSphere, vSAN, NSX, VCF Operations, and the SDDC manager.   It’s recommended you address any issues prior to attempting the upgrade.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Also, it’s good to check for password and certificate expirations to ensure all are valid and nothing will expire during the upgrade window.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If using VUM or ELM you will need to transition away from those solutions as part of the VCF 9.0 upgrade.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Resources:</a:t>
            </a:r>
          </a:p>
          <a:p>
            <a:endParaRPr lang="en-US"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VMware Cloud Foundation 9.0 Release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kern="0" dirty="0">
                <a:solidFill>
                  <a:srgbClr val="0563C1"/>
                </a:solidFill>
                <a:effectLst/>
                <a:latin typeface="Arial" panose="020B0604020202020204" pitchFamily="34" charset="0"/>
                <a:ea typeface="Times New Roman" panose="02020603050405020304" pitchFamily="18" charset="0"/>
                <a:hlinkClick r:id="rId3"/>
              </a:rPr>
              <a:t>https://docs.vmware.com/en/VMware-Cloud-Foundation/index.html</a:t>
            </a:r>
            <a:r>
              <a:rPr lang="en-US" sz="1800" kern="0" dirty="0">
                <a:effectLst/>
                <a:latin typeface="Arial" panose="020B0604020202020204" pitchFamily="34" charset="0"/>
                <a:ea typeface="Times New Roman" panose="02020603050405020304" pitchFamily="18" charset="0"/>
              </a:rPr>
              <a:t> </a:t>
            </a:r>
            <a:endParaRPr lang="en-US" strike="noStrike" baseline="0" dirty="0">
              <a:latin typeface="Arial" panose="020B0604020202020204" pitchFamily="34" charset="0"/>
            </a:endParaRPr>
          </a:p>
          <a:p>
            <a:endParaRPr lang="en-US" strike="noStrike" baseline="0" dirty="0"/>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a:t>
            </a:fld>
            <a:endParaRPr lang="en-US" dirty="0"/>
          </a:p>
        </p:txBody>
      </p:sp>
    </p:spTree>
    <p:extLst>
      <p:ext uri="{BB962C8B-B14F-4D97-AF65-F5344CB8AC3E}">
        <p14:creationId xmlns:p14="http://schemas.microsoft.com/office/powerpoint/2010/main" val="1815472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4A9F4-355F-FFE9-973B-17F3FE920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9D346-79AC-F67D-13E8-200BF048405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BE30229-6113-8548-2BC9-952153AD3BE8}"/>
              </a:ext>
            </a:extLst>
          </p:cNvPr>
          <p:cNvSpPr>
            <a:spLocks noGrp="1"/>
          </p:cNvSpPr>
          <p:nvPr>
            <p:ph type="body" idx="1"/>
          </p:nvPr>
        </p:nvSpPr>
        <p:spPr/>
        <p:txBody>
          <a:bodyPr>
            <a:normAutofit fontScale="850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Arial" panose="020B0604020202020204" pitchFamily="34" charset="0"/>
                <a:ea typeface="+mn-ea"/>
                <a:cs typeface="+mn-cs"/>
              </a:rPr>
              <a:t>Key Message: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baseline="0" dirty="0">
                <a:solidFill>
                  <a:schemeClr val="tx1"/>
                </a:solidFill>
                <a:latin typeface="Arial" panose="020B0604020202020204" pitchFamily="34" charset="0"/>
                <a:ea typeface="+mn-ea"/>
                <a:cs typeface="+mn-cs"/>
              </a:rPr>
              <a:t>A VCF private cloud is implemented on a modular architecture that combines workload domains into VCF Instances, which are further combined into VCF Fleets.   VCF Fleets are centrally managed from central instance of VCF Operations and Automation.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kern="1200" baseline="0" dirty="0">
              <a:solidFill>
                <a:schemeClr val="tx1"/>
              </a:solidFill>
              <a:latin typeface="Arial" panose="020B060402020202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trike="noStrike" dirty="0">
                <a:solidFill>
                  <a:schemeClr val="tx1"/>
                </a:solidFill>
                <a:latin typeface="Arial" panose="020B0604020202020204" pitchFamily="34" charset="0"/>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strike="noStrike"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trike="noStrike" dirty="0">
                <a:solidFill>
                  <a:schemeClr val="tx1"/>
                </a:solidFill>
                <a:latin typeface="Arial" panose="020B0604020202020204" pitchFamily="34" charset="0"/>
              </a:rPr>
              <a:t>Workload Domain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the core of the VCF architecture is the </a:t>
            </a:r>
            <a:r>
              <a:rPr lang="en-US" b="1" dirty="0"/>
              <a:t>workload domain</a:t>
            </a:r>
            <a:r>
              <a:rPr lang="en-US" dirty="0"/>
              <a:t>.  A </a:t>
            </a:r>
            <a:r>
              <a:rPr lang="en-US" b="1" dirty="0"/>
              <a:t>Workload Domain</a:t>
            </a:r>
            <a:r>
              <a:rPr lang="en-US" dirty="0"/>
              <a:t> is a logical unit of application-ready infrastructure that groups ESX hosts into one or more vSphere clusters each providing specific performance, availability, or security characteristics.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Think of a workload domain as a standardized, repeatable unit of private cloud capacity—bundling compute, storage, and networking into an isolated pool. Because workload domains are managed through automation, you can create, scale, or delete them on demand. In addition, each workload domain is managed and life-cycled independently.</a:t>
            </a:r>
            <a:endParaRPr lang="en-US" dirty="0">
              <a:solidFill>
                <a:schemeClr val="tx1"/>
              </a:solidFill>
              <a:latin typeface="Arial" panose="020B0604020202020204" pitchFamily="34" charset="0"/>
            </a:endParaRPr>
          </a:p>
          <a:p>
            <a:endParaRPr lang="en-US" dirty="0"/>
          </a:p>
          <a:p>
            <a:r>
              <a:rPr lang="en-US" b="1" dirty="0"/>
              <a:t>VCF Instance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or more workload domains are logically combined into a </a:t>
            </a:r>
            <a:r>
              <a:rPr lang="en-US" b="1" dirty="0"/>
              <a:t>VCF Instance.   </a:t>
            </a:r>
            <a:r>
              <a:rPr lang="en-US" dirty="0"/>
              <a:t>A </a:t>
            </a:r>
            <a:r>
              <a:rPr lang="en-US" b="1" dirty="0"/>
              <a:t>VCF Instance</a:t>
            </a:r>
            <a:r>
              <a:rPr lang="en-US" dirty="0"/>
              <a:t> represents the collection of workload domains within a single location or site. VCF Instances shared a common software depot and collection of VCF management services.</a:t>
            </a:r>
          </a:p>
          <a:p>
            <a:endParaRPr lang="en-US" b="0" dirty="0"/>
          </a:p>
          <a:p>
            <a:r>
              <a:rPr lang="en-US" b="1" dirty="0"/>
              <a:t>VCF Fleet</a:t>
            </a:r>
          </a:p>
          <a:p>
            <a:r>
              <a:rPr lang="en-US" b="0" dirty="0"/>
              <a:t>VCF Instances are then grouped into </a:t>
            </a:r>
            <a:r>
              <a:rPr lang="en-US" b="1" dirty="0"/>
              <a:t>VCF fleets. </a:t>
            </a:r>
            <a:r>
              <a:rPr lang="en-US" b="0" dirty="0"/>
              <a:t>Each VCF Fleet is managed from a set of centralized services that are provided by a dedicated instance of VCF Operations and Automation.</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panose="020B0604020202020204" pitchFamily="34" charset="0"/>
              </a:rPr>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Resources:</a:t>
            </a:r>
            <a:br>
              <a:rPr lang="en-US" sz="1200" b="1" u="none" strike="noStrike" kern="1200" dirty="0">
                <a:solidFill>
                  <a:schemeClr val="tx1"/>
                </a:solidFill>
                <a:effectLst/>
                <a:latin typeface="Arial" panose="020B0604020202020204" pitchFamily="34" charset="0"/>
                <a:ea typeface="+mn-ea"/>
                <a:cs typeface="+mn-cs"/>
              </a:rPr>
            </a:b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 on Workload Domains:</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Getting Started Guide for further information on Getting Started with VMware Cloud Foundation: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p:txBody>
      </p:sp>
      <p:sp>
        <p:nvSpPr>
          <p:cNvPr id="4" name="Slide Number Placeholder 3">
            <a:extLst>
              <a:ext uri="{FF2B5EF4-FFF2-40B4-BE49-F238E27FC236}">
                <a16:creationId xmlns:a16="http://schemas.microsoft.com/office/drawing/2014/main" id="{D2659DA0-478A-5A17-C0A5-D9B30594DADA}"/>
              </a:ext>
            </a:extLst>
          </p:cNvPr>
          <p:cNvSpPr>
            <a:spLocks noGrp="1"/>
          </p:cNvSpPr>
          <p:nvPr>
            <p:ph type="sldNum" sz="quarter" idx="5"/>
          </p:nvPr>
        </p:nvSpPr>
        <p:spPr/>
        <p:txBody>
          <a:bodyPr/>
          <a:lstStyle/>
          <a:p>
            <a:fld id="{9F4FBC3A-A12C-40F9-BB8D-BC30C7901396}" type="slidenum">
              <a:rPr lang="en-US" smtClean="0"/>
              <a:pPr/>
              <a:t>4</a:t>
            </a:fld>
            <a:endParaRPr lang="en-US" dirty="0"/>
          </a:p>
        </p:txBody>
      </p:sp>
    </p:spTree>
    <p:extLst>
      <p:ext uri="{BB962C8B-B14F-4D97-AF65-F5344CB8AC3E}">
        <p14:creationId xmlns:p14="http://schemas.microsoft.com/office/powerpoint/2010/main" val="1284735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Upgrading involves updating the versions but also adding additional components to complete the Fleet.</a:t>
            </a:r>
            <a:br>
              <a:rPr lang="en-US" dirty="0"/>
            </a:br>
            <a:br>
              <a:rPr lang="en-US" dirty="0"/>
            </a:br>
            <a:r>
              <a:rPr lang="en-US" dirty="0"/>
              <a:t>This slide shows an example of the components required by each deployment type starting with standalone vSphere to VCF 5.2 to VCF 9.0 and VCF 9.1.</a:t>
            </a:r>
            <a:br>
              <a:rPr lang="en-US" dirty="0"/>
            </a:br>
            <a:br>
              <a:rPr lang="en-US" dirty="0"/>
            </a:br>
            <a:r>
              <a:rPr lang="en-US" dirty="0"/>
              <a:t>The intent of this slide is to highlight the evolution of VCF to include the additional components added with VCF 9.x to complete the VCF Fleet.</a:t>
            </a:r>
          </a:p>
        </p:txBody>
      </p:sp>
      <p:sp>
        <p:nvSpPr>
          <p:cNvPr id="4" name="Slide Number Placeholder 3"/>
          <p:cNvSpPr>
            <a:spLocks noGrp="1"/>
          </p:cNvSpPr>
          <p:nvPr>
            <p:ph type="sldNum" sz="quarter" idx="5"/>
          </p:nvPr>
        </p:nvSpPr>
        <p:spPr/>
        <p:txBody>
          <a:bodyPr/>
          <a:lstStyle/>
          <a:p>
            <a:fld id="{9F4FBC3A-A12C-40F9-BB8D-BC30C7901396}" type="slidenum">
              <a:rPr lang="en-US" smtClean="0"/>
              <a:pPr/>
              <a:t>5</a:t>
            </a:fld>
            <a:endParaRPr lang="en-US" dirty="0"/>
          </a:p>
        </p:txBody>
      </p:sp>
    </p:spTree>
    <p:extLst>
      <p:ext uri="{BB962C8B-B14F-4D97-AF65-F5344CB8AC3E}">
        <p14:creationId xmlns:p14="http://schemas.microsoft.com/office/powerpoint/2010/main" val="1141718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D260A-E11B-D2DF-78F1-698CE00FA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E2DF6-85E0-D549-8BDF-53202AF813A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E1CAC6E-88CF-DC38-227C-C7E95CF6C02A}"/>
              </a:ext>
            </a:extLst>
          </p:cNvPr>
          <p:cNvSpPr>
            <a:spLocks noGrp="1"/>
          </p:cNvSpPr>
          <p:nvPr>
            <p:ph type="body" idx="1"/>
          </p:nvPr>
        </p:nvSpPr>
        <p:spPr/>
        <p:txBody>
          <a:bodyPr>
            <a:normAutofit fontScale="850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Arial" panose="020B0604020202020204" pitchFamily="34" charset="0"/>
                <a:ea typeface="+mn-ea"/>
                <a:cs typeface="+mn-cs"/>
              </a:rPr>
              <a:t>Key Message: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baseline="0" dirty="0">
                <a:solidFill>
                  <a:schemeClr val="tx1"/>
                </a:solidFill>
                <a:latin typeface="Arial" panose="020B0604020202020204" pitchFamily="34" charset="0"/>
                <a:ea typeface="+mn-ea"/>
                <a:cs typeface="+mn-cs"/>
              </a:rPr>
              <a:t>A VCF private cloud is implemented on a modular architecture that combines workload domains into VCF Instances, which are further combined into VCF Fleets.   VCF Fleets are centrally managed from central instance of VCF Operations and Automation.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kern="1200" baseline="0" dirty="0">
              <a:solidFill>
                <a:schemeClr val="tx1"/>
              </a:solidFill>
              <a:latin typeface="Arial" panose="020B0604020202020204"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trike="noStrike" dirty="0">
                <a:solidFill>
                  <a:schemeClr val="tx1"/>
                </a:solidFill>
                <a:latin typeface="Arial" panose="020B0604020202020204" pitchFamily="34" charset="0"/>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strike="noStrike"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trike="noStrike" dirty="0">
                <a:solidFill>
                  <a:schemeClr val="tx1"/>
                </a:solidFill>
                <a:latin typeface="Arial" panose="020B0604020202020204" pitchFamily="34" charset="0"/>
              </a:rPr>
              <a:t>Workload Domain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the core of the VCF architecture is the </a:t>
            </a:r>
            <a:r>
              <a:rPr lang="en-US" b="1" dirty="0"/>
              <a:t>workload domain</a:t>
            </a:r>
            <a:r>
              <a:rPr lang="en-US" dirty="0"/>
              <a:t>.  A </a:t>
            </a:r>
            <a:r>
              <a:rPr lang="en-US" b="1" dirty="0"/>
              <a:t>Workload Domain</a:t>
            </a:r>
            <a:r>
              <a:rPr lang="en-US" dirty="0"/>
              <a:t> is a logical unit of application-ready infrastructure that groups ESX hosts into one or more vSphere clusters each providing specific performance, availability, or security characteristics.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Think of a workload domain as a standardized, repeatable unit of private cloud capacity—bundling compute, storage, and networking into an isolated pool. Because workload domains are managed through automation, you can create, scale, or delete them on demand. In addition, each workload domain is managed and life-cycled independently.</a:t>
            </a:r>
            <a:endParaRPr lang="en-US" dirty="0">
              <a:solidFill>
                <a:schemeClr val="tx1"/>
              </a:solidFill>
              <a:latin typeface="Arial" panose="020B0604020202020204" pitchFamily="34" charset="0"/>
            </a:endParaRPr>
          </a:p>
          <a:p>
            <a:endParaRPr lang="en-US" dirty="0"/>
          </a:p>
          <a:p>
            <a:r>
              <a:rPr lang="en-US" b="1" dirty="0"/>
              <a:t>VCF Instance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or more workload domains are logically combined into a </a:t>
            </a:r>
            <a:r>
              <a:rPr lang="en-US" b="1" dirty="0"/>
              <a:t>VCF Instance.   </a:t>
            </a:r>
            <a:r>
              <a:rPr lang="en-US" dirty="0"/>
              <a:t>A </a:t>
            </a:r>
            <a:r>
              <a:rPr lang="en-US" b="1" dirty="0"/>
              <a:t>VCF Instance</a:t>
            </a:r>
            <a:r>
              <a:rPr lang="en-US" dirty="0"/>
              <a:t> represents the collection of workload domains within a single location or site. VCF Instances shared a common software depot and collection of VCF management services.</a:t>
            </a:r>
          </a:p>
          <a:p>
            <a:endParaRPr lang="en-US" b="0" dirty="0"/>
          </a:p>
          <a:p>
            <a:r>
              <a:rPr lang="en-US" b="1" dirty="0"/>
              <a:t>VCF Fleet</a:t>
            </a:r>
          </a:p>
          <a:p>
            <a:r>
              <a:rPr lang="en-US" b="0" dirty="0"/>
              <a:t>VCF Instances are then grouped into </a:t>
            </a:r>
            <a:r>
              <a:rPr lang="en-US" b="1" dirty="0"/>
              <a:t>VCF fleets. </a:t>
            </a:r>
            <a:r>
              <a:rPr lang="en-US" b="0" dirty="0"/>
              <a:t>Each VCF Fleet is managed from a set of centralized services that are provided by a dedicated instance of VCF Operations and Automation.</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panose="020B0604020202020204" pitchFamily="34" charset="0"/>
              </a:rPr>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Resources:</a:t>
            </a:r>
            <a:br>
              <a:rPr lang="en-US" sz="1200" b="1" u="none" strike="noStrike" kern="1200" dirty="0">
                <a:solidFill>
                  <a:schemeClr val="tx1"/>
                </a:solidFill>
                <a:effectLst/>
                <a:latin typeface="Arial" panose="020B0604020202020204" pitchFamily="34" charset="0"/>
                <a:ea typeface="+mn-ea"/>
                <a:cs typeface="+mn-cs"/>
              </a:rPr>
            </a:b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 on Workload Domains:</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effectLst/>
              <a:latin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Getting Started Guide for further information on Getting Started with VMware Cloud Foundation: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p:txBody>
      </p:sp>
      <p:sp>
        <p:nvSpPr>
          <p:cNvPr id="4" name="Slide Number Placeholder 3">
            <a:extLst>
              <a:ext uri="{FF2B5EF4-FFF2-40B4-BE49-F238E27FC236}">
                <a16:creationId xmlns:a16="http://schemas.microsoft.com/office/drawing/2014/main" id="{5E553571-85F4-DE33-85E5-3450326F1043}"/>
              </a:ext>
            </a:extLst>
          </p:cNvPr>
          <p:cNvSpPr>
            <a:spLocks noGrp="1"/>
          </p:cNvSpPr>
          <p:nvPr>
            <p:ph type="sldNum" sz="quarter" idx="5"/>
          </p:nvPr>
        </p:nvSpPr>
        <p:spPr/>
        <p:txBody>
          <a:bodyPr/>
          <a:lstStyle/>
          <a:p>
            <a:fld id="{9F4FBC3A-A12C-40F9-BB8D-BC30C7901396}" type="slidenum">
              <a:rPr lang="en-US" smtClean="0"/>
              <a:pPr/>
              <a:t>6</a:t>
            </a:fld>
            <a:endParaRPr lang="en-US" dirty="0"/>
          </a:p>
        </p:txBody>
      </p:sp>
    </p:spTree>
    <p:extLst>
      <p:ext uri="{BB962C8B-B14F-4D97-AF65-F5344CB8AC3E}">
        <p14:creationId xmlns:p14="http://schemas.microsoft.com/office/powerpoint/2010/main" val="1042645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12</a:t>
            </a:fld>
            <a:endParaRPr lang="en-US" dirty="0"/>
          </a:p>
        </p:txBody>
      </p:sp>
    </p:spTree>
    <p:extLst>
      <p:ext uri="{BB962C8B-B14F-4D97-AF65-F5344CB8AC3E}">
        <p14:creationId xmlns:p14="http://schemas.microsoft.com/office/powerpoint/2010/main" val="2885835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13</a:t>
            </a:fld>
            <a:endParaRPr lang="en-US" dirty="0"/>
          </a:p>
        </p:txBody>
      </p:sp>
    </p:spTree>
    <p:extLst>
      <p:ext uri="{BB962C8B-B14F-4D97-AF65-F5344CB8AC3E}">
        <p14:creationId xmlns:p14="http://schemas.microsoft.com/office/powerpoint/2010/main" val="3650960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C9151-822A-7412-5AEB-286FB1BED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3AD66-D959-933A-749A-9E6C40FB3E5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42EE0CF-8A0B-B42F-83AD-8B1813332F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FBC757-F58B-81FD-2A10-313C093EFBF5}"/>
              </a:ext>
            </a:extLst>
          </p:cNvPr>
          <p:cNvSpPr>
            <a:spLocks noGrp="1"/>
          </p:cNvSpPr>
          <p:nvPr>
            <p:ph type="sldNum" sz="quarter" idx="5"/>
          </p:nvPr>
        </p:nvSpPr>
        <p:spPr/>
        <p:txBody>
          <a:bodyPr/>
          <a:lstStyle/>
          <a:p>
            <a:fld id="{9F4FBC3A-A12C-40F9-BB8D-BC30C7901396}" type="slidenum">
              <a:rPr lang="en-US" smtClean="0"/>
              <a:pPr/>
              <a:t>17</a:t>
            </a:fld>
            <a:endParaRPr lang="en-US" dirty="0"/>
          </a:p>
        </p:txBody>
      </p:sp>
    </p:spTree>
    <p:extLst>
      <p:ext uri="{BB962C8B-B14F-4D97-AF65-F5344CB8AC3E}">
        <p14:creationId xmlns:p14="http://schemas.microsoft.com/office/powerpoint/2010/main" val="281621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9286E-5040-1345-3D34-84E3A4834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1A78A-1F4B-B55E-A951-988AE8010E4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EEE073-AF94-0A2D-40F3-11F204D801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A0EE1C-5E42-31AD-B6BB-C0DFA6529DF3}"/>
              </a:ext>
            </a:extLst>
          </p:cNvPr>
          <p:cNvSpPr>
            <a:spLocks noGrp="1"/>
          </p:cNvSpPr>
          <p:nvPr>
            <p:ph type="sldNum" sz="quarter" idx="5"/>
          </p:nvPr>
        </p:nvSpPr>
        <p:spPr/>
        <p:txBody>
          <a:bodyPr/>
          <a:lstStyle/>
          <a:p>
            <a:fld id="{9F4FBC3A-A12C-40F9-BB8D-BC30C7901396}" type="slidenum">
              <a:rPr lang="en-US" smtClean="0"/>
              <a:pPr/>
              <a:t>20</a:t>
            </a:fld>
            <a:endParaRPr lang="en-US" dirty="0"/>
          </a:p>
        </p:txBody>
      </p:sp>
    </p:spTree>
    <p:extLst>
      <p:ext uri="{BB962C8B-B14F-4D97-AF65-F5344CB8AC3E}">
        <p14:creationId xmlns:p14="http://schemas.microsoft.com/office/powerpoint/2010/main" val="1369489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03EAD-D334-1C30-DBC7-31EDB51B4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FE357-20A3-B9F5-2A70-CDB7C0BBEED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176E1FF-D56D-BA68-EB41-395A88E78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F4EFD4-4E87-7ACE-47C8-13FB1EB61E89}"/>
              </a:ext>
            </a:extLst>
          </p:cNvPr>
          <p:cNvSpPr>
            <a:spLocks noGrp="1"/>
          </p:cNvSpPr>
          <p:nvPr>
            <p:ph type="sldNum" sz="quarter" idx="5"/>
          </p:nvPr>
        </p:nvSpPr>
        <p:spPr/>
        <p:txBody>
          <a:bodyPr/>
          <a:lstStyle/>
          <a:p>
            <a:fld id="{9F4FBC3A-A12C-40F9-BB8D-BC30C7901396}" type="slidenum">
              <a:rPr lang="en-US" smtClean="0"/>
              <a:pPr/>
              <a:t>21</a:t>
            </a:fld>
            <a:endParaRPr lang="en-US" dirty="0"/>
          </a:p>
        </p:txBody>
      </p:sp>
    </p:spTree>
    <p:extLst>
      <p:ext uri="{BB962C8B-B14F-4D97-AF65-F5344CB8AC3E}">
        <p14:creationId xmlns:p14="http://schemas.microsoft.com/office/powerpoint/2010/main" val="30104669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9C5D994-E647-E15F-5855-615355B1458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5" name="Freeform: Shape 4">
            <a:extLst>
              <a:ext uri="{FF2B5EF4-FFF2-40B4-BE49-F238E27FC236}">
                <a16:creationId xmlns:a16="http://schemas.microsoft.com/office/drawing/2014/main" id="{03689AEB-304C-881F-44CE-28E14E31AD6E}"/>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23008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6646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7495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80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72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246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2198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userDrawn="1"/>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userDrawn="1"/>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userDrawn="1"/>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192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72992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a:outerShdw blurRad="241300" sx="102000" sy="102000" algn="ctr" rotWithShape="0">
              <a:schemeClr val="accent3">
                <a:alpha val="10000"/>
              </a:schemeClr>
            </a:outerShdw>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39694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3344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userDrawn="1"/>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userDrawn="1"/>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787000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934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402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87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0491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735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271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44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8059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646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1362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876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4508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dirty="0"/>
              <a:t>Click icon to add picture</a:t>
            </a:r>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6302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99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35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458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29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068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819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3470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02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1399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5643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TextBox 5">
            <a:extLst>
              <a:ext uri="{FF2B5EF4-FFF2-40B4-BE49-F238E27FC236}">
                <a16:creationId xmlns:a16="http://schemas.microsoft.com/office/drawing/2014/main" id="{B656F2E5-F037-5AFE-8A2F-9719B88B2F30}"/>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8" name="TextBox 7">
            <a:extLst>
              <a:ext uri="{FF2B5EF4-FFF2-40B4-BE49-F238E27FC236}">
                <a16:creationId xmlns:a16="http://schemas.microsoft.com/office/drawing/2014/main" id="{920DFE5E-1709-A7C5-7E2F-AD1472D0175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TextBox 1">
            <a:extLst>
              <a:ext uri="{FF2B5EF4-FFF2-40B4-BE49-F238E27FC236}">
                <a16:creationId xmlns:a16="http://schemas.microsoft.com/office/drawing/2014/main" id="{4277E1DA-8868-BA67-BE68-686EDA512F5C}"/>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Tree>
    <p:extLst>
      <p:ext uri="{BB962C8B-B14F-4D97-AF65-F5344CB8AC3E}">
        <p14:creationId xmlns:p14="http://schemas.microsoft.com/office/powerpoint/2010/main" val="299656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849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a:outerShdw blurRad="241300" sx="102000" sy="102000" algn="ctr" rotWithShape="0">
              <a:schemeClr val="accent3">
                <a:alpha val="15000"/>
              </a:schemeClr>
            </a:outerShdw>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1000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CD863588-1EDA-72EC-6D61-3E8A0E7CB273}"/>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a:outerShdw blurRad="241300" sx="102000" sy="102000" algn="ctr" rotWithShape="0">
              <a:schemeClr val="accent3">
                <a:alpha val="15000"/>
              </a:schemeClr>
            </a:outerShdw>
          </a:effectLst>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a:outerShdw blurRad="241300" sx="102000" sy="102000" algn="ctr" rotWithShape="0">
              <a:schemeClr val="accent3">
                <a:alpha val="15000"/>
              </a:schemeClr>
            </a:outerShdw>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85378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6317424D-DA75-A15F-0C19-096E89461340}"/>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a:outerShdw blurRad="241300" sx="102000" sy="102000" algn="ctr" rotWithShape="0">
              <a:schemeClr val="accent3">
                <a:alpha val="15000"/>
              </a:schemeClr>
            </a:outerShdw>
          </a:effectLst>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a:outerShdw blurRad="241300" sx="102000" sy="102000" algn="ctr" rotWithShape="0">
              <a:schemeClr val="accent3">
                <a:alpha val="15000"/>
              </a:schemeClr>
            </a:outerShdw>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21344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98740080"/>
      </p:ext>
    </p:extLst>
  </p:cSld>
  <p:clrMap bg1="lt1" tx1="dk1" bg2="lt2" tx2="dk2" accent1="accent1" accent2="accent2" accent3="accent3" accent4="accent4" accent5="accent5" accent6="accent6" hlink="hlink" folHlink="folHlink"/>
  <p:sldLayoutIdLst>
    <p:sldLayoutId id="2147484196" r:id="rId1"/>
    <p:sldLayoutId id="2147484197" r:id="rId2"/>
    <p:sldLayoutId id="2147484198" r:id="rId3"/>
    <p:sldLayoutId id="2147484199" r:id="rId4"/>
    <p:sldLayoutId id="2147484200" r:id="rId5"/>
    <p:sldLayoutId id="2147484201" r:id="rId6"/>
    <p:sldLayoutId id="2147484202" r:id="rId7"/>
    <p:sldLayoutId id="2147484203" r:id="rId8"/>
    <p:sldLayoutId id="2147484204" r:id="rId9"/>
    <p:sldLayoutId id="2147484205" r:id="rId10"/>
    <p:sldLayoutId id="2147484206" r:id="rId11"/>
    <p:sldLayoutId id="2147484207" r:id="rId12"/>
    <p:sldLayoutId id="2147484208" r:id="rId13"/>
    <p:sldLayoutId id="2147484209" r:id="rId14"/>
    <p:sldLayoutId id="2147484210" r:id="rId15"/>
    <p:sldLayoutId id="2147484211" r:id="rId16"/>
    <p:sldLayoutId id="2147484212" r:id="rId17"/>
    <p:sldLayoutId id="2147484213" r:id="rId18"/>
    <p:sldLayoutId id="2147484214" r:id="rId19"/>
    <p:sldLayoutId id="2147484215" r:id="rId20"/>
    <p:sldLayoutId id="2147484216" r:id="rId21"/>
    <p:sldLayoutId id="2147484217" r:id="rId22"/>
    <p:sldLayoutId id="2147484218" r:id="rId23"/>
    <p:sldLayoutId id="2147484219" r:id="rId24"/>
    <p:sldLayoutId id="2147484220" r:id="rId25"/>
    <p:sldLayoutId id="2147484221" r:id="rId26"/>
    <p:sldLayoutId id="2147484222" r:id="rId27"/>
    <p:sldLayoutId id="2147484223" r:id="rId28"/>
    <p:sldLayoutId id="2147484224" r:id="rId29"/>
    <p:sldLayoutId id="2147484225" r:id="rId30"/>
    <p:sldLayoutId id="2147484226" r:id="rId31"/>
    <p:sldLayoutId id="2147484227" r:id="rId32"/>
    <p:sldLayoutId id="2147484228" r:id="rId33"/>
    <p:sldLayoutId id="2147484229" r:id="rId34"/>
    <p:sldLayoutId id="2147484230" r:id="rId35"/>
    <p:sldLayoutId id="2147484231" r:id="rId36"/>
    <p:sldLayoutId id="2147484232" r:id="rId37"/>
    <p:sldLayoutId id="2147484233" r:id="rId38"/>
    <p:sldLayoutId id="2147484234" r:id="rId39"/>
    <p:sldLayoutId id="2147484235" r:id="rId40"/>
    <p:sldLayoutId id="2147484236" r:id="rId41"/>
    <p:sldLayoutId id="2147484237" r:id="rId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0.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A37F216-EB37-D4B2-C314-360A5D7B826F}"/>
              </a:ext>
            </a:extLst>
          </p:cNvPr>
          <p:cNvSpPr>
            <a:spLocks noGrp="1"/>
          </p:cNvSpPr>
          <p:nvPr>
            <p:ph type="body" sz="quarter" idx="11"/>
          </p:nvPr>
        </p:nvSpPr>
        <p:spPr/>
        <p:txBody>
          <a:bodyPr/>
          <a:lstStyle/>
          <a:p>
            <a:endParaRPr lang="en-US"/>
          </a:p>
        </p:txBody>
      </p:sp>
      <p:sp>
        <p:nvSpPr>
          <p:cNvPr id="9" name="Text Placeholder 8">
            <a:extLst>
              <a:ext uri="{FF2B5EF4-FFF2-40B4-BE49-F238E27FC236}">
                <a16:creationId xmlns:a16="http://schemas.microsoft.com/office/drawing/2014/main" id="{3EE51B26-7FC1-1485-281E-A7945473715C}"/>
              </a:ext>
            </a:extLst>
          </p:cNvPr>
          <p:cNvSpPr>
            <a:spLocks noGrp="1"/>
          </p:cNvSpPr>
          <p:nvPr>
            <p:ph type="body" sz="quarter" idx="12"/>
          </p:nvPr>
        </p:nvSpPr>
        <p:spPr/>
        <p:txBody>
          <a:bodyPr/>
          <a:lstStyle/>
          <a:p>
            <a:endParaRPr lang="en-US"/>
          </a:p>
        </p:txBody>
      </p:sp>
      <p:sp>
        <p:nvSpPr>
          <p:cNvPr id="10" name="Text Placeholder 9">
            <a:extLst>
              <a:ext uri="{FF2B5EF4-FFF2-40B4-BE49-F238E27FC236}">
                <a16:creationId xmlns:a16="http://schemas.microsoft.com/office/drawing/2014/main" id="{681727B1-4C11-5672-A3D7-36831E769AD8}"/>
              </a:ext>
            </a:extLst>
          </p:cNvPr>
          <p:cNvSpPr>
            <a:spLocks noGrp="1"/>
          </p:cNvSpPr>
          <p:nvPr>
            <p:ph type="body" sz="quarter" idx="14"/>
          </p:nvPr>
        </p:nvSpPr>
        <p:spPr/>
        <p:txBody>
          <a:bodyPr/>
          <a:lstStyle/>
          <a:p>
            <a:endParaRPr lang="en-US"/>
          </a:p>
        </p:txBody>
      </p:sp>
      <p:sp>
        <p:nvSpPr>
          <p:cNvPr id="6" name="Title 5">
            <a:extLst>
              <a:ext uri="{FF2B5EF4-FFF2-40B4-BE49-F238E27FC236}">
                <a16:creationId xmlns:a16="http://schemas.microsoft.com/office/drawing/2014/main" id="{9BC5DE9F-EF27-2CE6-DC1C-CEFA28D4BB15}"/>
              </a:ext>
            </a:extLst>
          </p:cNvPr>
          <p:cNvSpPr>
            <a:spLocks noGrp="1"/>
          </p:cNvSpPr>
          <p:nvPr>
            <p:ph type="title"/>
          </p:nvPr>
        </p:nvSpPr>
        <p:spPr>
          <a:xfrm>
            <a:off x="6592948" y="2194560"/>
            <a:ext cx="5102866" cy="1234440"/>
          </a:xfrm>
        </p:spPr>
        <p:txBody>
          <a:bodyPr/>
          <a:lstStyle/>
          <a:p>
            <a:r>
              <a:rPr lang="en-US" dirty="0"/>
              <a:t>Upgrading to VMware Cloud Foundation 9.1</a:t>
            </a:r>
          </a:p>
        </p:txBody>
      </p:sp>
    </p:spTree>
    <p:extLst>
      <p:ext uri="{BB962C8B-B14F-4D97-AF65-F5344CB8AC3E}">
        <p14:creationId xmlns:p14="http://schemas.microsoft.com/office/powerpoint/2010/main" val="52164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16B900-204E-1B8B-D44F-EAF0A94DAEED}"/>
              </a:ext>
            </a:extLst>
          </p:cNvPr>
          <p:cNvSpPr>
            <a:spLocks noGrp="1"/>
          </p:cNvSpPr>
          <p:nvPr>
            <p:ph type="title"/>
          </p:nvPr>
        </p:nvSpPr>
        <p:spPr/>
        <p:txBody>
          <a:bodyPr/>
          <a:lstStyle/>
          <a:p>
            <a:r>
              <a:rPr lang="en-US" dirty="0"/>
              <a:t>Upgrade </a:t>
            </a:r>
            <a:br>
              <a:rPr lang="en-US" dirty="0"/>
            </a:br>
            <a:r>
              <a:rPr lang="en-US" dirty="0"/>
              <a:t>Overview…</a:t>
            </a:r>
          </a:p>
        </p:txBody>
      </p:sp>
    </p:spTree>
    <p:extLst>
      <p:ext uri="{BB962C8B-B14F-4D97-AF65-F5344CB8AC3E}">
        <p14:creationId xmlns:p14="http://schemas.microsoft.com/office/powerpoint/2010/main" val="148986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5497B-EE57-6974-7DFD-7D6A6C1C1D9D}"/>
              </a:ext>
            </a:extLst>
          </p:cNvPr>
          <p:cNvSpPr>
            <a:spLocks noGrp="1"/>
          </p:cNvSpPr>
          <p:nvPr>
            <p:ph type="title"/>
          </p:nvPr>
        </p:nvSpPr>
        <p:spPr>
          <a:xfrm>
            <a:off x="579809" y="412751"/>
            <a:ext cx="11001004" cy="381000"/>
          </a:xfrm>
        </p:spPr>
        <p:txBody>
          <a:bodyPr wrap="none" anchor="b">
            <a:normAutofit/>
          </a:bodyPr>
          <a:lstStyle/>
          <a:p>
            <a:r>
              <a:rPr lang="en-US" sz="2600" dirty="0"/>
              <a:t>VCF 9.1 Upgrade at-a-Glance</a:t>
            </a:r>
          </a:p>
        </p:txBody>
      </p:sp>
      <p:sp>
        <p:nvSpPr>
          <p:cNvPr id="4" name="Content Placeholder 3">
            <a:extLst>
              <a:ext uri="{FF2B5EF4-FFF2-40B4-BE49-F238E27FC236}">
                <a16:creationId xmlns:a16="http://schemas.microsoft.com/office/drawing/2014/main" id="{3C2B0DE1-4886-A322-C23A-82E87BE433F9}"/>
              </a:ext>
            </a:extLst>
          </p:cNvPr>
          <p:cNvSpPr>
            <a:spLocks noGrp="1"/>
          </p:cNvSpPr>
          <p:nvPr>
            <p:ph sz="quarter" idx="17"/>
          </p:nvPr>
        </p:nvSpPr>
        <p:spPr>
          <a:xfrm>
            <a:off x="608013" y="1600200"/>
            <a:ext cx="5313783" cy="4572000"/>
          </a:xfrm>
        </p:spPr>
        <p:txBody>
          <a:bodyPr>
            <a:normAutofit/>
          </a:bodyPr>
          <a:lstStyle/>
          <a:p>
            <a:r>
              <a:rPr lang="en-US" dirty="0">
                <a:solidFill>
                  <a:schemeClr val="accent2"/>
                </a:solidFill>
              </a:rPr>
              <a:t>1.  Upgrade consist of two parts: </a:t>
            </a:r>
          </a:p>
          <a:p>
            <a:pPr lvl="1"/>
            <a:r>
              <a:rPr lang="en-US" dirty="0">
                <a:solidFill>
                  <a:schemeClr val="accent2"/>
                </a:solidFill>
              </a:rPr>
              <a:t>(1) </a:t>
            </a:r>
            <a:r>
              <a:rPr lang="en-US" b="1" dirty="0">
                <a:solidFill>
                  <a:schemeClr val="accent2"/>
                </a:solidFill>
              </a:rPr>
              <a:t>completing your VCF Fleet </a:t>
            </a:r>
            <a:r>
              <a:rPr lang="en-US" dirty="0">
                <a:solidFill>
                  <a:schemeClr val="accent2"/>
                </a:solidFill>
              </a:rPr>
              <a:t>(converge)</a:t>
            </a:r>
          </a:p>
          <a:p>
            <a:pPr lvl="1"/>
            <a:r>
              <a:rPr lang="en-US" dirty="0">
                <a:solidFill>
                  <a:schemeClr val="accent2"/>
                </a:solidFill>
              </a:rPr>
              <a:t>(2) </a:t>
            </a:r>
            <a:r>
              <a:rPr lang="en-US" b="1" dirty="0">
                <a:solidFill>
                  <a:schemeClr val="accent2"/>
                </a:solidFill>
              </a:rPr>
              <a:t>upgrading existing components</a:t>
            </a:r>
            <a:endParaRPr lang="en-US" dirty="0">
              <a:solidFill>
                <a:schemeClr val="accent2"/>
              </a:solidFill>
            </a:endParaRPr>
          </a:p>
          <a:p>
            <a:r>
              <a:rPr lang="en-US" dirty="0">
                <a:solidFill>
                  <a:schemeClr val="accent2"/>
                </a:solidFill>
              </a:rPr>
              <a:t>2.  </a:t>
            </a:r>
            <a:r>
              <a:rPr lang="en-US" b="1" dirty="0">
                <a:solidFill>
                  <a:schemeClr val="accent2"/>
                </a:solidFill>
              </a:rPr>
              <a:t>Upgrade path varies </a:t>
            </a:r>
            <a:r>
              <a:rPr lang="en-US" dirty="0">
                <a:solidFill>
                  <a:schemeClr val="accent2"/>
                </a:solidFill>
              </a:rPr>
              <a:t>depending on starting state and components deployed.</a:t>
            </a:r>
          </a:p>
          <a:p>
            <a:pPr lvl="1"/>
            <a:r>
              <a:rPr lang="en-US" dirty="0">
                <a:solidFill>
                  <a:schemeClr val="accent2"/>
                </a:solidFill>
              </a:rPr>
              <a:t>i.e., VCF Ops, NSX</a:t>
            </a:r>
          </a:p>
          <a:p>
            <a:r>
              <a:rPr lang="en-US" dirty="0">
                <a:solidFill>
                  <a:schemeClr val="accent2"/>
                </a:solidFill>
              </a:rPr>
              <a:t>3.  Upgrade accomplished using mix of:</a:t>
            </a:r>
          </a:p>
          <a:p>
            <a:pPr lvl="1"/>
            <a:r>
              <a:rPr lang="en-US" b="1" dirty="0">
                <a:solidFill>
                  <a:schemeClr val="accent2"/>
                </a:solidFill>
              </a:rPr>
              <a:t>Manual upgrades</a:t>
            </a:r>
            <a:endParaRPr lang="en-US" dirty="0">
              <a:solidFill>
                <a:schemeClr val="accent2"/>
              </a:solidFill>
            </a:endParaRPr>
          </a:p>
          <a:p>
            <a:pPr lvl="1"/>
            <a:r>
              <a:rPr lang="en-US" b="1" dirty="0">
                <a:solidFill>
                  <a:schemeClr val="accent2"/>
                </a:solidFill>
              </a:rPr>
              <a:t>VCF Installer (vSphere/VVF)</a:t>
            </a:r>
            <a:endParaRPr lang="en-US" dirty="0">
              <a:solidFill>
                <a:schemeClr val="accent2"/>
              </a:solidFill>
            </a:endParaRPr>
          </a:p>
          <a:p>
            <a:pPr lvl="1"/>
            <a:r>
              <a:rPr lang="en-US" b="1" dirty="0">
                <a:solidFill>
                  <a:schemeClr val="accent2"/>
                </a:solidFill>
              </a:rPr>
              <a:t>VCF Operations (VCF)</a:t>
            </a:r>
            <a:endParaRPr lang="en-US" dirty="0">
              <a:solidFill>
                <a:schemeClr val="accent2"/>
              </a:solidFill>
            </a:endParaRPr>
          </a:p>
          <a:p>
            <a:pPr lvl="1"/>
            <a:endParaRPr lang="en-US" dirty="0">
              <a:solidFill>
                <a:schemeClr val="accent2"/>
              </a:solidFill>
            </a:endParaRPr>
          </a:p>
        </p:txBody>
      </p:sp>
      <p:pic>
        <p:nvPicPr>
          <p:cNvPr id="8" name="Picture 7">
            <a:extLst>
              <a:ext uri="{FF2B5EF4-FFF2-40B4-BE49-F238E27FC236}">
                <a16:creationId xmlns:a16="http://schemas.microsoft.com/office/drawing/2014/main" id="{60C80460-25FA-619D-67E9-D3B0FA2A8570}"/>
              </a:ext>
            </a:extLst>
          </p:cNvPr>
          <p:cNvPicPr>
            <a:picLocks noChangeAspect="1"/>
          </p:cNvPicPr>
          <p:nvPr/>
        </p:nvPicPr>
        <p:blipFill>
          <a:blip r:embed="rId3"/>
          <a:stretch>
            <a:fillRect/>
          </a:stretch>
        </p:blipFill>
        <p:spPr>
          <a:xfrm>
            <a:off x="6935288" y="1123950"/>
            <a:ext cx="3474078" cy="5524500"/>
          </a:xfrm>
          <a:prstGeom prst="rect">
            <a:avLst/>
          </a:prstGeom>
        </p:spPr>
      </p:pic>
    </p:spTree>
    <p:extLst>
      <p:ext uri="{BB962C8B-B14F-4D97-AF65-F5344CB8AC3E}">
        <p14:creationId xmlns:p14="http://schemas.microsoft.com/office/powerpoint/2010/main" val="841774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F5B88-CD19-58AE-C2EA-0870C12950C9}"/>
            </a:ext>
          </a:extLst>
        </p:cNvPr>
        <p:cNvGrpSpPr/>
        <p:nvPr/>
      </p:nvGrpSpPr>
      <p:grpSpPr>
        <a:xfrm>
          <a:off x="0" y="0"/>
          <a:ext cx="0" cy="0"/>
          <a:chOff x="0" y="0"/>
          <a:chExt cx="0" cy="0"/>
        </a:xfrm>
      </p:grpSpPr>
      <p:sp>
        <p:nvSpPr>
          <p:cNvPr id="510" name="Rounded Rectangle 509">
            <a:extLst>
              <a:ext uri="{FF2B5EF4-FFF2-40B4-BE49-F238E27FC236}">
                <a16:creationId xmlns:a16="http://schemas.microsoft.com/office/drawing/2014/main" id="{A6C72A73-6DF3-5C0A-ACEE-7A0DED3989C1}"/>
              </a:ext>
            </a:extLst>
          </p:cNvPr>
          <p:cNvSpPr/>
          <p:nvPr/>
        </p:nvSpPr>
        <p:spPr bwMode="gray">
          <a:xfrm>
            <a:off x="8205517" y="1303086"/>
            <a:ext cx="2130889" cy="45911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509" name="Rounded Rectangle 508">
            <a:extLst>
              <a:ext uri="{FF2B5EF4-FFF2-40B4-BE49-F238E27FC236}">
                <a16:creationId xmlns:a16="http://schemas.microsoft.com/office/drawing/2014/main" id="{D9E5DF4F-4BA1-A2B4-A143-B4C919E8274A}"/>
              </a:ext>
            </a:extLst>
          </p:cNvPr>
          <p:cNvSpPr/>
          <p:nvPr/>
        </p:nvSpPr>
        <p:spPr bwMode="gray">
          <a:xfrm>
            <a:off x="4083873" y="1315839"/>
            <a:ext cx="2130889" cy="45911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508" name="Rounded Rectangle 507">
            <a:extLst>
              <a:ext uri="{FF2B5EF4-FFF2-40B4-BE49-F238E27FC236}">
                <a16:creationId xmlns:a16="http://schemas.microsoft.com/office/drawing/2014/main" id="{4443FFEB-E1D9-99C7-1FA2-9A4F2F3C1D2A}"/>
              </a:ext>
            </a:extLst>
          </p:cNvPr>
          <p:cNvSpPr/>
          <p:nvPr/>
        </p:nvSpPr>
        <p:spPr bwMode="gray">
          <a:xfrm>
            <a:off x="796834" y="1310018"/>
            <a:ext cx="2130889" cy="45911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3" name="Title 2">
            <a:extLst>
              <a:ext uri="{FF2B5EF4-FFF2-40B4-BE49-F238E27FC236}">
                <a16:creationId xmlns:a16="http://schemas.microsoft.com/office/drawing/2014/main" id="{0329314D-3A3A-F5F2-1417-B5CB7C00A2EE}"/>
              </a:ext>
            </a:extLst>
          </p:cNvPr>
          <p:cNvSpPr>
            <a:spLocks noGrp="1"/>
          </p:cNvSpPr>
          <p:nvPr>
            <p:ph type="title"/>
          </p:nvPr>
        </p:nvSpPr>
        <p:spPr/>
        <p:txBody>
          <a:bodyPr/>
          <a:lstStyle/>
          <a:p>
            <a:r>
              <a:rPr lang="en-US" dirty="0">
                <a:solidFill>
                  <a:srgbClr val="005C8A"/>
                </a:solidFill>
              </a:rPr>
              <a:t>Private Cloud Constructs within VMware Cloud Foundation</a:t>
            </a:r>
            <a:endParaRPr lang="en-US" dirty="0"/>
          </a:p>
        </p:txBody>
      </p:sp>
      <p:grpSp>
        <p:nvGrpSpPr>
          <p:cNvPr id="4" name="Group 3">
            <a:extLst>
              <a:ext uri="{FF2B5EF4-FFF2-40B4-BE49-F238E27FC236}">
                <a16:creationId xmlns:a16="http://schemas.microsoft.com/office/drawing/2014/main" id="{86631861-3E04-E163-F82B-03EA5AA328DB}"/>
              </a:ext>
            </a:extLst>
          </p:cNvPr>
          <p:cNvGrpSpPr/>
          <p:nvPr/>
        </p:nvGrpSpPr>
        <p:grpSpPr>
          <a:xfrm>
            <a:off x="1009463" y="1913352"/>
            <a:ext cx="1769718" cy="1737105"/>
            <a:chOff x="320754" y="2311746"/>
            <a:chExt cx="1769718" cy="1737105"/>
          </a:xfrm>
        </p:grpSpPr>
        <p:sp>
          <p:nvSpPr>
            <p:cNvPr id="6" name="Google Shape;6678;g2d30ebb658d_0_19789">
              <a:extLst>
                <a:ext uri="{FF2B5EF4-FFF2-40B4-BE49-F238E27FC236}">
                  <a16:creationId xmlns:a16="http://schemas.microsoft.com/office/drawing/2014/main" id="{13F605E7-6732-C4BA-3059-D6BE83E2D3EE}"/>
                </a:ext>
              </a:extLst>
            </p:cNvPr>
            <p:cNvSpPr/>
            <p:nvPr/>
          </p:nvSpPr>
          <p:spPr>
            <a:xfrm>
              <a:off x="320754" y="2311746"/>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7" name="Group 6">
              <a:extLst>
                <a:ext uri="{FF2B5EF4-FFF2-40B4-BE49-F238E27FC236}">
                  <a16:creationId xmlns:a16="http://schemas.microsoft.com/office/drawing/2014/main" id="{7A6010DF-D63C-38BD-B209-8A99BA7811EC}"/>
                </a:ext>
              </a:extLst>
            </p:cNvPr>
            <p:cNvGrpSpPr/>
            <p:nvPr/>
          </p:nvGrpSpPr>
          <p:grpSpPr>
            <a:xfrm>
              <a:off x="371257" y="2372472"/>
              <a:ext cx="1661045" cy="1606417"/>
              <a:chOff x="1018026" y="2372472"/>
              <a:chExt cx="1661045" cy="1606417"/>
            </a:xfrm>
          </p:grpSpPr>
          <p:sp>
            <p:nvSpPr>
              <p:cNvPr id="158" name="Google Shape;6705;g2d30ebb658d_0_19789">
                <a:extLst>
                  <a:ext uri="{FF2B5EF4-FFF2-40B4-BE49-F238E27FC236}">
                    <a16:creationId xmlns:a16="http://schemas.microsoft.com/office/drawing/2014/main" id="{6B026F8D-0263-E567-64CF-CEEEBEB23B1D}"/>
                  </a:ext>
                </a:extLst>
              </p:cNvPr>
              <p:cNvSpPr/>
              <p:nvPr/>
            </p:nvSpPr>
            <p:spPr>
              <a:xfrm>
                <a:off x="1018026" y="3487722"/>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160" name="Google Shape;6707;g2d30ebb658d_0_19789">
                <a:extLst>
                  <a:ext uri="{FF2B5EF4-FFF2-40B4-BE49-F238E27FC236}">
                    <a16:creationId xmlns:a16="http://schemas.microsoft.com/office/drawing/2014/main" id="{719180C8-4D9A-61D4-D93C-714217CC22C9}"/>
                  </a:ext>
                </a:extLst>
              </p:cNvPr>
              <p:cNvGrpSpPr/>
              <p:nvPr/>
            </p:nvGrpSpPr>
            <p:grpSpPr>
              <a:xfrm>
                <a:off x="2266825" y="3639241"/>
                <a:ext cx="283155" cy="283154"/>
                <a:chOff x="10722212" y="2729558"/>
                <a:chExt cx="663407" cy="663407"/>
              </a:xfrm>
            </p:grpSpPr>
            <p:sp>
              <p:nvSpPr>
                <p:cNvPr id="174" name="Google Shape;6708;g2d30ebb658d_0_19789">
                  <a:extLst>
                    <a:ext uri="{FF2B5EF4-FFF2-40B4-BE49-F238E27FC236}">
                      <a16:creationId xmlns:a16="http://schemas.microsoft.com/office/drawing/2014/main" id="{D77CB28E-539E-9481-BB16-1711191D71A2}"/>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5" name="Google Shape;6709;g2d30ebb658d_0_19789">
                  <a:extLst>
                    <a:ext uri="{FF2B5EF4-FFF2-40B4-BE49-F238E27FC236}">
                      <a16:creationId xmlns:a16="http://schemas.microsoft.com/office/drawing/2014/main" id="{5441D1EF-A6EF-3810-019C-8D87817D64C9}"/>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61" name="Google Shape;6710;g2d30ebb658d_0_19789">
                <a:extLst>
                  <a:ext uri="{FF2B5EF4-FFF2-40B4-BE49-F238E27FC236}">
                    <a16:creationId xmlns:a16="http://schemas.microsoft.com/office/drawing/2014/main" id="{7D217346-BBAF-B053-DEBA-4A648D768912}"/>
                  </a:ext>
                </a:extLst>
              </p:cNvPr>
              <p:cNvGrpSpPr/>
              <p:nvPr/>
            </p:nvGrpSpPr>
            <p:grpSpPr>
              <a:xfrm>
                <a:off x="1121905" y="3639122"/>
                <a:ext cx="283155" cy="283154"/>
                <a:chOff x="572541" y="5475121"/>
                <a:chExt cx="663407" cy="663407"/>
              </a:xfrm>
            </p:grpSpPr>
            <p:sp>
              <p:nvSpPr>
                <p:cNvPr id="172" name="Google Shape;6711;g2d30ebb658d_0_19789">
                  <a:extLst>
                    <a:ext uri="{FF2B5EF4-FFF2-40B4-BE49-F238E27FC236}">
                      <a16:creationId xmlns:a16="http://schemas.microsoft.com/office/drawing/2014/main" id="{E1A817EF-6311-D2CE-A8B2-CC2E86F74E3C}"/>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3" name="Google Shape;6712;g2d30ebb658d_0_19789">
                  <a:extLst>
                    <a:ext uri="{FF2B5EF4-FFF2-40B4-BE49-F238E27FC236}">
                      <a16:creationId xmlns:a16="http://schemas.microsoft.com/office/drawing/2014/main" id="{298F88AB-6A46-7A95-CC06-F4F719D6F832}"/>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62" name="Google Shape;6713;g2d30ebb658d_0_19789">
                <a:extLst>
                  <a:ext uri="{FF2B5EF4-FFF2-40B4-BE49-F238E27FC236}">
                    <a16:creationId xmlns:a16="http://schemas.microsoft.com/office/drawing/2014/main" id="{DFD8A446-7B90-64CA-4D97-D70C73C0C25E}"/>
                  </a:ext>
                </a:extLst>
              </p:cNvPr>
              <p:cNvGrpSpPr/>
              <p:nvPr/>
            </p:nvGrpSpPr>
            <p:grpSpPr>
              <a:xfrm>
                <a:off x="1690273" y="3639123"/>
                <a:ext cx="283155" cy="283154"/>
                <a:chOff x="9272259" y="5475121"/>
                <a:chExt cx="663407" cy="663407"/>
              </a:xfrm>
            </p:grpSpPr>
            <p:sp>
              <p:nvSpPr>
                <p:cNvPr id="170" name="Google Shape;6714;g2d30ebb658d_0_19789">
                  <a:extLst>
                    <a:ext uri="{FF2B5EF4-FFF2-40B4-BE49-F238E27FC236}">
                      <a16:creationId xmlns:a16="http://schemas.microsoft.com/office/drawing/2014/main" id="{A6CD8A82-7AE9-8BBC-E91D-ED1B53F61FF0}"/>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1" name="Google Shape;6715;g2d30ebb658d_0_19789">
                  <a:extLst>
                    <a:ext uri="{FF2B5EF4-FFF2-40B4-BE49-F238E27FC236}">
                      <a16:creationId xmlns:a16="http://schemas.microsoft.com/office/drawing/2014/main" id="{6EEB63EF-99FB-FFBE-7561-BD82FF51C187}"/>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63" name="Google Shape;6704;g2d30ebb658d_0_19789">
                <a:extLst>
                  <a:ext uri="{FF2B5EF4-FFF2-40B4-BE49-F238E27FC236}">
                    <a16:creationId xmlns:a16="http://schemas.microsoft.com/office/drawing/2014/main" id="{58393E39-917E-2B10-FDAD-A3119D28A793}"/>
                  </a:ext>
                </a:extLst>
              </p:cNvPr>
              <p:cNvSpPr/>
              <p:nvPr/>
            </p:nvSpPr>
            <p:spPr>
              <a:xfrm>
                <a:off x="1053137" y="2372472"/>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64" name="TextBox 163">
                <a:extLst>
                  <a:ext uri="{FF2B5EF4-FFF2-40B4-BE49-F238E27FC236}">
                    <a16:creationId xmlns:a16="http://schemas.microsoft.com/office/drawing/2014/main" id="{62B12DBD-F1E0-7978-3AAF-8633921E0754}"/>
                  </a:ext>
                </a:extLst>
              </p:cNvPr>
              <p:cNvSpPr txBox="1"/>
              <p:nvPr/>
            </p:nvSpPr>
            <p:spPr>
              <a:xfrm>
                <a:off x="1470269" y="3511412"/>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65" name="Google Shape;6705;g2d30ebb658d_0_19789">
                <a:extLst>
                  <a:ext uri="{FF2B5EF4-FFF2-40B4-BE49-F238E27FC236}">
                    <a16:creationId xmlns:a16="http://schemas.microsoft.com/office/drawing/2014/main" id="{E708DBC5-5ED0-E2FA-94F3-A4DB0F2BA034}"/>
                  </a:ext>
                </a:extLst>
              </p:cNvPr>
              <p:cNvSpPr/>
              <p:nvPr/>
            </p:nvSpPr>
            <p:spPr>
              <a:xfrm>
                <a:off x="1284351" y="2732035"/>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66" name="Google Shape;6678;g2d30ebb658d_0_19789">
                <a:extLst>
                  <a:ext uri="{FF2B5EF4-FFF2-40B4-BE49-F238E27FC236}">
                    <a16:creationId xmlns:a16="http://schemas.microsoft.com/office/drawing/2014/main" id="{D4E4A5E8-98E5-764A-0E95-E885FA50DC4F}"/>
                  </a:ext>
                </a:extLst>
              </p:cNvPr>
              <p:cNvSpPr/>
              <p:nvPr/>
            </p:nvSpPr>
            <p:spPr>
              <a:xfrm>
                <a:off x="1535209" y="3223850"/>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67" name="Google Shape;6678;g2d30ebb658d_0_19789">
                <a:extLst>
                  <a:ext uri="{FF2B5EF4-FFF2-40B4-BE49-F238E27FC236}">
                    <a16:creationId xmlns:a16="http://schemas.microsoft.com/office/drawing/2014/main" id="{BB14BC16-E7A8-A5D2-DF55-2B3D8F6ED8AB}"/>
                  </a:ext>
                </a:extLst>
              </p:cNvPr>
              <p:cNvSpPr/>
              <p:nvPr/>
            </p:nvSpPr>
            <p:spPr>
              <a:xfrm>
                <a:off x="1284351" y="2933846"/>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9" name="Google Shape;6678;g2d30ebb658d_0_19789">
                <a:extLst>
                  <a:ext uri="{FF2B5EF4-FFF2-40B4-BE49-F238E27FC236}">
                    <a16:creationId xmlns:a16="http://schemas.microsoft.com/office/drawing/2014/main" id="{5E02FE48-D751-499A-31A5-6E308D67AB86}"/>
                  </a:ext>
                </a:extLst>
              </p:cNvPr>
              <p:cNvSpPr/>
              <p:nvPr/>
            </p:nvSpPr>
            <p:spPr>
              <a:xfrm>
                <a:off x="1472925" y="326893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grpSp>
        <p:nvGrpSpPr>
          <p:cNvPr id="431" name="Group 430">
            <a:extLst>
              <a:ext uri="{FF2B5EF4-FFF2-40B4-BE49-F238E27FC236}">
                <a16:creationId xmlns:a16="http://schemas.microsoft.com/office/drawing/2014/main" id="{36ED6A01-A97B-F84C-1B9D-A46CE6C2F79D}"/>
              </a:ext>
            </a:extLst>
          </p:cNvPr>
          <p:cNvGrpSpPr/>
          <p:nvPr/>
        </p:nvGrpSpPr>
        <p:grpSpPr>
          <a:xfrm>
            <a:off x="4186455" y="1922839"/>
            <a:ext cx="1909145" cy="4021576"/>
            <a:chOff x="3879476" y="2059999"/>
            <a:chExt cx="1909145" cy="4021576"/>
          </a:xfrm>
        </p:grpSpPr>
        <p:sp>
          <p:nvSpPr>
            <p:cNvPr id="204" name="Google Shape;6678;g2d30ebb658d_0_19789">
              <a:extLst>
                <a:ext uri="{FF2B5EF4-FFF2-40B4-BE49-F238E27FC236}">
                  <a16:creationId xmlns:a16="http://schemas.microsoft.com/office/drawing/2014/main" id="{D1F827AA-8DFF-DCC1-B589-BC9FA26C784A}"/>
                </a:ext>
              </a:extLst>
            </p:cNvPr>
            <p:cNvSpPr/>
            <p:nvPr/>
          </p:nvSpPr>
          <p:spPr>
            <a:xfrm>
              <a:off x="3879476" y="2059999"/>
              <a:ext cx="1909145" cy="402157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01" name="Google Shape;6678;g2d30ebb658d_0_19789">
              <a:extLst>
                <a:ext uri="{FF2B5EF4-FFF2-40B4-BE49-F238E27FC236}">
                  <a16:creationId xmlns:a16="http://schemas.microsoft.com/office/drawing/2014/main" id="{A9021E09-620A-CA2F-A189-A69F84C3A37D}"/>
                </a:ext>
              </a:extLst>
            </p:cNvPr>
            <p:cNvSpPr/>
            <p:nvPr/>
          </p:nvSpPr>
          <p:spPr>
            <a:xfrm>
              <a:off x="3969834" y="5737352"/>
              <a:ext cx="1717288"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02" name="TextBox 201">
              <a:extLst>
                <a:ext uri="{FF2B5EF4-FFF2-40B4-BE49-F238E27FC236}">
                  <a16:creationId xmlns:a16="http://schemas.microsoft.com/office/drawing/2014/main" id="{AF870255-BC54-908F-B112-CCCE268A8214}"/>
                </a:ext>
              </a:extLst>
            </p:cNvPr>
            <p:cNvSpPr txBox="1"/>
            <p:nvPr/>
          </p:nvSpPr>
          <p:spPr>
            <a:xfrm>
              <a:off x="4248627" y="5825448"/>
              <a:ext cx="1351332"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B1D36"/>
                  </a:solidFill>
                  <a:effectLst/>
                  <a:uLnTx/>
                  <a:uFillTx/>
                  <a:latin typeface="Arial" panose="020B0604020202020204"/>
                  <a:ea typeface="+mn-ea"/>
                  <a:cs typeface="+mn-cs"/>
                </a:rPr>
                <a:t>Additional Workload Domains</a:t>
              </a:r>
            </a:p>
          </p:txBody>
        </p:sp>
        <p:pic>
          <p:nvPicPr>
            <p:cNvPr id="203" name="Google Shape;6699;p92">
              <a:extLst>
                <a:ext uri="{FF2B5EF4-FFF2-40B4-BE49-F238E27FC236}">
                  <a16:creationId xmlns:a16="http://schemas.microsoft.com/office/drawing/2014/main" id="{C969A1E0-28D9-08A8-03EC-06D51D82BCC4}"/>
                </a:ext>
              </a:extLst>
            </p:cNvPr>
            <p:cNvPicPr preferRelativeResize="0">
              <a:picLocks noChangeAspect="1"/>
            </p:cNvPicPr>
            <p:nvPr/>
          </p:nvPicPr>
          <p:blipFill rotWithShape="1">
            <a:blip r:embed="rId3">
              <a:alphaModFix/>
            </a:blip>
            <a:srcRect/>
            <a:stretch/>
          </p:blipFill>
          <p:spPr>
            <a:xfrm>
              <a:off x="4015687" y="5766548"/>
              <a:ext cx="220483" cy="220483"/>
            </a:xfrm>
            <a:prstGeom prst="rect">
              <a:avLst/>
            </a:prstGeom>
            <a:noFill/>
            <a:ln>
              <a:noFill/>
            </a:ln>
          </p:spPr>
        </p:pic>
        <p:sp>
          <p:nvSpPr>
            <p:cNvPr id="205" name="Google Shape;6678;g2d30ebb658d_0_19789">
              <a:extLst>
                <a:ext uri="{FF2B5EF4-FFF2-40B4-BE49-F238E27FC236}">
                  <a16:creationId xmlns:a16="http://schemas.microsoft.com/office/drawing/2014/main" id="{FFA28A47-FAF1-38BF-1360-9E5A8CD63685}"/>
                </a:ext>
              </a:extLst>
            </p:cNvPr>
            <p:cNvSpPr/>
            <p:nvPr/>
          </p:nvSpPr>
          <p:spPr>
            <a:xfrm>
              <a:off x="3942438" y="4173972"/>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06" name="Google Shape;6705;g2d30ebb658d_0_19789">
              <a:extLst>
                <a:ext uri="{FF2B5EF4-FFF2-40B4-BE49-F238E27FC236}">
                  <a16:creationId xmlns:a16="http://schemas.microsoft.com/office/drawing/2014/main" id="{F24B0031-9949-9FFB-F9A6-01FB55FE25AB}"/>
                </a:ext>
              </a:extLst>
            </p:cNvPr>
            <p:cNvSpPr/>
            <p:nvPr/>
          </p:nvSpPr>
          <p:spPr>
            <a:xfrm>
              <a:off x="3992941" y="5157400"/>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07" name="Google Shape;6708;g2d30ebb658d_0_19789">
              <a:extLst>
                <a:ext uri="{FF2B5EF4-FFF2-40B4-BE49-F238E27FC236}">
                  <a16:creationId xmlns:a16="http://schemas.microsoft.com/office/drawing/2014/main" id="{493C2467-9EF2-800F-E315-98617A83A4B4}"/>
                </a:ext>
              </a:extLst>
            </p:cNvPr>
            <p:cNvSpPr>
              <a:spLocks noChangeAspect="1"/>
            </p:cNvSpPr>
            <p:nvPr/>
          </p:nvSpPr>
          <p:spPr>
            <a:xfrm>
              <a:off x="5241740" y="5308919"/>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08" name="Google Shape;6709;g2d30ebb658d_0_19789">
              <a:extLst>
                <a:ext uri="{FF2B5EF4-FFF2-40B4-BE49-F238E27FC236}">
                  <a16:creationId xmlns:a16="http://schemas.microsoft.com/office/drawing/2014/main" id="{7007F44B-5D49-2AD7-7649-CB40C2DF2AAD}"/>
                </a:ext>
              </a:extLst>
            </p:cNvPr>
            <p:cNvSpPr>
              <a:spLocks noChangeAspect="1"/>
            </p:cNvSpPr>
            <p:nvPr/>
          </p:nvSpPr>
          <p:spPr>
            <a:xfrm>
              <a:off x="5290638" y="5358291"/>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9" name="Google Shape;6711;g2d30ebb658d_0_19789">
              <a:extLst>
                <a:ext uri="{FF2B5EF4-FFF2-40B4-BE49-F238E27FC236}">
                  <a16:creationId xmlns:a16="http://schemas.microsoft.com/office/drawing/2014/main" id="{10EF06FF-9101-42EB-0E6C-366F93281133}"/>
                </a:ext>
              </a:extLst>
            </p:cNvPr>
            <p:cNvSpPr>
              <a:spLocks noChangeAspect="1"/>
            </p:cNvSpPr>
            <p:nvPr/>
          </p:nvSpPr>
          <p:spPr>
            <a:xfrm>
              <a:off x="4096820" y="5308800"/>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10" name="Google Shape;6712;g2d30ebb658d_0_19789">
              <a:extLst>
                <a:ext uri="{FF2B5EF4-FFF2-40B4-BE49-F238E27FC236}">
                  <a16:creationId xmlns:a16="http://schemas.microsoft.com/office/drawing/2014/main" id="{3B1EECE4-CCE3-E71F-3BA1-D429F2D8AECD}"/>
                </a:ext>
              </a:extLst>
            </p:cNvPr>
            <p:cNvSpPr>
              <a:spLocks noChangeAspect="1"/>
            </p:cNvSpPr>
            <p:nvPr/>
          </p:nvSpPr>
          <p:spPr>
            <a:xfrm>
              <a:off x="4150930" y="5373510"/>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1" name="Google Shape;6714;g2d30ebb658d_0_19789">
              <a:extLst>
                <a:ext uri="{FF2B5EF4-FFF2-40B4-BE49-F238E27FC236}">
                  <a16:creationId xmlns:a16="http://schemas.microsoft.com/office/drawing/2014/main" id="{1DBBA787-B5A8-682F-3423-2374D3C4A3FF}"/>
                </a:ext>
              </a:extLst>
            </p:cNvPr>
            <p:cNvSpPr>
              <a:spLocks noChangeAspect="1"/>
            </p:cNvSpPr>
            <p:nvPr/>
          </p:nvSpPr>
          <p:spPr>
            <a:xfrm>
              <a:off x="4665188" y="5308801"/>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12" name="Google Shape;6715;g2d30ebb658d_0_19789">
              <a:extLst>
                <a:ext uri="{FF2B5EF4-FFF2-40B4-BE49-F238E27FC236}">
                  <a16:creationId xmlns:a16="http://schemas.microsoft.com/office/drawing/2014/main" id="{4D3A9852-6F4C-B1A7-EC4B-7857F451F333}"/>
                </a:ext>
              </a:extLst>
            </p:cNvPr>
            <p:cNvSpPr>
              <a:spLocks noChangeAspect="1"/>
            </p:cNvSpPr>
            <p:nvPr/>
          </p:nvSpPr>
          <p:spPr>
            <a:xfrm>
              <a:off x="4735335" y="5361805"/>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3" name="Google Shape;6704;g2d30ebb658d_0_19789">
              <a:extLst>
                <a:ext uri="{FF2B5EF4-FFF2-40B4-BE49-F238E27FC236}">
                  <a16:creationId xmlns:a16="http://schemas.microsoft.com/office/drawing/2014/main" id="{7D49165E-9BA4-C147-81D9-280E6A58EC83}"/>
                </a:ext>
              </a:extLst>
            </p:cNvPr>
            <p:cNvSpPr/>
            <p:nvPr/>
          </p:nvSpPr>
          <p:spPr>
            <a:xfrm>
              <a:off x="4028052" y="4232647"/>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14" name="TextBox 213">
              <a:extLst>
                <a:ext uri="{FF2B5EF4-FFF2-40B4-BE49-F238E27FC236}">
                  <a16:creationId xmlns:a16="http://schemas.microsoft.com/office/drawing/2014/main" id="{71AE752E-87D0-8744-8803-393F5FCF61C5}"/>
                </a:ext>
              </a:extLst>
            </p:cNvPr>
            <p:cNvSpPr txBox="1"/>
            <p:nvPr/>
          </p:nvSpPr>
          <p:spPr>
            <a:xfrm>
              <a:off x="4445184" y="5181090"/>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215" name="Google Shape;6678;g2d30ebb658d_0_19789">
              <a:extLst>
                <a:ext uri="{FF2B5EF4-FFF2-40B4-BE49-F238E27FC236}">
                  <a16:creationId xmlns:a16="http://schemas.microsoft.com/office/drawing/2014/main" id="{D1251840-59C0-CAA7-C038-75E60EF599D8}"/>
                </a:ext>
              </a:extLst>
            </p:cNvPr>
            <p:cNvSpPr/>
            <p:nvPr/>
          </p:nvSpPr>
          <p:spPr>
            <a:xfrm>
              <a:off x="4255553" y="4709931"/>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16" name="Google Shape;6678;g2d30ebb658d_0_19789">
              <a:extLst>
                <a:ext uri="{FF2B5EF4-FFF2-40B4-BE49-F238E27FC236}">
                  <a16:creationId xmlns:a16="http://schemas.microsoft.com/office/drawing/2014/main" id="{7873A88E-E923-B74E-96C0-7AF467C2D4FD}"/>
                </a:ext>
              </a:extLst>
            </p:cNvPr>
            <p:cNvSpPr/>
            <p:nvPr/>
          </p:nvSpPr>
          <p:spPr>
            <a:xfrm>
              <a:off x="4259266" y="4519289"/>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17" name="Google Shape;6678;g2d30ebb658d_0_19789">
              <a:extLst>
                <a:ext uri="{FF2B5EF4-FFF2-40B4-BE49-F238E27FC236}">
                  <a16:creationId xmlns:a16="http://schemas.microsoft.com/office/drawing/2014/main" id="{8440CBF8-E4C1-2B4F-AA93-93E8B5494007}"/>
                </a:ext>
              </a:extLst>
            </p:cNvPr>
            <p:cNvSpPr/>
            <p:nvPr/>
          </p:nvSpPr>
          <p:spPr>
            <a:xfrm>
              <a:off x="4498743" y="490589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218" name="Google Shape;6678;g2d30ebb658d_0_19789">
              <a:extLst>
                <a:ext uri="{FF2B5EF4-FFF2-40B4-BE49-F238E27FC236}">
                  <a16:creationId xmlns:a16="http://schemas.microsoft.com/office/drawing/2014/main" id="{D5B0B01F-91EB-4BB2-9505-2EDDEFB7A934}"/>
                </a:ext>
              </a:extLst>
            </p:cNvPr>
            <p:cNvSpPr/>
            <p:nvPr/>
          </p:nvSpPr>
          <p:spPr>
            <a:xfrm>
              <a:off x="4436459" y="4950976"/>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220" name="Google Shape;6678;g2d30ebb658d_0_19789">
              <a:extLst>
                <a:ext uri="{FF2B5EF4-FFF2-40B4-BE49-F238E27FC236}">
                  <a16:creationId xmlns:a16="http://schemas.microsoft.com/office/drawing/2014/main" id="{32FA3DA4-0234-539D-848C-85138950FF88}"/>
                </a:ext>
              </a:extLst>
            </p:cNvPr>
            <p:cNvSpPr/>
            <p:nvPr/>
          </p:nvSpPr>
          <p:spPr>
            <a:xfrm>
              <a:off x="3947196" y="2336836"/>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21" name="Google Shape;6705;g2d30ebb658d_0_19789">
              <a:extLst>
                <a:ext uri="{FF2B5EF4-FFF2-40B4-BE49-F238E27FC236}">
                  <a16:creationId xmlns:a16="http://schemas.microsoft.com/office/drawing/2014/main" id="{00097E9D-0782-ADE5-C8CA-9ABED60A9D1A}"/>
                </a:ext>
              </a:extLst>
            </p:cNvPr>
            <p:cNvSpPr/>
            <p:nvPr/>
          </p:nvSpPr>
          <p:spPr>
            <a:xfrm>
              <a:off x="3997699" y="3512812"/>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22" name="Google Shape;6708;g2d30ebb658d_0_19789">
              <a:extLst>
                <a:ext uri="{FF2B5EF4-FFF2-40B4-BE49-F238E27FC236}">
                  <a16:creationId xmlns:a16="http://schemas.microsoft.com/office/drawing/2014/main" id="{4194533A-7135-4A56-36BA-90834344A28F}"/>
                </a:ext>
              </a:extLst>
            </p:cNvPr>
            <p:cNvSpPr>
              <a:spLocks noChangeAspect="1"/>
            </p:cNvSpPr>
            <p:nvPr/>
          </p:nvSpPr>
          <p:spPr>
            <a:xfrm>
              <a:off x="5246498" y="3664331"/>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23" name="Google Shape;6709;g2d30ebb658d_0_19789">
              <a:extLst>
                <a:ext uri="{FF2B5EF4-FFF2-40B4-BE49-F238E27FC236}">
                  <a16:creationId xmlns:a16="http://schemas.microsoft.com/office/drawing/2014/main" id="{657EC76E-9A7A-997D-DDF3-75345D64830A}"/>
                </a:ext>
              </a:extLst>
            </p:cNvPr>
            <p:cNvSpPr>
              <a:spLocks noChangeAspect="1"/>
            </p:cNvSpPr>
            <p:nvPr/>
          </p:nvSpPr>
          <p:spPr>
            <a:xfrm>
              <a:off x="5295396" y="3713703"/>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4" name="Google Shape;6711;g2d30ebb658d_0_19789">
              <a:extLst>
                <a:ext uri="{FF2B5EF4-FFF2-40B4-BE49-F238E27FC236}">
                  <a16:creationId xmlns:a16="http://schemas.microsoft.com/office/drawing/2014/main" id="{976D1268-04AC-CAFC-80BC-A8026B856842}"/>
                </a:ext>
              </a:extLst>
            </p:cNvPr>
            <p:cNvSpPr>
              <a:spLocks noChangeAspect="1"/>
            </p:cNvSpPr>
            <p:nvPr/>
          </p:nvSpPr>
          <p:spPr>
            <a:xfrm>
              <a:off x="4101578" y="3664212"/>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25" name="Google Shape;6712;g2d30ebb658d_0_19789">
              <a:extLst>
                <a:ext uri="{FF2B5EF4-FFF2-40B4-BE49-F238E27FC236}">
                  <a16:creationId xmlns:a16="http://schemas.microsoft.com/office/drawing/2014/main" id="{352076C5-9063-0105-C1F6-46A0E9521B6A}"/>
                </a:ext>
              </a:extLst>
            </p:cNvPr>
            <p:cNvSpPr>
              <a:spLocks noChangeAspect="1"/>
            </p:cNvSpPr>
            <p:nvPr/>
          </p:nvSpPr>
          <p:spPr>
            <a:xfrm>
              <a:off x="4155688" y="3728922"/>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6" name="Google Shape;6714;g2d30ebb658d_0_19789">
              <a:extLst>
                <a:ext uri="{FF2B5EF4-FFF2-40B4-BE49-F238E27FC236}">
                  <a16:creationId xmlns:a16="http://schemas.microsoft.com/office/drawing/2014/main" id="{21C6ABF0-8EB3-B6B2-D8E6-AC20481469E3}"/>
                </a:ext>
              </a:extLst>
            </p:cNvPr>
            <p:cNvSpPr>
              <a:spLocks noChangeAspect="1"/>
            </p:cNvSpPr>
            <p:nvPr/>
          </p:nvSpPr>
          <p:spPr>
            <a:xfrm>
              <a:off x="4669946" y="3664213"/>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27" name="Google Shape;6715;g2d30ebb658d_0_19789">
              <a:extLst>
                <a:ext uri="{FF2B5EF4-FFF2-40B4-BE49-F238E27FC236}">
                  <a16:creationId xmlns:a16="http://schemas.microsoft.com/office/drawing/2014/main" id="{6FDFF21A-6D86-6983-AD3D-55674AEF10E6}"/>
                </a:ext>
              </a:extLst>
            </p:cNvPr>
            <p:cNvSpPr>
              <a:spLocks noChangeAspect="1"/>
            </p:cNvSpPr>
            <p:nvPr/>
          </p:nvSpPr>
          <p:spPr>
            <a:xfrm>
              <a:off x="4740093" y="3717217"/>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8" name="Google Shape;6704;g2d30ebb658d_0_19789">
              <a:extLst>
                <a:ext uri="{FF2B5EF4-FFF2-40B4-BE49-F238E27FC236}">
                  <a16:creationId xmlns:a16="http://schemas.microsoft.com/office/drawing/2014/main" id="{4E700CB1-69C1-45AA-FC38-75AC1E79FBDA}"/>
                </a:ext>
              </a:extLst>
            </p:cNvPr>
            <p:cNvSpPr/>
            <p:nvPr/>
          </p:nvSpPr>
          <p:spPr>
            <a:xfrm>
              <a:off x="4032810" y="2397562"/>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29" name="TextBox 228">
              <a:extLst>
                <a:ext uri="{FF2B5EF4-FFF2-40B4-BE49-F238E27FC236}">
                  <a16:creationId xmlns:a16="http://schemas.microsoft.com/office/drawing/2014/main" id="{3780236E-B6D9-018E-A7AE-F2C946588C61}"/>
                </a:ext>
              </a:extLst>
            </p:cNvPr>
            <p:cNvSpPr txBox="1"/>
            <p:nvPr/>
          </p:nvSpPr>
          <p:spPr>
            <a:xfrm>
              <a:off x="4449942" y="3536502"/>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230" name="Google Shape;6705;g2d30ebb658d_0_19789">
              <a:extLst>
                <a:ext uri="{FF2B5EF4-FFF2-40B4-BE49-F238E27FC236}">
                  <a16:creationId xmlns:a16="http://schemas.microsoft.com/office/drawing/2014/main" id="{133AAB0D-83AD-1F8B-8EAB-C3C30DD937A1}"/>
                </a:ext>
              </a:extLst>
            </p:cNvPr>
            <p:cNvSpPr/>
            <p:nvPr/>
          </p:nvSpPr>
          <p:spPr>
            <a:xfrm>
              <a:off x="4264024" y="2650445"/>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31" name="Google Shape;6678;g2d30ebb658d_0_19789">
              <a:extLst>
                <a:ext uri="{FF2B5EF4-FFF2-40B4-BE49-F238E27FC236}">
                  <a16:creationId xmlns:a16="http://schemas.microsoft.com/office/drawing/2014/main" id="{1EB97FD1-92AA-A8A2-A542-801B349FDDB5}"/>
                </a:ext>
              </a:extLst>
            </p:cNvPr>
            <p:cNvSpPr/>
            <p:nvPr/>
          </p:nvSpPr>
          <p:spPr>
            <a:xfrm>
              <a:off x="4514882" y="3248940"/>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232" name="Google Shape;6678;g2d30ebb658d_0_19789">
              <a:extLst>
                <a:ext uri="{FF2B5EF4-FFF2-40B4-BE49-F238E27FC236}">
                  <a16:creationId xmlns:a16="http://schemas.microsoft.com/office/drawing/2014/main" id="{2A606535-F63B-03AF-3E9F-C0B889B938DC}"/>
                </a:ext>
              </a:extLst>
            </p:cNvPr>
            <p:cNvSpPr/>
            <p:nvPr/>
          </p:nvSpPr>
          <p:spPr>
            <a:xfrm>
              <a:off x="4264024" y="2852256"/>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33" name="TextBox 232">
              <a:extLst>
                <a:ext uri="{FF2B5EF4-FFF2-40B4-BE49-F238E27FC236}">
                  <a16:creationId xmlns:a16="http://schemas.microsoft.com/office/drawing/2014/main" id="{2888B865-9AC3-DA5F-D9F6-DE5E3E6DB82C}"/>
                </a:ext>
              </a:extLst>
            </p:cNvPr>
            <p:cNvSpPr txBox="1"/>
            <p:nvPr/>
          </p:nvSpPr>
          <p:spPr>
            <a:xfrm>
              <a:off x="4557413" y="2136123"/>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234" name="Google Shape;6705;g2d30ebb658d_0_19789">
              <a:extLst>
                <a:ext uri="{FF2B5EF4-FFF2-40B4-BE49-F238E27FC236}">
                  <a16:creationId xmlns:a16="http://schemas.microsoft.com/office/drawing/2014/main" id="{C7B029A4-F745-1A10-C628-90C0BC7FF250}"/>
                </a:ext>
              </a:extLst>
            </p:cNvPr>
            <p:cNvSpPr/>
            <p:nvPr/>
          </p:nvSpPr>
          <p:spPr>
            <a:xfrm>
              <a:off x="4264024" y="3048354"/>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35" name="Google Shape;6678;g2d30ebb658d_0_19789">
              <a:extLst>
                <a:ext uri="{FF2B5EF4-FFF2-40B4-BE49-F238E27FC236}">
                  <a16:creationId xmlns:a16="http://schemas.microsoft.com/office/drawing/2014/main" id="{52C43E92-662A-07F2-DF1D-C7000DA4EB5E}"/>
                </a:ext>
              </a:extLst>
            </p:cNvPr>
            <p:cNvSpPr/>
            <p:nvPr/>
          </p:nvSpPr>
          <p:spPr>
            <a:xfrm>
              <a:off x="4452598" y="3294022"/>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pic>
          <p:nvPicPr>
            <p:cNvPr id="236" name="Google Shape;6699;p92">
              <a:extLst>
                <a:ext uri="{FF2B5EF4-FFF2-40B4-BE49-F238E27FC236}">
                  <a16:creationId xmlns:a16="http://schemas.microsoft.com/office/drawing/2014/main" id="{7A23808A-CAB3-409B-8140-FB655610C499}"/>
                </a:ext>
              </a:extLst>
            </p:cNvPr>
            <p:cNvPicPr preferRelativeResize="0">
              <a:picLocks noChangeAspect="1"/>
            </p:cNvPicPr>
            <p:nvPr/>
          </p:nvPicPr>
          <p:blipFill rotWithShape="1">
            <a:blip r:embed="rId3">
              <a:alphaModFix/>
            </a:blip>
            <a:srcRect/>
            <a:stretch/>
          </p:blipFill>
          <p:spPr>
            <a:xfrm>
              <a:off x="4279869" y="2093777"/>
              <a:ext cx="220483" cy="220483"/>
            </a:xfrm>
            <a:prstGeom prst="rect">
              <a:avLst/>
            </a:prstGeom>
            <a:noFill/>
            <a:ln>
              <a:noFill/>
            </a:ln>
          </p:spPr>
        </p:pic>
      </p:grpSp>
      <p:sp>
        <p:nvSpPr>
          <p:cNvPr id="240" name="Google Shape;6705;g2d30ebb658d_0_19789">
            <a:extLst>
              <a:ext uri="{FF2B5EF4-FFF2-40B4-BE49-F238E27FC236}">
                <a16:creationId xmlns:a16="http://schemas.microsoft.com/office/drawing/2014/main" id="{244F0F72-13E5-CD8D-55EA-69F4C2F20C4D}"/>
              </a:ext>
            </a:extLst>
          </p:cNvPr>
          <p:cNvSpPr/>
          <p:nvPr/>
        </p:nvSpPr>
        <p:spPr>
          <a:xfrm>
            <a:off x="8278580" y="2406352"/>
            <a:ext cx="1909145" cy="1468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41" name="Google Shape;6705;g2d30ebb658d_0_19789">
            <a:extLst>
              <a:ext uri="{FF2B5EF4-FFF2-40B4-BE49-F238E27FC236}">
                <a16:creationId xmlns:a16="http://schemas.microsoft.com/office/drawing/2014/main" id="{1E783B25-92FF-EC8F-694B-5676F9929C07}"/>
              </a:ext>
            </a:extLst>
          </p:cNvPr>
          <p:cNvSpPr/>
          <p:nvPr/>
        </p:nvSpPr>
        <p:spPr>
          <a:xfrm>
            <a:off x="8282044" y="2211584"/>
            <a:ext cx="1906928" cy="139628"/>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507" name="Group 506">
            <a:extLst>
              <a:ext uri="{FF2B5EF4-FFF2-40B4-BE49-F238E27FC236}">
                <a16:creationId xmlns:a16="http://schemas.microsoft.com/office/drawing/2014/main" id="{5579CAF8-63E7-D2EF-BBBF-9751C1196870}"/>
              </a:ext>
            </a:extLst>
          </p:cNvPr>
          <p:cNvGrpSpPr/>
          <p:nvPr/>
        </p:nvGrpSpPr>
        <p:grpSpPr>
          <a:xfrm>
            <a:off x="7018522" y="1822243"/>
            <a:ext cx="4504880" cy="4962428"/>
            <a:chOff x="7018522" y="1662223"/>
            <a:chExt cx="4504880" cy="4962428"/>
          </a:xfrm>
        </p:grpSpPr>
        <p:sp>
          <p:nvSpPr>
            <p:cNvPr id="239" name="Google Shape;6678;g2d30ebb658d_0_19789">
              <a:extLst>
                <a:ext uri="{FF2B5EF4-FFF2-40B4-BE49-F238E27FC236}">
                  <a16:creationId xmlns:a16="http://schemas.microsoft.com/office/drawing/2014/main" id="{4196D7E3-1A7E-38E7-736B-A88395E0DC23}"/>
                </a:ext>
              </a:extLst>
            </p:cNvPr>
            <p:cNvSpPr/>
            <p:nvPr/>
          </p:nvSpPr>
          <p:spPr>
            <a:xfrm>
              <a:off x="7018522" y="1788674"/>
              <a:ext cx="4504880" cy="4835977"/>
            </a:xfrm>
            <a:prstGeom prst="roundRect">
              <a:avLst>
                <a:gd name="adj" fmla="val 2356"/>
              </a:avLst>
            </a:prstGeom>
            <a:solidFill>
              <a:schemeClr val="accent3">
                <a:alpha val="10000"/>
              </a:schemeClr>
            </a:solidFill>
            <a:ln w="9525">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42" name="TextBox 241">
              <a:extLst>
                <a:ext uri="{FF2B5EF4-FFF2-40B4-BE49-F238E27FC236}">
                  <a16:creationId xmlns:a16="http://schemas.microsoft.com/office/drawing/2014/main" id="{2D48509B-B529-B539-09CF-1D447F588128}"/>
                </a:ext>
              </a:extLst>
            </p:cNvPr>
            <p:cNvSpPr txBox="1"/>
            <p:nvPr/>
          </p:nvSpPr>
          <p:spPr>
            <a:xfrm>
              <a:off x="8964234" y="1829423"/>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315" name="Rounded Rectangle 314">
              <a:extLst>
                <a:ext uri="{FF2B5EF4-FFF2-40B4-BE49-F238E27FC236}">
                  <a16:creationId xmlns:a16="http://schemas.microsoft.com/office/drawing/2014/main" id="{22B6E8D3-7D73-855D-8529-15AE637F0B7F}"/>
                </a:ext>
              </a:extLst>
            </p:cNvPr>
            <p:cNvSpPr/>
            <p:nvPr/>
          </p:nvSpPr>
          <p:spPr bwMode="gray">
            <a:xfrm>
              <a:off x="8683188" y="1662223"/>
              <a:ext cx="1135062" cy="151298"/>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solidFill>
                    <a:schemeClr val="bg1"/>
                  </a:solidFill>
                </a:rPr>
                <a:t>Region A</a:t>
              </a:r>
            </a:p>
          </p:txBody>
        </p:sp>
        <p:grpSp>
          <p:nvGrpSpPr>
            <p:cNvPr id="432" name="Group 431">
              <a:extLst>
                <a:ext uri="{FF2B5EF4-FFF2-40B4-BE49-F238E27FC236}">
                  <a16:creationId xmlns:a16="http://schemas.microsoft.com/office/drawing/2014/main" id="{8B199275-2D9D-B51B-3E77-498A9CECEE3C}"/>
                </a:ext>
              </a:extLst>
            </p:cNvPr>
            <p:cNvGrpSpPr/>
            <p:nvPr/>
          </p:nvGrpSpPr>
          <p:grpSpPr>
            <a:xfrm>
              <a:off x="7304012" y="2496579"/>
              <a:ext cx="1909145" cy="4021576"/>
              <a:chOff x="3879476" y="2059999"/>
              <a:chExt cx="1909145" cy="4021576"/>
            </a:xfrm>
          </p:grpSpPr>
          <p:sp>
            <p:nvSpPr>
              <p:cNvPr id="433" name="Google Shape;6678;g2d30ebb658d_0_19789">
                <a:extLst>
                  <a:ext uri="{FF2B5EF4-FFF2-40B4-BE49-F238E27FC236}">
                    <a16:creationId xmlns:a16="http://schemas.microsoft.com/office/drawing/2014/main" id="{3642F1D6-86E5-0AA0-0F20-3BCA2A5DC9A0}"/>
                  </a:ext>
                </a:extLst>
              </p:cNvPr>
              <p:cNvSpPr/>
              <p:nvPr/>
            </p:nvSpPr>
            <p:spPr>
              <a:xfrm>
                <a:off x="3879476" y="2059999"/>
                <a:ext cx="1909145" cy="402157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34" name="Google Shape;6678;g2d30ebb658d_0_19789">
                <a:extLst>
                  <a:ext uri="{FF2B5EF4-FFF2-40B4-BE49-F238E27FC236}">
                    <a16:creationId xmlns:a16="http://schemas.microsoft.com/office/drawing/2014/main" id="{85494043-FC4C-90EA-FB5A-34752D95333B}"/>
                  </a:ext>
                </a:extLst>
              </p:cNvPr>
              <p:cNvSpPr/>
              <p:nvPr/>
            </p:nvSpPr>
            <p:spPr>
              <a:xfrm>
                <a:off x="3969834" y="5737352"/>
                <a:ext cx="1717288"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35" name="TextBox 434">
                <a:extLst>
                  <a:ext uri="{FF2B5EF4-FFF2-40B4-BE49-F238E27FC236}">
                    <a16:creationId xmlns:a16="http://schemas.microsoft.com/office/drawing/2014/main" id="{47BD2557-05AD-6973-E29D-E49D5809DF62}"/>
                  </a:ext>
                </a:extLst>
              </p:cNvPr>
              <p:cNvSpPr txBox="1"/>
              <p:nvPr/>
            </p:nvSpPr>
            <p:spPr>
              <a:xfrm>
                <a:off x="4248627" y="5825448"/>
                <a:ext cx="1351332"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B1D36"/>
                    </a:solidFill>
                    <a:effectLst/>
                    <a:uLnTx/>
                    <a:uFillTx/>
                    <a:latin typeface="Arial" panose="020B0604020202020204"/>
                    <a:ea typeface="+mn-ea"/>
                    <a:cs typeface="+mn-cs"/>
                  </a:rPr>
                  <a:t>Additional Workload Domains</a:t>
                </a:r>
              </a:p>
            </p:txBody>
          </p:sp>
          <p:pic>
            <p:nvPicPr>
              <p:cNvPr id="436" name="Google Shape;6699;p92">
                <a:extLst>
                  <a:ext uri="{FF2B5EF4-FFF2-40B4-BE49-F238E27FC236}">
                    <a16:creationId xmlns:a16="http://schemas.microsoft.com/office/drawing/2014/main" id="{DEA69B8C-29B9-3289-FBC2-79ED52A6F3AA}"/>
                  </a:ext>
                </a:extLst>
              </p:cNvPr>
              <p:cNvPicPr preferRelativeResize="0">
                <a:picLocks noChangeAspect="1"/>
              </p:cNvPicPr>
              <p:nvPr/>
            </p:nvPicPr>
            <p:blipFill rotWithShape="1">
              <a:blip r:embed="rId3">
                <a:alphaModFix/>
              </a:blip>
              <a:srcRect/>
              <a:stretch/>
            </p:blipFill>
            <p:spPr>
              <a:xfrm>
                <a:off x="4015687" y="5766548"/>
                <a:ext cx="220483" cy="220483"/>
              </a:xfrm>
              <a:prstGeom prst="rect">
                <a:avLst/>
              </a:prstGeom>
              <a:noFill/>
              <a:ln>
                <a:noFill/>
              </a:ln>
            </p:spPr>
          </p:pic>
          <p:sp>
            <p:nvSpPr>
              <p:cNvPr id="437" name="Google Shape;6678;g2d30ebb658d_0_19789">
                <a:extLst>
                  <a:ext uri="{FF2B5EF4-FFF2-40B4-BE49-F238E27FC236}">
                    <a16:creationId xmlns:a16="http://schemas.microsoft.com/office/drawing/2014/main" id="{E907898B-8DA9-75EB-84A2-3ADED2C11419}"/>
                  </a:ext>
                </a:extLst>
              </p:cNvPr>
              <p:cNvSpPr/>
              <p:nvPr/>
            </p:nvSpPr>
            <p:spPr>
              <a:xfrm>
                <a:off x="3942438" y="4173972"/>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38" name="Google Shape;6705;g2d30ebb658d_0_19789">
                <a:extLst>
                  <a:ext uri="{FF2B5EF4-FFF2-40B4-BE49-F238E27FC236}">
                    <a16:creationId xmlns:a16="http://schemas.microsoft.com/office/drawing/2014/main" id="{4615B56D-351F-C98D-25F5-31EC9BB5AD6E}"/>
                  </a:ext>
                </a:extLst>
              </p:cNvPr>
              <p:cNvSpPr/>
              <p:nvPr/>
            </p:nvSpPr>
            <p:spPr>
              <a:xfrm>
                <a:off x="3992941" y="5157400"/>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39" name="Google Shape;6708;g2d30ebb658d_0_19789">
                <a:extLst>
                  <a:ext uri="{FF2B5EF4-FFF2-40B4-BE49-F238E27FC236}">
                    <a16:creationId xmlns:a16="http://schemas.microsoft.com/office/drawing/2014/main" id="{F521AE06-E041-D449-E953-75AFC29339CB}"/>
                  </a:ext>
                </a:extLst>
              </p:cNvPr>
              <p:cNvSpPr>
                <a:spLocks noChangeAspect="1"/>
              </p:cNvSpPr>
              <p:nvPr/>
            </p:nvSpPr>
            <p:spPr>
              <a:xfrm>
                <a:off x="5241740" y="5308919"/>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40" name="Google Shape;6709;g2d30ebb658d_0_19789">
                <a:extLst>
                  <a:ext uri="{FF2B5EF4-FFF2-40B4-BE49-F238E27FC236}">
                    <a16:creationId xmlns:a16="http://schemas.microsoft.com/office/drawing/2014/main" id="{0BE8F3AE-0AF5-5715-E5EE-4419F4F5CFE3}"/>
                  </a:ext>
                </a:extLst>
              </p:cNvPr>
              <p:cNvSpPr>
                <a:spLocks noChangeAspect="1"/>
              </p:cNvSpPr>
              <p:nvPr/>
            </p:nvSpPr>
            <p:spPr>
              <a:xfrm>
                <a:off x="5290638" y="5358291"/>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41" name="Google Shape;6711;g2d30ebb658d_0_19789">
                <a:extLst>
                  <a:ext uri="{FF2B5EF4-FFF2-40B4-BE49-F238E27FC236}">
                    <a16:creationId xmlns:a16="http://schemas.microsoft.com/office/drawing/2014/main" id="{E05F82AC-CE8B-50DC-0FCA-D27779E88545}"/>
                  </a:ext>
                </a:extLst>
              </p:cNvPr>
              <p:cNvSpPr>
                <a:spLocks noChangeAspect="1"/>
              </p:cNvSpPr>
              <p:nvPr/>
            </p:nvSpPr>
            <p:spPr>
              <a:xfrm>
                <a:off x="4096820" y="5308800"/>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42" name="Google Shape;6712;g2d30ebb658d_0_19789">
                <a:extLst>
                  <a:ext uri="{FF2B5EF4-FFF2-40B4-BE49-F238E27FC236}">
                    <a16:creationId xmlns:a16="http://schemas.microsoft.com/office/drawing/2014/main" id="{C4E74096-74A6-1A5C-8CA7-DEDE4354D1A1}"/>
                  </a:ext>
                </a:extLst>
              </p:cNvPr>
              <p:cNvSpPr>
                <a:spLocks noChangeAspect="1"/>
              </p:cNvSpPr>
              <p:nvPr/>
            </p:nvSpPr>
            <p:spPr>
              <a:xfrm>
                <a:off x="4150930" y="5373510"/>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43" name="Google Shape;6714;g2d30ebb658d_0_19789">
                <a:extLst>
                  <a:ext uri="{FF2B5EF4-FFF2-40B4-BE49-F238E27FC236}">
                    <a16:creationId xmlns:a16="http://schemas.microsoft.com/office/drawing/2014/main" id="{AB68C1FB-B7D2-ECE4-2933-9ED68500DA78}"/>
                  </a:ext>
                </a:extLst>
              </p:cNvPr>
              <p:cNvSpPr>
                <a:spLocks noChangeAspect="1"/>
              </p:cNvSpPr>
              <p:nvPr/>
            </p:nvSpPr>
            <p:spPr>
              <a:xfrm>
                <a:off x="4665188" y="5308801"/>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44" name="Google Shape;6715;g2d30ebb658d_0_19789">
                <a:extLst>
                  <a:ext uri="{FF2B5EF4-FFF2-40B4-BE49-F238E27FC236}">
                    <a16:creationId xmlns:a16="http://schemas.microsoft.com/office/drawing/2014/main" id="{4BC369FE-DD33-08BF-FFA8-203541C13E95}"/>
                  </a:ext>
                </a:extLst>
              </p:cNvPr>
              <p:cNvSpPr>
                <a:spLocks noChangeAspect="1"/>
              </p:cNvSpPr>
              <p:nvPr/>
            </p:nvSpPr>
            <p:spPr>
              <a:xfrm>
                <a:off x="4735335" y="5361805"/>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45" name="Google Shape;6704;g2d30ebb658d_0_19789">
                <a:extLst>
                  <a:ext uri="{FF2B5EF4-FFF2-40B4-BE49-F238E27FC236}">
                    <a16:creationId xmlns:a16="http://schemas.microsoft.com/office/drawing/2014/main" id="{6A137A23-4FFB-BC1C-A456-A98FA9DE4F4E}"/>
                  </a:ext>
                </a:extLst>
              </p:cNvPr>
              <p:cNvSpPr/>
              <p:nvPr/>
            </p:nvSpPr>
            <p:spPr>
              <a:xfrm>
                <a:off x="4028052" y="4232647"/>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46" name="TextBox 445">
                <a:extLst>
                  <a:ext uri="{FF2B5EF4-FFF2-40B4-BE49-F238E27FC236}">
                    <a16:creationId xmlns:a16="http://schemas.microsoft.com/office/drawing/2014/main" id="{47239878-B4A6-5A83-5BFB-B90467427725}"/>
                  </a:ext>
                </a:extLst>
              </p:cNvPr>
              <p:cNvSpPr txBox="1"/>
              <p:nvPr/>
            </p:nvSpPr>
            <p:spPr>
              <a:xfrm>
                <a:off x="4445184" y="5181090"/>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447" name="Google Shape;6678;g2d30ebb658d_0_19789">
                <a:extLst>
                  <a:ext uri="{FF2B5EF4-FFF2-40B4-BE49-F238E27FC236}">
                    <a16:creationId xmlns:a16="http://schemas.microsoft.com/office/drawing/2014/main" id="{8B2A9CBC-DCD2-0124-9492-1D39756CB2DA}"/>
                  </a:ext>
                </a:extLst>
              </p:cNvPr>
              <p:cNvSpPr/>
              <p:nvPr/>
            </p:nvSpPr>
            <p:spPr>
              <a:xfrm>
                <a:off x="4255553" y="4709931"/>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48" name="Google Shape;6678;g2d30ebb658d_0_19789">
                <a:extLst>
                  <a:ext uri="{FF2B5EF4-FFF2-40B4-BE49-F238E27FC236}">
                    <a16:creationId xmlns:a16="http://schemas.microsoft.com/office/drawing/2014/main" id="{9A1C9C40-7FF1-FF1F-93E2-70DDC3638E80}"/>
                  </a:ext>
                </a:extLst>
              </p:cNvPr>
              <p:cNvSpPr/>
              <p:nvPr/>
            </p:nvSpPr>
            <p:spPr>
              <a:xfrm>
                <a:off x="4259266" y="4519289"/>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49" name="Google Shape;6678;g2d30ebb658d_0_19789">
                <a:extLst>
                  <a:ext uri="{FF2B5EF4-FFF2-40B4-BE49-F238E27FC236}">
                    <a16:creationId xmlns:a16="http://schemas.microsoft.com/office/drawing/2014/main" id="{633DD855-A048-E5E4-DCBE-EF5351ED57F4}"/>
                  </a:ext>
                </a:extLst>
              </p:cNvPr>
              <p:cNvSpPr/>
              <p:nvPr/>
            </p:nvSpPr>
            <p:spPr>
              <a:xfrm>
                <a:off x="4498743" y="490589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450" name="Google Shape;6678;g2d30ebb658d_0_19789">
                <a:extLst>
                  <a:ext uri="{FF2B5EF4-FFF2-40B4-BE49-F238E27FC236}">
                    <a16:creationId xmlns:a16="http://schemas.microsoft.com/office/drawing/2014/main" id="{E0DD0CD6-7237-3061-1B36-8AB87C1B3EB9}"/>
                  </a:ext>
                </a:extLst>
              </p:cNvPr>
              <p:cNvSpPr/>
              <p:nvPr/>
            </p:nvSpPr>
            <p:spPr>
              <a:xfrm>
                <a:off x="4436459" y="4950976"/>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451" name="Google Shape;6678;g2d30ebb658d_0_19789">
                <a:extLst>
                  <a:ext uri="{FF2B5EF4-FFF2-40B4-BE49-F238E27FC236}">
                    <a16:creationId xmlns:a16="http://schemas.microsoft.com/office/drawing/2014/main" id="{071D228F-0D27-CDE2-9785-FAE9002476DD}"/>
                  </a:ext>
                </a:extLst>
              </p:cNvPr>
              <p:cNvSpPr/>
              <p:nvPr/>
            </p:nvSpPr>
            <p:spPr>
              <a:xfrm>
                <a:off x="3947196" y="2336836"/>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52" name="Google Shape;6705;g2d30ebb658d_0_19789">
                <a:extLst>
                  <a:ext uri="{FF2B5EF4-FFF2-40B4-BE49-F238E27FC236}">
                    <a16:creationId xmlns:a16="http://schemas.microsoft.com/office/drawing/2014/main" id="{5E4F6D3E-1440-CAF8-71CF-8A1589CB1E97}"/>
                  </a:ext>
                </a:extLst>
              </p:cNvPr>
              <p:cNvSpPr/>
              <p:nvPr/>
            </p:nvSpPr>
            <p:spPr>
              <a:xfrm>
                <a:off x="3997699" y="3512812"/>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53" name="Google Shape;6708;g2d30ebb658d_0_19789">
                <a:extLst>
                  <a:ext uri="{FF2B5EF4-FFF2-40B4-BE49-F238E27FC236}">
                    <a16:creationId xmlns:a16="http://schemas.microsoft.com/office/drawing/2014/main" id="{59FEFE5F-1640-EDB4-A269-6A87BAA8CC1A}"/>
                  </a:ext>
                </a:extLst>
              </p:cNvPr>
              <p:cNvSpPr>
                <a:spLocks noChangeAspect="1"/>
              </p:cNvSpPr>
              <p:nvPr/>
            </p:nvSpPr>
            <p:spPr>
              <a:xfrm>
                <a:off x="5246498" y="3664331"/>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54" name="Google Shape;6709;g2d30ebb658d_0_19789">
                <a:extLst>
                  <a:ext uri="{FF2B5EF4-FFF2-40B4-BE49-F238E27FC236}">
                    <a16:creationId xmlns:a16="http://schemas.microsoft.com/office/drawing/2014/main" id="{0FE38D7D-DC49-3E89-DA26-6DAF346AB79C}"/>
                  </a:ext>
                </a:extLst>
              </p:cNvPr>
              <p:cNvSpPr>
                <a:spLocks noChangeAspect="1"/>
              </p:cNvSpPr>
              <p:nvPr/>
            </p:nvSpPr>
            <p:spPr>
              <a:xfrm>
                <a:off x="5295396" y="3713703"/>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55" name="Google Shape;6711;g2d30ebb658d_0_19789">
                <a:extLst>
                  <a:ext uri="{FF2B5EF4-FFF2-40B4-BE49-F238E27FC236}">
                    <a16:creationId xmlns:a16="http://schemas.microsoft.com/office/drawing/2014/main" id="{E680276E-A79F-B314-1AA0-EEF140C20D6F}"/>
                  </a:ext>
                </a:extLst>
              </p:cNvPr>
              <p:cNvSpPr>
                <a:spLocks noChangeAspect="1"/>
              </p:cNvSpPr>
              <p:nvPr/>
            </p:nvSpPr>
            <p:spPr>
              <a:xfrm>
                <a:off x="4101578" y="3664212"/>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56" name="Google Shape;6712;g2d30ebb658d_0_19789">
                <a:extLst>
                  <a:ext uri="{FF2B5EF4-FFF2-40B4-BE49-F238E27FC236}">
                    <a16:creationId xmlns:a16="http://schemas.microsoft.com/office/drawing/2014/main" id="{9996001E-2F19-7D12-CCCF-CE1E2AFF1BA6}"/>
                  </a:ext>
                </a:extLst>
              </p:cNvPr>
              <p:cNvSpPr>
                <a:spLocks noChangeAspect="1"/>
              </p:cNvSpPr>
              <p:nvPr/>
            </p:nvSpPr>
            <p:spPr>
              <a:xfrm>
                <a:off x="4155688" y="3728922"/>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57" name="Google Shape;6714;g2d30ebb658d_0_19789">
                <a:extLst>
                  <a:ext uri="{FF2B5EF4-FFF2-40B4-BE49-F238E27FC236}">
                    <a16:creationId xmlns:a16="http://schemas.microsoft.com/office/drawing/2014/main" id="{5A30E8F3-42E1-C74F-CECD-42DAAF9A5E12}"/>
                  </a:ext>
                </a:extLst>
              </p:cNvPr>
              <p:cNvSpPr>
                <a:spLocks noChangeAspect="1"/>
              </p:cNvSpPr>
              <p:nvPr/>
            </p:nvSpPr>
            <p:spPr>
              <a:xfrm>
                <a:off x="4669946" y="3664213"/>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58" name="Google Shape;6715;g2d30ebb658d_0_19789">
                <a:extLst>
                  <a:ext uri="{FF2B5EF4-FFF2-40B4-BE49-F238E27FC236}">
                    <a16:creationId xmlns:a16="http://schemas.microsoft.com/office/drawing/2014/main" id="{F4434EC1-472B-C934-5D7F-C1E863512A40}"/>
                  </a:ext>
                </a:extLst>
              </p:cNvPr>
              <p:cNvSpPr>
                <a:spLocks noChangeAspect="1"/>
              </p:cNvSpPr>
              <p:nvPr/>
            </p:nvSpPr>
            <p:spPr>
              <a:xfrm>
                <a:off x="4740093" y="3717217"/>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59" name="Google Shape;6704;g2d30ebb658d_0_19789">
                <a:extLst>
                  <a:ext uri="{FF2B5EF4-FFF2-40B4-BE49-F238E27FC236}">
                    <a16:creationId xmlns:a16="http://schemas.microsoft.com/office/drawing/2014/main" id="{A3146D1E-23B4-5B46-ABD6-38D6F37A17FE}"/>
                  </a:ext>
                </a:extLst>
              </p:cNvPr>
              <p:cNvSpPr/>
              <p:nvPr/>
            </p:nvSpPr>
            <p:spPr>
              <a:xfrm>
                <a:off x="4032810" y="2397562"/>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60" name="TextBox 459">
                <a:extLst>
                  <a:ext uri="{FF2B5EF4-FFF2-40B4-BE49-F238E27FC236}">
                    <a16:creationId xmlns:a16="http://schemas.microsoft.com/office/drawing/2014/main" id="{F9167DB1-B132-8329-D145-F906626351D4}"/>
                  </a:ext>
                </a:extLst>
              </p:cNvPr>
              <p:cNvSpPr txBox="1"/>
              <p:nvPr/>
            </p:nvSpPr>
            <p:spPr>
              <a:xfrm>
                <a:off x="4449942" y="3536502"/>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461" name="Google Shape;6705;g2d30ebb658d_0_19789">
                <a:extLst>
                  <a:ext uri="{FF2B5EF4-FFF2-40B4-BE49-F238E27FC236}">
                    <a16:creationId xmlns:a16="http://schemas.microsoft.com/office/drawing/2014/main" id="{57CCD298-D886-98B1-E969-DB2CD31FC2CD}"/>
                  </a:ext>
                </a:extLst>
              </p:cNvPr>
              <p:cNvSpPr/>
              <p:nvPr/>
            </p:nvSpPr>
            <p:spPr>
              <a:xfrm>
                <a:off x="4264024" y="2650445"/>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462" name="Google Shape;6678;g2d30ebb658d_0_19789">
                <a:extLst>
                  <a:ext uri="{FF2B5EF4-FFF2-40B4-BE49-F238E27FC236}">
                    <a16:creationId xmlns:a16="http://schemas.microsoft.com/office/drawing/2014/main" id="{7D21483C-A526-82F5-D595-836DD29A5C70}"/>
                  </a:ext>
                </a:extLst>
              </p:cNvPr>
              <p:cNvSpPr/>
              <p:nvPr/>
            </p:nvSpPr>
            <p:spPr>
              <a:xfrm>
                <a:off x="4514882" y="3248940"/>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463" name="Google Shape;6678;g2d30ebb658d_0_19789">
                <a:extLst>
                  <a:ext uri="{FF2B5EF4-FFF2-40B4-BE49-F238E27FC236}">
                    <a16:creationId xmlns:a16="http://schemas.microsoft.com/office/drawing/2014/main" id="{AA15F26B-FBA7-40BB-0486-FBC86D4FA8C8}"/>
                  </a:ext>
                </a:extLst>
              </p:cNvPr>
              <p:cNvSpPr/>
              <p:nvPr/>
            </p:nvSpPr>
            <p:spPr>
              <a:xfrm>
                <a:off x="4264024" y="2852256"/>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64" name="TextBox 463">
                <a:extLst>
                  <a:ext uri="{FF2B5EF4-FFF2-40B4-BE49-F238E27FC236}">
                    <a16:creationId xmlns:a16="http://schemas.microsoft.com/office/drawing/2014/main" id="{3BEA2331-84E5-BBB3-CEB2-646D457A733F}"/>
                  </a:ext>
                </a:extLst>
              </p:cNvPr>
              <p:cNvSpPr txBox="1"/>
              <p:nvPr/>
            </p:nvSpPr>
            <p:spPr>
              <a:xfrm>
                <a:off x="4557413" y="2136123"/>
                <a:ext cx="878446"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 1</a:t>
                </a:r>
              </a:p>
            </p:txBody>
          </p:sp>
          <p:sp>
            <p:nvSpPr>
              <p:cNvPr id="465" name="Google Shape;6705;g2d30ebb658d_0_19789">
                <a:extLst>
                  <a:ext uri="{FF2B5EF4-FFF2-40B4-BE49-F238E27FC236}">
                    <a16:creationId xmlns:a16="http://schemas.microsoft.com/office/drawing/2014/main" id="{0BF0A721-3F98-4AFF-306D-F3892FA1BD07}"/>
                  </a:ext>
                </a:extLst>
              </p:cNvPr>
              <p:cNvSpPr/>
              <p:nvPr/>
            </p:nvSpPr>
            <p:spPr>
              <a:xfrm>
                <a:off x="4264024" y="3048354"/>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466" name="Google Shape;6678;g2d30ebb658d_0_19789">
                <a:extLst>
                  <a:ext uri="{FF2B5EF4-FFF2-40B4-BE49-F238E27FC236}">
                    <a16:creationId xmlns:a16="http://schemas.microsoft.com/office/drawing/2014/main" id="{9D0690D7-9087-3732-A156-3FA8F6125218}"/>
                  </a:ext>
                </a:extLst>
              </p:cNvPr>
              <p:cNvSpPr/>
              <p:nvPr/>
            </p:nvSpPr>
            <p:spPr>
              <a:xfrm>
                <a:off x="4452598" y="3294022"/>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pic>
            <p:nvPicPr>
              <p:cNvPr id="467" name="Google Shape;6699;p92">
                <a:extLst>
                  <a:ext uri="{FF2B5EF4-FFF2-40B4-BE49-F238E27FC236}">
                    <a16:creationId xmlns:a16="http://schemas.microsoft.com/office/drawing/2014/main" id="{2EE8FC22-7F6F-DCC2-DA37-8ECFE4932937}"/>
                  </a:ext>
                </a:extLst>
              </p:cNvPr>
              <p:cNvPicPr preferRelativeResize="0">
                <a:picLocks noChangeAspect="1"/>
              </p:cNvPicPr>
              <p:nvPr/>
            </p:nvPicPr>
            <p:blipFill rotWithShape="1">
              <a:blip r:embed="rId3">
                <a:alphaModFix/>
              </a:blip>
              <a:srcRect/>
              <a:stretch/>
            </p:blipFill>
            <p:spPr>
              <a:xfrm>
                <a:off x="4279869" y="2093777"/>
                <a:ext cx="220483" cy="220483"/>
              </a:xfrm>
              <a:prstGeom prst="rect">
                <a:avLst/>
              </a:prstGeom>
              <a:noFill/>
              <a:ln>
                <a:noFill/>
              </a:ln>
            </p:spPr>
          </p:pic>
        </p:grpSp>
        <p:grpSp>
          <p:nvGrpSpPr>
            <p:cNvPr id="468" name="Group 467">
              <a:extLst>
                <a:ext uri="{FF2B5EF4-FFF2-40B4-BE49-F238E27FC236}">
                  <a16:creationId xmlns:a16="http://schemas.microsoft.com/office/drawing/2014/main" id="{0F0324DC-A981-3EB0-043D-C84D866856A9}"/>
                </a:ext>
              </a:extLst>
            </p:cNvPr>
            <p:cNvGrpSpPr/>
            <p:nvPr/>
          </p:nvGrpSpPr>
          <p:grpSpPr>
            <a:xfrm>
              <a:off x="9386131" y="2498110"/>
              <a:ext cx="1909145" cy="4021576"/>
              <a:chOff x="3879476" y="2059999"/>
              <a:chExt cx="1909145" cy="4021576"/>
            </a:xfrm>
          </p:grpSpPr>
          <p:sp>
            <p:nvSpPr>
              <p:cNvPr id="469" name="Google Shape;6678;g2d30ebb658d_0_19789">
                <a:extLst>
                  <a:ext uri="{FF2B5EF4-FFF2-40B4-BE49-F238E27FC236}">
                    <a16:creationId xmlns:a16="http://schemas.microsoft.com/office/drawing/2014/main" id="{6E62FEA6-AEEA-A6C7-BB87-BDDBC7A311DA}"/>
                  </a:ext>
                </a:extLst>
              </p:cNvPr>
              <p:cNvSpPr/>
              <p:nvPr/>
            </p:nvSpPr>
            <p:spPr>
              <a:xfrm>
                <a:off x="3879476" y="2059999"/>
                <a:ext cx="1909145" cy="402157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70" name="Google Shape;6678;g2d30ebb658d_0_19789">
                <a:extLst>
                  <a:ext uri="{FF2B5EF4-FFF2-40B4-BE49-F238E27FC236}">
                    <a16:creationId xmlns:a16="http://schemas.microsoft.com/office/drawing/2014/main" id="{92CD4647-F6A3-D941-24EA-3805DFA88A61}"/>
                  </a:ext>
                </a:extLst>
              </p:cNvPr>
              <p:cNvSpPr/>
              <p:nvPr/>
            </p:nvSpPr>
            <p:spPr>
              <a:xfrm>
                <a:off x="3969834" y="5737352"/>
                <a:ext cx="1717288"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71" name="TextBox 470">
                <a:extLst>
                  <a:ext uri="{FF2B5EF4-FFF2-40B4-BE49-F238E27FC236}">
                    <a16:creationId xmlns:a16="http://schemas.microsoft.com/office/drawing/2014/main" id="{7C9A3FE0-8315-60D5-0A35-E43D1B6B133A}"/>
                  </a:ext>
                </a:extLst>
              </p:cNvPr>
              <p:cNvSpPr txBox="1"/>
              <p:nvPr/>
            </p:nvSpPr>
            <p:spPr>
              <a:xfrm>
                <a:off x="4248627" y="5825448"/>
                <a:ext cx="1351332"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B1D36"/>
                    </a:solidFill>
                    <a:effectLst/>
                    <a:uLnTx/>
                    <a:uFillTx/>
                    <a:latin typeface="Arial" panose="020B0604020202020204"/>
                    <a:ea typeface="+mn-ea"/>
                    <a:cs typeface="+mn-cs"/>
                  </a:rPr>
                  <a:t>Additional Workload Domains</a:t>
                </a:r>
              </a:p>
            </p:txBody>
          </p:sp>
          <p:pic>
            <p:nvPicPr>
              <p:cNvPr id="472" name="Google Shape;6699;p92">
                <a:extLst>
                  <a:ext uri="{FF2B5EF4-FFF2-40B4-BE49-F238E27FC236}">
                    <a16:creationId xmlns:a16="http://schemas.microsoft.com/office/drawing/2014/main" id="{346F5D7B-A285-6C49-E1D1-A62385A3DFE8}"/>
                  </a:ext>
                </a:extLst>
              </p:cNvPr>
              <p:cNvPicPr preferRelativeResize="0">
                <a:picLocks noChangeAspect="1"/>
              </p:cNvPicPr>
              <p:nvPr/>
            </p:nvPicPr>
            <p:blipFill rotWithShape="1">
              <a:blip r:embed="rId3">
                <a:alphaModFix/>
              </a:blip>
              <a:srcRect/>
              <a:stretch/>
            </p:blipFill>
            <p:spPr>
              <a:xfrm>
                <a:off x="4015687" y="5766548"/>
                <a:ext cx="220483" cy="220483"/>
              </a:xfrm>
              <a:prstGeom prst="rect">
                <a:avLst/>
              </a:prstGeom>
              <a:noFill/>
              <a:ln>
                <a:noFill/>
              </a:ln>
            </p:spPr>
          </p:pic>
          <p:sp>
            <p:nvSpPr>
              <p:cNvPr id="473" name="Google Shape;6678;g2d30ebb658d_0_19789">
                <a:extLst>
                  <a:ext uri="{FF2B5EF4-FFF2-40B4-BE49-F238E27FC236}">
                    <a16:creationId xmlns:a16="http://schemas.microsoft.com/office/drawing/2014/main" id="{5C5BC12E-92A7-6DF0-BACA-989FE5B07078}"/>
                  </a:ext>
                </a:extLst>
              </p:cNvPr>
              <p:cNvSpPr/>
              <p:nvPr/>
            </p:nvSpPr>
            <p:spPr>
              <a:xfrm>
                <a:off x="3942438" y="4173972"/>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74" name="Google Shape;6705;g2d30ebb658d_0_19789">
                <a:extLst>
                  <a:ext uri="{FF2B5EF4-FFF2-40B4-BE49-F238E27FC236}">
                    <a16:creationId xmlns:a16="http://schemas.microsoft.com/office/drawing/2014/main" id="{7D62B91D-3912-8927-826B-8260EA598FC7}"/>
                  </a:ext>
                </a:extLst>
              </p:cNvPr>
              <p:cNvSpPr/>
              <p:nvPr/>
            </p:nvSpPr>
            <p:spPr>
              <a:xfrm>
                <a:off x="3992941" y="5157400"/>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75" name="Google Shape;6708;g2d30ebb658d_0_19789">
                <a:extLst>
                  <a:ext uri="{FF2B5EF4-FFF2-40B4-BE49-F238E27FC236}">
                    <a16:creationId xmlns:a16="http://schemas.microsoft.com/office/drawing/2014/main" id="{548BDDCF-13FC-198D-075C-EBFE3D3C8591}"/>
                  </a:ext>
                </a:extLst>
              </p:cNvPr>
              <p:cNvSpPr>
                <a:spLocks noChangeAspect="1"/>
              </p:cNvSpPr>
              <p:nvPr/>
            </p:nvSpPr>
            <p:spPr>
              <a:xfrm>
                <a:off x="5241740" y="5308919"/>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76" name="Google Shape;6709;g2d30ebb658d_0_19789">
                <a:extLst>
                  <a:ext uri="{FF2B5EF4-FFF2-40B4-BE49-F238E27FC236}">
                    <a16:creationId xmlns:a16="http://schemas.microsoft.com/office/drawing/2014/main" id="{3D507882-5EE5-FD7D-47D5-82E3E4702493}"/>
                  </a:ext>
                </a:extLst>
              </p:cNvPr>
              <p:cNvSpPr>
                <a:spLocks noChangeAspect="1"/>
              </p:cNvSpPr>
              <p:nvPr/>
            </p:nvSpPr>
            <p:spPr>
              <a:xfrm>
                <a:off x="5290638" y="5358291"/>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77" name="Google Shape;6711;g2d30ebb658d_0_19789">
                <a:extLst>
                  <a:ext uri="{FF2B5EF4-FFF2-40B4-BE49-F238E27FC236}">
                    <a16:creationId xmlns:a16="http://schemas.microsoft.com/office/drawing/2014/main" id="{E6398E5E-5A7E-6788-8EA5-D7911BC45A4C}"/>
                  </a:ext>
                </a:extLst>
              </p:cNvPr>
              <p:cNvSpPr>
                <a:spLocks noChangeAspect="1"/>
              </p:cNvSpPr>
              <p:nvPr/>
            </p:nvSpPr>
            <p:spPr>
              <a:xfrm>
                <a:off x="4096820" y="5308800"/>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78" name="Google Shape;6712;g2d30ebb658d_0_19789">
                <a:extLst>
                  <a:ext uri="{FF2B5EF4-FFF2-40B4-BE49-F238E27FC236}">
                    <a16:creationId xmlns:a16="http://schemas.microsoft.com/office/drawing/2014/main" id="{586BEC1B-A0CA-E6C6-73B4-5508E4ADD641}"/>
                  </a:ext>
                </a:extLst>
              </p:cNvPr>
              <p:cNvSpPr>
                <a:spLocks noChangeAspect="1"/>
              </p:cNvSpPr>
              <p:nvPr/>
            </p:nvSpPr>
            <p:spPr>
              <a:xfrm>
                <a:off x="4150930" y="5373510"/>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79" name="Google Shape;6714;g2d30ebb658d_0_19789">
                <a:extLst>
                  <a:ext uri="{FF2B5EF4-FFF2-40B4-BE49-F238E27FC236}">
                    <a16:creationId xmlns:a16="http://schemas.microsoft.com/office/drawing/2014/main" id="{9BDBC8FE-7E7A-BD66-4AC0-218A378AE8C0}"/>
                  </a:ext>
                </a:extLst>
              </p:cNvPr>
              <p:cNvSpPr>
                <a:spLocks noChangeAspect="1"/>
              </p:cNvSpPr>
              <p:nvPr/>
            </p:nvSpPr>
            <p:spPr>
              <a:xfrm>
                <a:off x="4665188" y="5308801"/>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80" name="Google Shape;6715;g2d30ebb658d_0_19789">
                <a:extLst>
                  <a:ext uri="{FF2B5EF4-FFF2-40B4-BE49-F238E27FC236}">
                    <a16:creationId xmlns:a16="http://schemas.microsoft.com/office/drawing/2014/main" id="{D5161DE8-1E8D-D494-6BF6-6543903422CB}"/>
                  </a:ext>
                </a:extLst>
              </p:cNvPr>
              <p:cNvSpPr>
                <a:spLocks noChangeAspect="1"/>
              </p:cNvSpPr>
              <p:nvPr/>
            </p:nvSpPr>
            <p:spPr>
              <a:xfrm>
                <a:off x="4735335" y="5361805"/>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81" name="Google Shape;6704;g2d30ebb658d_0_19789">
                <a:extLst>
                  <a:ext uri="{FF2B5EF4-FFF2-40B4-BE49-F238E27FC236}">
                    <a16:creationId xmlns:a16="http://schemas.microsoft.com/office/drawing/2014/main" id="{0D2163E6-4C1A-3444-15A1-B12DE8265C80}"/>
                  </a:ext>
                </a:extLst>
              </p:cNvPr>
              <p:cNvSpPr/>
              <p:nvPr/>
            </p:nvSpPr>
            <p:spPr>
              <a:xfrm>
                <a:off x="4028052" y="4232647"/>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82" name="TextBox 481">
                <a:extLst>
                  <a:ext uri="{FF2B5EF4-FFF2-40B4-BE49-F238E27FC236}">
                    <a16:creationId xmlns:a16="http://schemas.microsoft.com/office/drawing/2014/main" id="{E05A0911-4390-EB27-F118-3DD4A347DBAA}"/>
                  </a:ext>
                </a:extLst>
              </p:cNvPr>
              <p:cNvSpPr txBox="1"/>
              <p:nvPr/>
            </p:nvSpPr>
            <p:spPr>
              <a:xfrm>
                <a:off x="4445184" y="5181090"/>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483" name="Google Shape;6678;g2d30ebb658d_0_19789">
                <a:extLst>
                  <a:ext uri="{FF2B5EF4-FFF2-40B4-BE49-F238E27FC236}">
                    <a16:creationId xmlns:a16="http://schemas.microsoft.com/office/drawing/2014/main" id="{EE409AC7-2F60-D27D-5632-4F8757DE92F1}"/>
                  </a:ext>
                </a:extLst>
              </p:cNvPr>
              <p:cNvSpPr/>
              <p:nvPr/>
            </p:nvSpPr>
            <p:spPr>
              <a:xfrm>
                <a:off x="4255553" y="4709931"/>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84" name="Google Shape;6678;g2d30ebb658d_0_19789">
                <a:extLst>
                  <a:ext uri="{FF2B5EF4-FFF2-40B4-BE49-F238E27FC236}">
                    <a16:creationId xmlns:a16="http://schemas.microsoft.com/office/drawing/2014/main" id="{B2F5222C-58DD-4AEC-749C-659B73AAF085}"/>
                  </a:ext>
                </a:extLst>
              </p:cNvPr>
              <p:cNvSpPr/>
              <p:nvPr/>
            </p:nvSpPr>
            <p:spPr>
              <a:xfrm>
                <a:off x="4259266" y="4519289"/>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85" name="Google Shape;6678;g2d30ebb658d_0_19789">
                <a:extLst>
                  <a:ext uri="{FF2B5EF4-FFF2-40B4-BE49-F238E27FC236}">
                    <a16:creationId xmlns:a16="http://schemas.microsoft.com/office/drawing/2014/main" id="{A86F07A2-E21B-47FB-2395-1433C52105EA}"/>
                  </a:ext>
                </a:extLst>
              </p:cNvPr>
              <p:cNvSpPr/>
              <p:nvPr/>
            </p:nvSpPr>
            <p:spPr>
              <a:xfrm>
                <a:off x="4498743" y="490589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486" name="Google Shape;6678;g2d30ebb658d_0_19789">
                <a:extLst>
                  <a:ext uri="{FF2B5EF4-FFF2-40B4-BE49-F238E27FC236}">
                    <a16:creationId xmlns:a16="http://schemas.microsoft.com/office/drawing/2014/main" id="{72C4330D-AA16-B16C-240B-D463E7CB3ECB}"/>
                  </a:ext>
                </a:extLst>
              </p:cNvPr>
              <p:cNvSpPr/>
              <p:nvPr/>
            </p:nvSpPr>
            <p:spPr>
              <a:xfrm>
                <a:off x="4436459" y="4950976"/>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487" name="Google Shape;6678;g2d30ebb658d_0_19789">
                <a:extLst>
                  <a:ext uri="{FF2B5EF4-FFF2-40B4-BE49-F238E27FC236}">
                    <a16:creationId xmlns:a16="http://schemas.microsoft.com/office/drawing/2014/main" id="{105C7848-95D7-70CA-A6A4-152C4D4F4B79}"/>
                  </a:ext>
                </a:extLst>
              </p:cNvPr>
              <p:cNvSpPr/>
              <p:nvPr/>
            </p:nvSpPr>
            <p:spPr>
              <a:xfrm>
                <a:off x="3947196" y="2336836"/>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88" name="Google Shape;6705;g2d30ebb658d_0_19789">
                <a:extLst>
                  <a:ext uri="{FF2B5EF4-FFF2-40B4-BE49-F238E27FC236}">
                    <a16:creationId xmlns:a16="http://schemas.microsoft.com/office/drawing/2014/main" id="{A4ECDD5C-50AE-E41B-D6B9-E85006E1145E}"/>
                  </a:ext>
                </a:extLst>
              </p:cNvPr>
              <p:cNvSpPr/>
              <p:nvPr/>
            </p:nvSpPr>
            <p:spPr>
              <a:xfrm>
                <a:off x="3997699" y="3512812"/>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89" name="Google Shape;6708;g2d30ebb658d_0_19789">
                <a:extLst>
                  <a:ext uri="{FF2B5EF4-FFF2-40B4-BE49-F238E27FC236}">
                    <a16:creationId xmlns:a16="http://schemas.microsoft.com/office/drawing/2014/main" id="{7496D1F2-3841-C409-865A-B746F193FE3D}"/>
                  </a:ext>
                </a:extLst>
              </p:cNvPr>
              <p:cNvSpPr>
                <a:spLocks noChangeAspect="1"/>
              </p:cNvSpPr>
              <p:nvPr/>
            </p:nvSpPr>
            <p:spPr>
              <a:xfrm>
                <a:off x="5246498" y="3664331"/>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90" name="Google Shape;6709;g2d30ebb658d_0_19789">
                <a:extLst>
                  <a:ext uri="{FF2B5EF4-FFF2-40B4-BE49-F238E27FC236}">
                    <a16:creationId xmlns:a16="http://schemas.microsoft.com/office/drawing/2014/main" id="{B4C88A4A-0BD6-8DF5-A5A6-1B6608825E56}"/>
                  </a:ext>
                </a:extLst>
              </p:cNvPr>
              <p:cNvSpPr>
                <a:spLocks noChangeAspect="1"/>
              </p:cNvSpPr>
              <p:nvPr/>
            </p:nvSpPr>
            <p:spPr>
              <a:xfrm>
                <a:off x="5295396" y="3713703"/>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91" name="Google Shape;6711;g2d30ebb658d_0_19789">
                <a:extLst>
                  <a:ext uri="{FF2B5EF4-FFF2-40B4-BE49-F238E27FC236}">
                    <a16:creationId xmlns:a16="http://schemas.microsoft.com/office/drawing/2014/main" id="{99A8F67A-93A0-6B19-9D9D-BBEA6DD77C09}"/>
                  </a:ext>
                </a:extLst>
              </p:cNvPr>
              <p:cNvSpPr>
                <a:spLocks noChangeAspect="1"/>
              </p:cNvSpPr>
              <p:nvPr/>
            </p:nvSpPr>
            <p:spPr>
              <a:xfrm>
                <a:off x="4101578" y="3664212"/>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92" name="Google Shape;6712;g2d30ebb658d_0_19789">
                <a:extLst>
                  <a:ext uri="{FF2B5EF4-FFF2-40B4-BE49-F238E27FC236}">
                    <a16:creationId xmlns:a16="http://schemas.microsoft.com/office/drawing/2014/main" id="{A249F5F8-FC09-EB5F-00E2-DB0EA9ED2E4F}"/>
                  </a:ext>
                </a:extLst>
              </p:cNvPr>
              <p:cNvSpPr>
                <a:spLocks noChangeAspect="1"/>
              </p:cNvSpPr>
              <p:nvPr/>
            </p:nvSpPr>
            <p:spPr>
              <a:xfrm>
                <a:off x="4155688" y="3728922"/>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93" name="Google Shape;6714;g2d30ebb658d_0_19789">
                <a:extLst>
                  <a:ext uri="{FF2B5EF4-FFF2-40B4-BE49-F238E27FC236}">
                    <a16:creationId xmlns:a16="http://schemas.microsoft.com/office/drawing/2014/main" id="{51A9DC06-6C93-84BE-75FE-8D10443CED96}"/>
                  </a:ext>
                </a:extLst>
              </p:cNvPr>
              <p:cNvSpPr>
                <a:spLocks noChangeAspect="1"/>
              </p:cNvSpPr>
              <p:nvPr/>
            </p:nvSpPr>
            <p:spPr>
              <a:xfrm>
                <a:off x="4669946" y="3664213"/>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94" name="Google Shape;6715;g2d30ebb658d_0_19789">
                <a:extLst>
                  <a:ext uri="{FF2B5EF4-FFF2-40B4-BE49-F238E27FC236}">
                    <a16:creationId xmlns:a16="http://schemas.microsoft.com/office/drawing/2014/main" id="{B53472F4-61FB-0A96-6E27-4760611DC698}"/>
                  </a:ext>
                </a:extLst>
              </p:cNvPr>
              <p:cNvSpPr>
                <a:spLocks noChangeAspect="1"/>
              </p:cNvSpPr>
              <p:nvPr/>
            </p:nvSpPr>
            <p:spPr>
              <a:xfrm>
                <a:off x="4740093" y="3717217"/>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95" name="Google Shape;6704;g2d30ebb658d_0_19789">
                <a:extLst>
                  <a:ext uri="{FF2B5EF4-FFF2-40B4-BE49-F238E27FC236}">
                    <a16:creationId xmlns:a16="http://schemas.microsoft.com/office/drawing/2014/main" id="{DCA764A8-0F1D-BB0B-19A1-13E107EC2F90}"/>
                  </a:ext>
                </a:extLst>
              </p:cNvPr>
              <p:cNvSpPr/>
              <p:nvPr/>
            </p:nvSpPr>
            <p:spPr>
              <a:xfrm>
                <a:off x="4032810" y="2397562"/>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96" name="TextBox 495">
                <a:extLst>
                  <a:ext uri="{FF2B5EF4-FFF2-40B4-BE49-F238E27FC236}">
                    <a16:creationId xmlns:a16="http://schemas.microsoft.com/office/drawing/2014/main" id="{DF720C1F-E5D2-6CFB-085B-27FBEEEB5BC8}"/>
                  </a:ext>
                </a:extLst>
              </p:cNvPr>
              <p:cNvSpPr txBox="1"/>
              <p:nvPr/>
            </p:nvSpPr>
            <p:spPr>
              <a:xfrm>
                <a:off x="4449942" y="3536502"/>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497" name="Google Shape;6705;g2d30ebb658d_0_19789">
                <a:extLst>
                  <a:ext uri="{FF2B5EF4-FFF2-40B4-BE49-F238E27FC236}">
                    <a16:creationId xmlns:a16="http://schemas.microsoft.com/office/drawing/2014/main" id="{FE9E9EBE-5D03-5A9D-FF94-0C62DB041771}"/>
                  </a:ext>
                </a:extLst>
              </p:cNvPr>
              <p:cNvSpPr/>
              <p:nvPr/>
            </p:nvSpPr>
            <p:spPr>
              <a:xfrm>
                <a:off x="4264024" y="2650445"/>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498" name="Google Shape;6678;g2d30ebb658d_0_19789">
                <a:extLst>
                  <a:ext uri="{FF2B5EF4-FFF2-40B4-BE49-F238E27FC236}">
                    <a16:creationId xmlns:a16="http://schemas.microsoft.com/office/drawing/2014/main" id="{098DD293-6F7D-F4E3-39CF-34D66D0A647C}"/>
                  </a:ext>
                </a:extLst>
              </p:cNvPr>
              <p:cNvSpPr/>
              <p:nvPr/>
            </p:nvSpPr>
            <p:spPr>
              <a:xfrm>
                <a:off x="4514882" y="3248940"/>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499" name="Google Shape;6678;g2d30ebb658d_0_19789">
                <a:extLst>
                  <a:ext uri="{FF2B5EF4-FFF2-40B4-BE49-F238E27FC236}">
                    <a16:creationId xmlns:a16="http://schemas.microsoft.com/office/drawing/2014/main" id="{AA27C369-1689-CE44-29F0-C8A97185A9DF}"/>
                  </a:ext>
                </a:extLst>
              </p:cNvPr>
              <p:cNvSpPr/>
              <p:nvPr/>
            </p:nvSpPr>
            <p:spPr>
              <a:xfrm>
                <a:off x="4264024" y="2852256"/>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00" name="TextBox 499">
                <a:extLst>
                  <a:ext uri="{FF2B5EF4-FFF2-40B4-BE49-F238E27FC236}">
                    <a16:creationId xmlns:a16="http://schemas.microsoft.com/office/drawing/2014/main" id="{9725BB41-95CA-49B3-17B5-6F63038AD562}"/>
                  </a:ext>
                </a:extLst>
              </p:cNvPr>
              <p:cNvSpPr txBox="1"/>
              <p:nvPr/>
            </p:nvSpPr>
            <p:spPr>
              <a:xfrm>
                <a:off x="4557413" y="2136123"/>
                <a:ext cx="878446"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 2</a:t>
                </a:r>
              </a:p>
            </p:txBody>
          </p:sp>
          <p:sp>
            <p:nvSpPr>
              <p:cNvPr id="501" name="Google Shape;6705;g2d30ebb658d_0_19789">
                <a:extLst>
                  <a:ext uri="{FF2B5EF4-FFF2-40B4-BE49-F238E27FC236}">
                    <a16:creationId xmlns:a16="http://schemas.microsoft.com/office/drawing/2014/main" id="{50C847D9-F6DA-D86B-4698-42407E01016D}"/>
                  </a:ext>
                </a:extLst>
              </p:cNvPr>
              <p:cNvSpPr/>
              <p:nvPr/>
            </p:nvSpPr>
            <p:spPr>
              <a:xfrm>
                <a:off x="4264024" y="3048354"/>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02" name="Google Shape;6678;g2d30ebb658d_0_19789">
                <a:extLst>
                  <a:ext uri="{FF2B5EF4-FFF2-40B4-BE49-F238E27FC236}">
                    <a16:creationId xmlns:a16="http://schemas.microsoft.com/office/drawing/2014/main" id="{08BBC19C-0F12-AAE2-EC08-345F3A405E71}"/>
                  </a:ext>
                </a:extLst>
              </p:cNvPr>
              <p:cNvSpPr/>
              <p:nvPr/>
            </p:nvSpPr>
            <p:spPr>
              <a:xfrm>
                <a:off x="4452598" y="3294022"/>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pic>
            <p:nvPicPr>
              <p:cNvPr id="503" name="Google Shape;6699;p92">
                <a:extLst>
                  <a:ext uri="{FF2B5EF4-FFF2-40B4-BE49-F238E27FC236}">
                    <a16:creationId xmlns:a16="http://schemas.microsoft.com/office/drawing/2014/main" id="{99F3CA98-324A-DC64-861D-5E55CEFBF9D6}"/>
                  </a:ext>
                </a:extLst>
              </p:cNvPr>
              <p:cNvPicPr preferRelativeResize="0">
                <a:picLocks noChangeAspect="1"/>
              </p:cNvPicPr>
              <p:nvPr/>
            </p:nvPicPr>
            <p:blipFill rotWithShape="1">
              <a:blip r:embed="rId3">
                <a:alphaModFix/>
              </a:blip>
              <a:srcRect/>
              <a:stretch/>
            </p:blipFill>
            <p:spPr>
              <a:xfrm>
                <a:off x="4279869" y="2093777"/>
                <a:ext cx="220483" cy="220483"/>
              </a:xfrm>
              <a:prstGeom prst="rect">
                <a:avLst/>
              </a:prstGeom>
              <a:noFill/>
              <a:ln>
                <a:noFill/>
              </a:ln>
            </p:spPr>
          </p:pic>
        </p:grpSp>
      </p:grpSp>
      <p:sp>
        <p:nvSpPr>
          <p:cNvPr id="504" name="TextBox 503">
            <a:extLst>
              <a:ext uri="{FF2B5EF4-FFF2-40B4-BE49-F238E27FC236}">
                <a16:creationId xmlns:a16="http://schemas.microsoft.com/office/drawing/2014/main" id="{D06110A4-4D86-2C41-8037-03029EB5A9EE}"/>
              </a:ext>
            </a:extLst>
          </p:cNvPr>
          <p:cNvSpPr txBox="1"/>
          <p:nvPr/>
        </p:nvSpPr>
        <p:spPr>
          <a:xfrm>
            <a:off x="880257" y="1392098"/>
            <a:ext cx="2034403" cy="307777"/>
          </a:xfrm>
          <a:prstGeom prst="rect">
            <a:avLst/>
          </a:prstGeom>
          <a:noFill/>
        </p:spPr>
        <p:txBody>
          <a:bodyPr wrap="none" lIns="0" tIns="0" rIns="0" bIns="0" rtlCol="0">
            <a:spAutoFit/>
          </a:bodyPr>
          <a:lstStyle/>
          <a:p>
            <a:pPr algn="l"/>
            <a:r>
              <a:rPr lang="en-US" sz="2000" dirty="0">
                <a:solidFill>
                  <a:schemeClr val="bg1"/>
                </a:solidFill>
              </a:rPr>
              <a:t>Workload Domain</a:t>
            </a:r>
          </a:p>
        </p:txBody>
      </p:sp>
      <p:sp>
        <p:nvSpPr>
          <p:cNvPr id="505" name="TextBox 504">
            <a:extLst>
              <a:ext uri="{FF2B5EF4-FFF2-40B4-BE49-F238E27FC236}">
                <a16:creationId xmlns:a16="http://schemas.microsoft.com/office/drawing/2014/main" id="{5C306E9D-6224-6843-9FFB-7786139D08C8}"/>
              </a:ext>
            </a:extLst>
          </p:cNvPr>
          <p:cNvSpPr txBox="1"/>
          <p:nvPr/>
        </p:nvSpPr>
        <p:spPr>
          <a:xfrm>
            <a:off x="4368688" y="1395363"/>
            <a:ext cx="1553310" cy="307777"/>
          </a:xfrm>
          <a:prstGeom prst="rect">
            <a:avLst/>
          </a:prstGeom>
          <a:noFill/>
        </p:spPr>
        <p:txBody>
          <a:bodyPr wrap="none" lIns="0" tIns="0" rIns="0" bIns="0" rtlCol="0">
            <a:spAutoFit/>
          </a:bodyPr>
          <a:lstStyle/>
          <a:p>
            <a:pPr algn="l"/>
            <a:r>
              <a:rPr lang="en-US" sz="2000" dirty="0">
                <a:solidFill>
                  <a:schemeClr val="bg1"/>
                </a:solidFill>
              </a:rPr>
              <a:t>VCF Instance</a:t>
            </a:r>
          </a:p>
        </p:txBody>
      </p:sp>
      <p:sp>
        <p:nvSpPr>
          <p:cNvPr id="506" name="TextBox 505">
            <a:extLst>
              <a:ext uri="{FF2B5EF4-FFF2-40B4-BE49-F238E27FC236}">
                <a16:creationId xmlns:a16="http://schemas.microsoft.com/office/drawing/2014/main" id="{C0A1AB00-2735-A58E-81A8-2B330C19B5B8}"/>
              </a:ext>
            </a:extLst>
          </p:cNvPr>
          <p:cNvSpPr txBox="1"/>
          <p:nvPr/>
        </p:nvSpPr>
        <p:spPr>
          <a:xfrm>
            <a:off x="8634778" y="1396449"/>
            <a:ext cx="1155766" cy="307777"/>
          </a:xfrm>
          <a:prstGeom prst="rect">
            <a:avLst/>
          </a:prstGeom>
          <a:noFill/>
        </p:spPr>
        <p:txBody>
          <a:bodyPr wrap="none" lIns="0" tIns="0" rIns="0" bIns="0" rtlCol="0">
            <a:spAutoFit/>
          </a:bodyPr>
          <a:lstStyle/>
          <a:p>
            <a:pPr algn="l"/>
            <a:r>
              <a:rPr lang="en-US" sz="2000" dirty="0">
                <a:solidFill>
                  <a:schemeClr val="bg1"/>
                </a:solidFill>
              </a:rPr>
              <a:t>VCF Fleet</a:t>
            </a:r>
          </a:p>
        </p:txBody>
      </p:sp>
    </p:spTree>
    <p:extLst>
      <p:ext uri="{BB962C8B-B14F-4D97-AF65-F5344CB8AC3E}">
        <p14:creationId xmlns:p14="http://schemas.microsoft.com/office/powerpoint/2010/main" val="619887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04"/>
                                        </p:tgtEl>
                                        <p:attrNameLst>
                                          <p:attrName>style.visibility</p:attrName>
                                        </p:attrNameLst>
                                      </p:cBhvr>
                                      <p:to>
                                        <p:strVal val="visible"/>
                                      </p:to>
                                    </p:set>
                                    <p:animEffect transition="in" filter="dissolve">
                                      <p:cBhvr>
                                        <p:cTn id="7" dur="500"/>
                                        <p:tgtEl>
                                          <p:spTgt spid="50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05"/>
                                        </p:tgtEl>
                                        <p:attrNameLst>
                                          <p:attrName>style.visibility</p:attrName>
                                        </p:attrNameLst>
                                      </p:cBhvr>
                                      <p:to>
                                        <p:strVal val="visible"/>
                                      </p:to>
                                    </p:set>
                                    <p:animEffect transition="in" filter="dissolve">
                                      <p:cBhvr>
                                        <p:cTn id="11" dur="500"/>
                                        <p:tgtEl>
                                          <p:spTgt spid="505"/>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506"/>
                                        </p:tgtEl>
                                        <p:attrNameLst>
                                          <p:attrName>style.visibility</p:attrName>
                                        </p:attrNameLst>
                                      </p:cBhvr>
                                      <p:to>
                                        <p:strVal val="visible"/>
                                      </p:to>
                                    </p:set>
                                    <p:animEffect transition="in" filter="dissolve">
                                      <p:cBhvr>
                                        <p:cTn id="15" dur="500"/>
                                        <p:tgtEl>
                                          <p:spTgt spid="506"/>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ppt_x"/>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31"/>
                                        </p:tgtEl>
                                        <p:attrNameLst>
                                          <p:attrName>style.visibility</p:attrName>
                                        </p:attrNameLst>
                                      </p:cBhvr>
                                      <p:to>
                                        <p:strVal val="visible"/>
                                      </p:to>
                                    </p:set>
                                    <p:anim calcmode="lin" valueType="num">
                                      <p:cBhvr additive="base">
                                        <p:cTn id="26" dur="500" fill="hold"/>
                                        <p:tgtEl>
                                          <p:spTgt spid="431"/>
                                        </p:tgtEl>
                                        <p:attrNameLst>
                                          <p:attrName>ppt_x</p:attrName>
                                        </p:attrNameLst>
                                      </p:cBhvr>
                                      <p:tavLst>
                                        <p:tav tm="0">
                                          <p:val>
                                            <p:strVal val="#ppt_x"/>
                                          </p:val>
                                        </p:tav>
                                        <p:tav tm="100000">
                                          <p:val>
                                            <p:strVal val="#ppt_x"/>
                                          </p:val>
                                        </p:tav>
                                      </p:tavLst>
                                    </p:anim>
                                    <p:anim calcmode="lin" valueType="num">
                                      <p:cBhvr additive="base">
                                        <p:cTn id="27" dur="500" fill="hold"/>
                                        <p:tgtEl>
                                          <p:spTgt spid="43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07"/>
                                        </p:tgtEl>
                                        <p:attrNameLst>
                                          <p:attrName>style.visibility</p:attrName>
                                        </p:attrNameLst>
                                      </p:cBhvr>
                                      <p:to>
                                        <p:strVal val="visible"/>
                                      </p:to>
                                    </p:set>
                                    <p:anim calcmode="lin" valueType="num">
                                      <p:cBhvr additive="base">
                                        <p:cTn id="32" dur="500" fill="hold"/>
                                        <p:tgtEl>
                                          <p:spTgt spid="507"/>
                                        </p:tgtEl>
                                        <p:attrNameLst>
                                          <p:attrName>ppt_x</p:attrName>
                                        </p:attrNameLst>
                                      </p:cBhvr>
                                      <p:tavLst>
                                        <p:tav tm="0">
                                          <p:val>
                                            <p:strVal val="#ppt_x"/>
                                          </p:val>
                                        </p:tav>
                                        <p:tav tm="100000">
                                          <p:val>
                                            <p:strVal val="#ppt_x"/>
                                          </p:val>
                                        </p:tav>
                                      </p:tavLst>
                                    </p:anim>
                                    <p:anim calcmode="lin" valueType="num">
                                      <p:cBhvr additive="base">
                                        <p:cTn id="33" dur="500" fill="hold"/>
                                        <p:tgtEl>
                                          <p:spTgt spid="507"/>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40"/>
                                        </p:tgtEl>
                                        <p:attrNameLst>
                                          <p:attrName>style.visibility</p:attrName>
                                        </p:attrNameLst>
                                      </p:cBhvr>
                                      <p:to>
                                        <p:strVal val="visible"/>
                                      </p:to>
                                    </p:set>
                                    <p:anim calcmode="lin" valueType="num">
                                      <p:cBhvr additive="base">
                                        <p:cTn id="36" dur="500" fill="hold"/>
                                        <p:tgtEl>
                                          <p:spTgt spid="240"/>
                                        </p:tgtEl>
                                        <p:attrNameLst>
                                          <p:attrName>ppt_x</p:attrName>
                                        </p:attrNameLst>
                                      </p:cBhvr>
                                      <p:tavLst>
                                        <p:tav tm="0">
                                          <p:val>
                                            <p:strVal val="#ppt_x"/>
                                          </p:val>
                                        </p:tav>
                                        <p:tav tm="100000">
                                          <p:val>
                                            <p:strVal val="#ppt_x"/>
                                          </p:val>
                                        </p:tav>
                                      </p:tavLst>
                                    </p:anim>
                                    <p:anim calcmode="lin" valueType="num">
                                      <p:cBhvr additive="base">
                                        <p:cTn id="37" dur="500" fill="hold"/>
                                        <p:tgtEl>
                                          <p:spTgt spid="240"/>
                                        </p:tgtEl>
                                        <p:attrNameLst>
                                          <p:attrName>ppt_y</p:attrName>
                                        </p:attrNameLst>
                                      </p:cBhvr>
                                      <p:tavLst>
                                        <p:tav tm="0">
                                          <p:val>
                                            <p:strVal val="1+#ppt_h/2"/>
                                          </p:val>
                                        </p:tav>
                                        <p:tav tm="100000">
                                          <p:val>
                                            <p:strVal val="#ppt_y"/>
                                          </p:val>
                                        </p:tav>
                                      </p:tavLst>
                                    </p:anim>
                                  </p:childTnLst>
                                </p:cTn>
                              </p:par>
                            </p:childTnLst>
                          </p:cTn>
                        </p:par>
                        <p:par>
                          <p:cTn id="38" fill="hold">
                            <p:stCondLst>
                              <p:cond delay="500"/>
                            </p:stCondLst>
                            <p:childTnLst>
                              <p:par>
                                <p:cTn id="39" presetID="2" presetClass="entr" presetSubtype="4" fill="hold" grpId="0" nodeType="afterEffect">
                                  <p:stCondLst>
                                    <p:cond delay="0"/>
                                  </p:stCondLst>
                                  <p:childTnLst>
                                    <p:set>
                                      <p:cBhvr>
                                        <p:cTn id="40" dur="1" fill="hold">
                                          <p:stCondLst>
                                            <p:cond delay="0"/>
                                          </p:stCondLst>
                                        </p:cTn>
                                        <p:tgtEl>
                                          <p:spTgt spid="241"/>
                                        </p:tgtEl>
                                        <p:attrNameLst>
                                          <p:attrName>style.visibility</p:attrName>
                                        </p:attrNameLst>
                                      </p:cBhvr>
                                      <p:to>
                                        <p:strVal val="visible"/>
                                      </p:to>
                                    </p:set>
                                    <p:anim calcmode="lin" valueType="num">
                                      <p:cBhvr additive="base">
                                        <p:cTn id="41" dur="500" fill="hold"/>
                                        <p:tgtEl>
                                          <p:spTgt spid="241"/>
                                        </p:tgtEl>
                                        <p:attrNameLst>
                                          <p:attrName>ppt_x</p:attrName>
                                        </p:attrNameLst>
                                      </p:cBhvr>
                                      <p:tavLst>
                                        <p:tav tm="0">
                                          <p:val>
                                            <p:strVal val="#ppt_x"/>
                                          </p:val>
                                        </p:tav>
                                        <p:tav tm="100000">
                                          <p:val>
                                            <p:strVal val="#ppt_x"/>
                                          </p:val>
                                        </p:tav>
                                      </p:tavLst>
                                    </p:anim>
                                    <p:anim calcmode="lin" valueType="num">
                                      <p:cBhvr additive="base">
                                        <p:cTn id="42" dur="500" fill="hold"/>
                                        <p:tgtEl>
                                          <p:spTgt spid="2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animBg="1"/>
      <p:bldP spid="241" grpId="0" animBg="1"/>
      <p:bldP spid="504" grpId="0"/>
      <p:bldP spid="505" grpId="0"/>
      <p:bldP spid="50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1E060D-45FE-3825-6C39-64FE15D2951C}"/>
              </a:ext>
            </a:extLst>
          </p:cNvPr>
          <p:cNvSpPr>
            <a:spLocks noGrp="1"/>
          </p:cNvSpPr>
          <p:nvPr>
            <p:ph type="title"/>
          </p:nvPr>
        </p:nvSpPr>
        <p:spPr/>
        <p:txBody>
          <a:bodyPr/>
          <a:lstStyle/>
          <a:p>
            <a:r>
              <a:rPr lang="en-US" dirty="0"/>
              <a:t>VCF Fleet Components Overview*</a:t>
            </a:r>
          </a:p>
        </p:txBody>
      </p:sp>
      <p:sp>
        <p:nvSpPr>
          <p:cNvPr id="5" name="Subtitle 4">
            <a:extLst>
              <a:ext uri="{FF2B5EF4-FFF2-40B4-BE49-F238E27FC236}">
                <a16:creationId xmlns:a16="http://schemas.microsoft.com/office/drawing/2014/main" id="{9FFFEF37-F9E7-357C-6D1C-3F49C6B0A6A2}"/>
              </a:ext>
            </a:extLst>
          </p:cNvPr>
          <p:cNvSpPr>
            <a:spLocks noGrp="1"/>
          </p:cNvSpPr>
          <p:nvPr>
            <p:ph type="subTitle" idx="10"/>
          </p:nvPr>
        </p:nvSpPr>
        <p:spPr/>
        <p:txBody>
          <a:bodyPr/>
          <a:lstStyle/>
          <a:p>
            <a:r>
              <a:rPr lang="en-US" dirty="0"/>
              <a:t>Required Components By Deployment Type…</a:t>
            </a:r>
          </a:p>
        </p:txBody>
      </p:sp>
      <p:graphicFrame>
        <p:nvGraphicFramePr>
          <p:cNvPr id="7" name="Content Placeholder 6">
            <a:extLst>
              <a:ext uri="{FF2B5EF4-FFF2-40B4-BE49-F238E27FC236}">
                <a16:creationId xmlns:a16="http://schemas.microsoft.com/office/drawing/2014/main" id="{8014EC4B-93E7-34A4-B746-004BBE01C405}"/>
              </a:ext>
            </a:extLst>
          </p:cNvPr>
          <p:cNvGraphicFramePr>
            <a:graphicFrameLocks noGrp="1"/>
          </p:cNvGraphicFramePr>
          <p:nvPr>
            <p:ph sz="quarter" idx="14"/>
            <p:extLst>
              <p:ext uri="{D42A27DB-BD31-4B8C-83A1-F6EECF244321}">
                <p14:modId xmlns:p14="http://schemas.microsoft.com/office/powerpoint/2010/main" val="307475025"/>
              </p:ext>
            </p:extLst>
          </p:nvPr>
        </p:nvGraphicFramePr>
        <p:xfrm>
          <a:off x="615950" y="1600200"/>
          <a:ext cx="10972800" cy="4450080"/>
        </p:xfrm>
        <a:graphic>
          <a:graphicData uri="http://schemas.openxmlformats.org/drawingml/2006/table">
            <a:tbl>
              <a:tblPr firstRow="1" bandRow="1">
                <a:tableStyleId>{6E25E649-3F16-4E02-A733-19D2CDBF48F0}</a:tableStyleId>
              </a:tblPr>
              <a:tblGrid>
                <a:gridCol w="2194560">
                  <a:extLst>
                    <a:ext uri="{9D8B030D-6E8A-4147-A177-3AD203B41FA5}">
                      <a16:colId xmlns:a16="http://schemas.microsoft.com/office/drawing/2014/main" val="4071738564"/>
                    </a:ext>
                  </a:extLst>
                </a:gridCol>
                <a:gridCol w="2194560">
                  <a:extLst>
                    <a:ext uri="{9D8B030D-6E8A-4147-A177-3AD203B41FA5}">
                      <a16:colId xmlns:a16="http://schemas.microsoft.com/office/drawing/2014/main" val="119090374"/>
                    </a:ext>
                  </a:extLst>
                </a:gridCol>
                <a:gridCol w="2194560">
                  <a:extLst>
                    <a:ext uri="{9D8B030D-6E8A-4147-A177-3AD203B41FA5}">
                      <a16:colId xmlns:a16="http://schemas.microsoft.com/office/drawing/2014/main" val="1210671762"/>
                    </a:ext>
                  </a:extLst>
                </a:gridCol>
                <a:gridCol w="2194560">
                  <a:extLst>
                    <a:ext uri="{9D8B030D-6E8A-4147-A177-3AD203B41FA5}">
                      <a16:colId xmlns:a16="http://schemas.microsoft.com/office/drawing/2014/main" val="882541989"/>
                    </a:ext>
                  </a:extLst>
                </a:gridCol>
                <a:gridCol w="2194560">
                  <a:extLst>
                    <a:ext uri="{9D8B030D-6E8A-4147-A177-3AD203B41FA5}">
                      <a16:colId xmlns:a16="http://schemas.microsoft.com/office/drawing/2014/main" val="229002895"/>
                    </a:ext>
                  </a:extLst>
                </a:gridCol>
              </a:tblGrid>
              <a:tr h="370840">
                <a:tc>
                  <a:txBody>
                    <a:bodyPr/>
                    <a:lstStyle/>
                    <a:p>
                      <a:r>
                        <a:rPr lang="en-US" dirty="0"/>
                        <a:t>Component</a:t>
                      </a:r>
                    </a:p>
                  </a:txBody>
                  <a:tcPr/>
                </a:tc>
                <a:tc>
                  <a:txBody>
                    <a:bodyPr/>
                    <a:lstStyle/>
                    <a:p>
                      <a:pPr algn="ctr"/>
                      <a:r>
                        <a:rPr lang="en-US" dirty="0"/>
                        <a:t>vSphere 8.x</a:t>
                      </a:r>
                    </a:p>
                  </a:txBody>
                  <a:tcPr/>
                </a:tc>
                <a:tc>
                  <a:txBody>
                    <a:bodyPr/>
                    <a:lstStyle/>
                    <a:p>
                      <a:pPr algn="ctr"/>
                      <a:r>
                        <a:rPr lang="en-US" dirty="0"/>
                        <a:t>VCF 5.2</a:t>
                      </a:r>
                    </a:p>
                  </a:txBody>
                  <a:tcPr/>
                </a:tc>
                <a:tc>
                  <a:txBody>
                    <a:bodyPr/>
                    <a:lstStyle/>
                    <a:p>
                      <a:pPr algn="ctr"/>
                      <a:r>
                        <a:rPr lang="en-US" dirty="0"/>
                        <a:t>VCF 9.0</a:t>
                      </a:r>
                    </a:p>
                  </a:txBody>
                  <a:tcPr/>
                </a:tc>
                <a:tc>
                  <a:txBody>
                    <a:bodyPr/>
                    <a:lstStyle/>
                    <a:p>
                      <a:pPr algn="ctr"/>
                      <a:r>
                        <a:rPr lang="en-US" dirty="0"/>
                        <a:t>VCF 9.1</a:t>
                      </a:r>
                    </a:p>
                  </a:txBody>
                  <a:tcPr/>
                </a:tc>
                <a:extLst>
                  <a:ext uri="{0D108BD9-81ED-4DB2-BD59-A6C34878D82A}">
                    <a16:rowId xmlns:a16="http://schemas.microsoft.com/office/drawing/2014/main" val="3582933783"/>
                  </a:ext>
                </a:extLst>
              </a:tr>
              <a:tr h="370840">
                <a:tc>
                  <a:txBody>
                    <a:bodyPr/>
                    <a:lstStyle/>
                    <a:p>
                      <a:r>
                        <a:rPr lang="en-US" sz="1400" dirty="0"/>
                        <a:t>vCenter</a:t>
                      </a:r>
                    </a:p>
                  </a:txBody>
                  <a:tcPr/>
                </a:tc>
                <a:tc>
                  <a:txBody>
                    <a:bodyPr/>
                    <a:lstStyle/>
                    <a:p>
                      <a:pPr algn="ctr"/>
                      <a:r>
                        <a:rPr lang="en-US" sz="1200" dirty="0">
                          <a:solidFill>
                            <a:srgbClr val="0070C0"/>
                          </a:solidFill>
                        </a:rPr>
                        <a:t>Required</a:t>
                      </a:r>
                    </a:p>
                  </a:txBody>
                  <a:tcPr/>
                </a:tc>
                <a:tc>
                  <a:txBody>
                    <a:bodyPr/>
                    <a:lstStyle/>
                    <a:p>
                      <a:pPr algn="ctr"/>
                      <a:r>
                        <a:rPr lang="en-US" sz="1200" kern="1200" dirty="0">
                          <a:solidFill>
                            <a:srgbClr val="0070C0"/>
                          </a:solidFill>
                          <a:latin typeface="+mn-lt"/>
                          <a:ea typeface="+mn-ea"/>
                          <a:cs typeface="+mn-cs"/>
                        </a:rPr>
                        <a:t>Required</a:t>
                      </a:r>
                    </a:p>
                  </a:txBody>
                  <a:tcPr/>
                </a:tc>
                <a:tc>
                  <a:txBody>
                    <a:bodyPr/>
                    <a:lstStyle/>
                    <a:p>
                      <a:pPr marL="0" algn="ctr" defTabSz="914400" rtl="0" eaLnBrk="1" latinLnBrk="0" hangingPunct="1"/>
                      <a:r>
                        <a:rPr lang="en-US" sz="1200" kern="1200" dirty="0">
                          <a:solidFill>
                            <a:srgbClr val="0070C0"/>
                          </a:solidFill>
                          <a:latin typeface="+mn-lt"/>
                          <a:ea typeface="+mn-ea"/>
                          <a:cs typeface="+mn-cs"/>
                        </a:rPr>
                        <a:t>Required</a:t>
                      </a:r>
                    </a:p>
                  </a:txBody>
                  <a:tcPr/>
                </a:tc>
                <a:tc>
                  <a:txBody>
                    <a:bodyPr/>
                    <a:lstStyle/>
                    <a:p>
                      <a:pPr algn="ctr"/>
                      <a:r>
                        <a:rPr lang="en-US" sz="1200" kern="1200" dirty="0">
                          <a:solidFill>
                            <a:srgbClr val="0070C0"/>
                          </a:solidFill>
                          <a:latin typeface="+mn-lt"/>
                          <a:ea typeface="+mn-ea"/>
                          <a:cs typeface="+mn-cs"/>
                        </a:rPr>
                        <a:t>Required</a:t>
                      </a:r>
                    </a:p>
                  </a:txBody>
                  <a:tcPr/>
                </a:tc>
                <a:extLst>
                  <a:ext uri="{0D108BD9-81ED-4DB2-BD59-A6C34878D82A}">
                    <a16:rowId xmlns:a16="http://schemas.microsoft.com/office/drawing/2014/main" val="897261559"/>
                  </a:ext>
                </a:extLst>
              </a:tr>
              <a:tr h="370840">
                <a:tc>
                  <a:txBody>
                    <a:bodyPr/>
                    <a:lstStyle/>
                    <a:p>
                      <a:r>
                        <a:rPr lang="en-US" sz="1400" dirty="0"/>
                        <a:t>NSX Manager</a:t>
                      </a:r>
                    </a:p>
                  </a:txBody>
                  <a:tcPr/>
                </a:tc>
                <a:tc>
                  <a:txBody>
                    <a:bodyPr/>
                    <a:lstStyle/>
                    <a:p>
                      <a:pPr algn="ctr"/>
                      <a:r>
                        <a:rPr lang="en-US" sz="1200" dirty="0">
                          <a:solidFill>
                            <a:srgbClr val="00B050"/>
                          </a:solidFill>
                        </a:rPr>
                        <a:t>Optional</a:t>
                      </a:r>
                    </a:p>
                  </a:txBody>
                  <a:tcPr/>
                </a:tc>
                <a:tc>
                  <a:txBody>
                    <a:bodyPr/>
                    <a:lstStyle/>
                    <a:p>
                      <a:pPr algn="ctr"/>
                      <a:r>
                        <a:rPr lang="en-US" sz="1200" kern="1200" dirty="0">
                          <a:solidFill>
                            <a:srgbClr val="0070C0"/>
                          </a:solidFill>
                          <a:latin typeface="+mn-lt"/>
                          <a:ea typeface="+mn-ea"/>
                          <a:cs typeface="+mn-cs"/>
                        </a:rPr>
                        <a:t>Required</a:t>
                      </a:r>
                    </a:p>
                  </a:txBody>
                  <a:tcPr/>
                </a:tc>
                <a:tc>
                  <a:txBody>
                    <a:bodyPr/>
                    <a:lstStyle/>
                    <a:p>
                      <a:pPr marL="0" algn="ctr" defTabSz="914400" rtl="0" eaLnBrk="1" latinLnBrk="0" hangingPunct="1"/>
                      <a:r>
                        <a:rPr lang="en-US" sz="1200" kern="1200" dirty="0">
                          <a:solidFill>
                            <a:srgbClr val="0070C0"/>
                          </a:solidFill>
                          <a:latin typeface="+mn-lt"/>
                          <a:ea typeface="+mn-ea"/>
                          <a:cs typeface="+mn-cs"/>
                        </a:rPr>
                        <a:t>Required</a:t>
                      </a:r>
                    </a:p>
                  </a:txBody>
                  <a:tcPr/>
                </a:tc>
                <a:tc>
                  <a:txBody>
                    <a:bodyPr/>
                    <a:lstStyle/>
                    <a:p>
                      <a:pPr algn="ctr"/>
                      <a:r>
                        <a:rPr lang="en-US" sz="1200" kern="1200" dirty="0">
                          <a:solidFill>
                            <a:srgbClr val="0070C0"/>
                          </a:solidFill>
                          <a:latin typeface="+mn-lt"/>
                          <a:ea typeface="+mn-ea"/>
                          <a:cs typeface="+mn-cs"/>
                        </a:rPr>
                        <a:t>Required</a:t>
                      </a:r>
                    </a:p>
                  </a:txBody>
                  <a:tcPr/>
                </a:tc>
                <a:extLst>
                  <a:ext uri="{0D108BD9-81ED-4DB2-BD59-A6C34878D82A}">
                    <a16:rowId xmlns:a16="http://schemas.microsoft.com/office/drawing/2014/main" val="3750997748"/>
                  </a:ext>
                </a:extLst>
              </a:tr>
              <a:tr h="370840">
                <a:tc>
                  <a:txBody>
                    <a:bodyPr/>
                    <a:lstStyle/>
                    <a:p>
                      <a:r>
                        <a:rPr lang="en-US" sz="1400" dirty="0"/>
                        <a:t>SDDC Manager</a:t>
                      </a:r>
                    </a:p>
                  </a:txBody>
                  <a:tcPr/>
                </a:tc>
                <a:tc>
                  <a:txBody>
                    <a:bodyPr/>
                    <a:lstStyle/>
                    <a:p>
                      <a:pPr algn="ctr"/>
                      <a:r>
                        <a:rPr lang="en-US" sz="1200" dirty="0">
                          <a:solidFill>
                            <a:schemeClr val="bg1">
                              <a:lumMod val="75000"/>
                            </a:schemeClr>
                          </a:solidFill>
                        </a:rPr>
                        <a:t>n/a</a:t>
                      </a:r>
                    </a:p>
                  </a:txBody>
                  <a:tcPr/>
                </a:tc>
                <a:tc>
                  <a:txBody>
                    <a:bodyPr/>
                    <a:lstStyle/>
                    <a:p>
                      <a:pPr algn="ctr"/>
                      <a:r>
                        <a:rPr lang="en-US" sz="1200" kern="1200" dirty="0">
                          <a:solidFill>
                            <a:srgbClr val="0070C0"/>
                          </a:solidFill>
                          <a:latin typeface="+mn-lt"/>
                          <a:ea typeface="+mn-ea"/>
                          <a:cs typeface="+mn-cs"/>
                        </a:rPr>
                        <a:t>Required</a:t>
                      </a:r>
                    </a:p>
                  </a:txBody>
                  <a:tcPr/>
                </a:tc>
                <a:tc>
                  <a:txBody>
                    <a:bodyPr/>
                    <a:lstStyle/>
                    <a:p>
                      <a:pPr marL="0" algn="ctr" defTabSz="914400" rtl="0" eaLnBrk="1" latinLnBrk="0" hangingPunct="1"/>
                      <a:r>
                        <a:rPr lang="en-US" sz="1200" kern="1200" dirty="0">
                          <a:solidFill>
                            <a:srgbClr val="0070C0"/>
                          </a:solidFill>
                          <a:latin typeface="+mn-lt"/>
                          <a:ea typeface="+mn-ea"/>
                          <a:cs typeface="+mn-cs"/>
                        </a:rPr>
                        <a:t>Required</a:t>
                      </a:r>
                    </a:p>
                  </a:txBody>
                  <a:tcPr/>
                </a:tc>
                <a:tc>
                  <a:txBody>
                    <a:bodyPr/>
                    <a:lstStyle/>
                    <a:p>
                      <a:pPr algn="ctr"/>
                      <a:r>
                        <a:rPr lang="en-US" sz="1200" kern="1200" dirty="0">
                          <a:solidFill>
                            <a:srgbClr val="0070C0"/>
                          </a:solidFill>
                          <a:latin typeface="+mn-lt"/>
                          <a:ea typeface="+mn-ea"/>
                          <a:cs typeface="+mn-cs"/>
                        </a:rPr>
                        <a:t>Required</a:t>
                      </a:r>
                    </a:p>
                  </a:txBody>
                  <a:tcPr/>
                </a:tc>
                <a:extLst>
                  <a:ext uri="{0D108BD9-81ED-4DB2-BD59-A6C34878D82A}">
                    <a16:rowId xmlns:a16="http://schemas.microsoft.com/office/drawing/2014/main" val="3853067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Fleet Manager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rgbClr val="00B050"/>
                          </a:solidFill>
                          <a:latin typeface="+mn-lt"/>
                          <a:ea typeface="+mn-ea"/>
                          <a:cs typeface="+mn-cs"/>
                        </a:rPr>
                        <a:t>Optional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rgbClr val="00B050"/>
                          </a:solidFill>
                          <a:latin typeface="+mn-lt"/>
                          <a:ea typeface="+mn-ea"/>
                          <a:cs typeface="+mn-cs"/>
                        </a:rPr>
                        <a:t>Optional</a:t>
                      </a:r>
                    </a:p>
                  </a:txBody>
                  <a:tcPr/>
                </a:tc>
                <a:tc>
                  <a:txBody>
                    <a:bodyPr/>
                    <a:lstStyle/>
                    <a:p>
                      <a:pPr marL="0" algn="ctr" defTabSz="914400" rtl="0" eaLnBrk="1" latinLnBrk="0" hangingPunct="1"/>
                      <a:r>
                        <a:rPr lang="en-US" sz="1200" kern="1200" dirty="0">
                          <a:solidFill>
                            <a:srgbClr val="0070C0"/>
                          </a:solidFill>
                          <a:latin typeface="+mn-lt"/>
                          <a:ea typeface="+mn-ea"/>
                          <a:cs typeface="+mn-cs"/>
                        </a:rPr>
                        <a:t>Required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bg1">
                              <a:lumMod val="75000"/>
                            </a:schemeClr>
                          </a:solidFill>
                          <a:latin typeface="+mn-lt"/>
                          <a:ea typeface="+mn-ea"/>
                          <a:cs typeface="+mn-cs"/>
                        </a:rPr>
                        <a:t>n/a</a:t>
                      </a:r>
                    </a:p>
                  </a:txBody>
                  <a:tcPr/>
                </a:tc>
                <a:extLst>
                  <a:ext uri="{0D108BD9-81ED-4DB2-BD59-A6C34878D82A}">
                    <a16:rowId xmlns:a16="http://schemas.microsoft.com/office/drawing/2014/main" val="1025610792"/>
                  </a:ext>
                </a:extLst>
              </a:tr>
              <a:tr h="370840">
                <a:tc>
                  <a:txBody>
                    <a:bodyPr/>
                    <a:lstStyle/>
                    <a:p>
                      <a:r>
                        <a:rPr lang="en-US" sz="1400" dirty="0"/>
                        <a:t>Ops</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marL="0" algn="ctr" defTabSz="914400" rtl="0" eaLnBrk="1" latinLnBrk="0" hangingPunct="1"/>
                      <a:r>
                        <a:rPr lang="en-US" sz="1200" kern="1200" dirty="0">
                          <a:solidFill>
                            <a:srgbClr val="0070C0"/>
                          </a:solidFill>
                          <a:latin typeface="+mn-lt"/>
                          <a:ea typeface="+mn-ea"/>
                          <a:cs typeface="+mn-cs"/>
                        </a:rPr>
                        <a:t>Required</a:t>
                      </a:r>
                    </a:p>
                  </a:txBody>
                  <a:tcPr/>
                </a:tc>
                <a:tc>
                  <a:txBody>
                    <a:bodyPr/>
                    <a:lstStyle/>
                    <a:p>
                      <a:pPr algn="ctr"/>
                      <a:r>
                        <a:rPr lang="en-US" sz="1200" kern="1200" dirty="0">
                          <a:solidFill>
                            <a:srgbClr val="0070C0"/>
                          </a:solidFill>
                          <a:latin typeface="+mn-lt"/>
                          <a:ea typeface="+mn-ea"/>
                          <a:cs typeface="+mn-cs"/>
                        </a:rPr>
                        <a:t>Required</a:t>
                      </a:r>
                    </a:p>
                  </a:txBody>
                  <a:tcPr/>
                </a:tc>
                <a:extLst>
                  <a:ext uri="{0D108BD9-81ED-4DB2-BD59-A6C34878D82A}">
                    <a16:rowId xmlns:a16="http://schemas.microsoft.com/office/drawing/2014/main" val="3935038074"/>
                  </a:ext>
                </a:extLst>
              </a:tr>
              <a:tr h="370840">
                <a:tc>
                  <a:txBody>
                    <a:bodyPr/>
                    <a:lstStyle/>
                    <a:p>
                      <a:r>
                        <a:rPr lang="en-US" sz="1400" dirty="0"/>
                        <a:t>Ops Proxy</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marL="0" algn="ctr" defTabSz="914400" rtl="0" eaLnBrk="1" latinLnBrk="0" hangingPunct="1"/>
                      <a:r>
                        <a:rPr lang="en-US" sz="1200" kern="1200" dirty="0">
                          <a:solidFill>
                            <a:srgbClr val="0070C0"/>
                          </a:solidFill>
                          <a:latin typeface="+mn-lt"/>
                          <a:ea typeface="+mn-ea"/>
                          <a:cs typeface="+mn-cs"/>
                        </a:rPr>
                        <a:t>Required</a:t>
                      </a:r>
                    </a:p>
                  </a:txBody>
                  <a:tcPr/>
                </a:tc>
                <a:tc>
                  <a:txBody>
                    <a:bodyPr/>
                    <a:lstStyle/>
                    <a:p>
                      <a:pPr algn="ctr"/>
                      <a:r>
                        <a:rPr lang="en-US" sz="1200" kern="1200" dirty="0">
                          <a:solidFill>
                            <a:srgbClr val="0070C0"/>
                          </a:solidFill>
                          <a:latin typeface="+mn-lt"/>
                          <a:ea typeface="+mn-ea"/>
                          <a:cs typeface="+mn-cs"/>
                        </a:rPr>
                        <a:t>Required</a:t>
                      </a:r>
                    </a:p>
                  </a:txBody>
                  <a:tcPr/>
                </a:tc>
                <a:extLst>
                  <a:ext uri="{0D108BD9-81ED-4DB2-BD59-A6C34878D82A}">
                    <a16:rowId xmlns:a16="http://schemas.microsoft.com/office/drawing/2014/main" val="2004385839"/>
                  </a:ext>
                </a:extLst>
              </a:tr>
              <a:tr h="370840">
                <a:tc>
                  <a:txBody>
                    <a:bodyPr/>
                    <a:lstStyle/>
                    <a:p>
                      <a:r>
                        <a:rPr lang="en-US" sz="1400" dirty="0"/>
                        <a:t>Ops for Networks</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rgbClr val="00B050"/>
                          </a:solidFill>
                          <a:latin typeface="+mn-lt"/>
                          <a:ea typeface="+mn-ea"/>
                          <a:cs typeface="+mn-cs"/>
                        </a:rPr>
                        <a:t>Optional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rgbClr val="00B050"/>
                          </a:solidFill>
                          <a:latin typeface="+mn-lt"/>
                          <a:ea typeface="+mn-ea"/>
                          <a:cs typeface="+mn-cs"/>
                        </a:rPr>
                        <a:t>Optional </a:t>
                      </a:r>
                    </a:p>
                  </a:txBody>
                  <a:tcPr/>
                </a:tc>
                <a:extLst>
                  <a:ext uri="{0D108BD9-81ED-4DB2-BD59-A6C34878D82A}">
                    <a16:rowId xmlns:a16="http://schemas.microsoft.com/office/drawing/2014/main" val="4220385269"/>
                  </a:ext>
                </a:extLst>
              </a:tr>
              <a:tr h="370840">
                <a:tc>
                  <a:txBody>
                    <a:bodyPr/>
                    <a:lstStyle/>
                    <a:p>
                      <a:r>
                        <a:rPr lang="en-US" sz="1400" dirty="0"/>
                        <a:t>Logs</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rgbClr val="00B050"/>
                          </a:solidFill>
                          <a:latin typeface="+mn-lt"/>
                          <a:ea typeface="+mn-ea"/>
                          <a:cs typeface="+mn-cs"/>
                        </a:rPr>
                        <a:t>Optional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rgbClr val="00B050"/>
                          </a:solidFill>
                          <a:latin typeface="+mn-lt"/>
                          <a:ea typeface="+mn-ea"/>
                          <a:cs typeface="+mn-cs"/>
                        </a:rPr>
                        <a:t>Optional </a:t>
                      </a:r>
                    </a:p>
                  </a:txBody>
                  <a:tcPr/>
                </a:tc>
                <a:extLst>
                  <a:ext uri="{0D108BD9-81ED-4DB2-BD59-A6C34878D82A}">
                    <a16:rowId xmlns:a16="http://schemas.microsoft.com/office/drawing/2014/main" val="1569575737"/>
                  </a:ext>
                </a:extLst>
              </a:tr>
              <a:tr h="370840">
                <a:tc>
                  <a:txBody>
                    <a:bodyPr/>
                    <a:lstStyle/>
                    <a:p>
                      <a:r>
                        <a:rPr lang="en-US" sz="1400" dirty="0"/>
                        <a:t>Automation</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algn="ctr"/>
                      <a:r>
                        <a:rPr lang="en-US" sz="1200" kern="1200" dirty="0">
                          <a:solidFill>
                            <a:srgbClr val="00B050"/>
                          </a:solidFill>
                          <a:latin typeface="+mn-lt"/>
                          <a:ea typeface="+mn-ea"/>
                          <a:cs typeface="+mn-cs"/>
                        </a:rPr>
                        <a:t>Optional</a:t>
                      </a:r>
                    </a:p>
                  </a:txBody>
                  <a:tcPr/>
                </a:tc>
                <a:tc>
                  <a:txBody>
                    <a:bodyPr/>
                    <a:lstStyle/>
                    <a:p>
                      <a:pPr algn="ctr"/>
                      <a:r>
                        <a:rPr lang="en-US" sz="1200" kern="1200" dirty="0">
                          <a:solidFill>
                            <a:srgbClr val="0070C0"/>
                          </a:solidFill>
                          <a:latin typeface="+mn-lt"/>
                          <a:ea typeface="+mn-ea"/>
                          <a:cs typeface="+mn-cs"/>
                        </a:rPr>
                        <a:t>Required</a:t>
                      </a:r>
                    </a:p>
                  </a:txBody>
                  <a:tcPr/>
                </a:tc>
                <a:tc>
                  <a:txBody>
                    <a:bodyPr/>
                    <a:lstStyle/>
                    <a:p>
                      <a:pPr algn="ctr"/>
                      <a:r>
                        <a:rPr lang="en-US" sz="1200" kern="1200" dirty="0">
                          <a:solidFill>
                            <a:srgbClr val="0070C0"/>
                          </a:solidFill>
                          <a:latin typeface="+mn-lt"/>
                          <a:ea typeface="+mn-ea"/>
                          <a:cs typeface="+mn-cs"/>
                        </a:rPr>
                        <a:t>Required</a:t>
                      </a:r>
                    </a:p>
                  </a:txBody>
                  <a:tcPr/>
                </a:tc>
                <a:extLst>
                  <a:ext uri="{0D108BD9-81ED-4DB2-BD59-A6C34878D82A}">
                    <a16:rowId xmlns:a16="http://schemas.microsoft.com/office/drawing/2014/main" val="749294993"/>
                  </a:ext>
                </a:extLst>
              </a:tr>
              <a:tr h="370840">
                <a:tc>
                  <a:txBody>
                    <a:bodyPr/>
                    <a:lstStyle/>
                    <a:p>
                      <a:r>
                        <a:rPr lang="en-US" sz="1400" dirty="0"/>
                        <a:t>Management Services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bg1">
                              <a:lumMod val="75000"/>
                            </a:schemeClr>
                          </a:solidFill>
                          <a:latin typeface="+mn-lt"/>
                          <a:ea typeface="+mn-ea"/>
                          <a:cs typeface="+mn-cs"/>
                        </a:rPr>
                        <a:t>n/a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bg1">
                              <a:lumMod val="75000"/>
                            </a:schemeClr>
                          </a:solidFill>
                          <a:latin typeface="+mn-lt"/>
                          <a:ea typeface="+mn-ea"/>
                          <a:cs typeface="+mn-cs"/>
                        </a:rPr>
                        <a:t>n/a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bg1">
                              <a:lumMod val="75000"/>
                            </a:schemeClr>
                          </a:solidFill>
                          <a:latin typeface="+mn-lt"/>
                          <a:ea typeface="+mn-ea"/>
                          <a:cs typeface="+mn-cs"/>
                        </a:rPr>
                        <a:t>n/a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rgbClr val="0070C0"/>
                          </a:solidFill>
                          <a:latin typeface="+mn-lt"/>
                          <a:ea typeface="+mn-ea"/>
                          <a:cs typeface="+mn-cs"/>
                        </a:rPr>
                        <a:t>Required</a:t>
                      </a:r>
                    </a:p>
                  </a:txBody>
                  <a:tcPr/>
                </a:tc>
                <a:extLst>
                  <a:ext uri="{0D108BD9-81ED-4DB2-BD59-A6C34878D82A}">
                    <a16:rowId xmlns:a16="http://schemas.microsoft.com/office/drawing/2014/main" val="908848755"/>
                  </a:ext>
                </a:extLst>
              </a:tr>
              <a:tr h="370840">
                <a:tc>
                  <a:txBody>
                    <a:bodyPr/>
                    <a:lstStyle/>
                    <a:p>
                      <a:r>
                        <a:rPr lang="en-US" sz="1400" dirty="0"/>
                        <a:t>License Server</a:t>
                      </a:r>
                    </a:p>
                  </a:txBody>
                  <a:tcPr/>
                </a:tc>
                <a:tc>
                  <a:txBody>
                    <a:bodyPr/>
                    <a:lstStyle/>
                    <a:p>
                      <a:pPr algn="ctr"/>
                      <a:r>
                        <a:rPr lang="en-US" sz="1200" kern="1200" dirty="0">
                          <a:solidFill>
                            <a:schemeClr val="bg1">
                              <a:lumMod val="75000"/>
                            </a:schemeClr>
                          </a:solidFill>
                          <a:latin typeface="+mn-lt"/>
                          <a:ea typeface="+mn-ea"/>
                          <a:cs typeface="+mn-cs"/>
                        </a:rPr>
                        <a:t>n/a</a:t>
                      </a:r>
                    </a:p>
                  </a:txBody>
                  <a:tcPr/>
                </a:tc>
                <a:tc>
                  <a:txBody>
                    <a:bodyPr/>
                    <a:lstStyle/>
                    <a:p>
                      <a:pPr algn="ctr"/>
                      <a:r>
                        <a:rPr lang="en-US" sz="1200" kern="1200" dirty="0">
                          <a:solidFill>
                            <a:schemeClr val="bg1">
                              <a:lumMod val="75000"/>
                            </a:schemeClr>
                          </a:solidFill>
                          <a:latin typeface="+mn-lt"/>
                          <a:ea typeface="+mn-ea"/>
                          <a:cs typeface="+mn-cs"/>
                        </a:rPr>
                        <a:t>n/a</a:t>
                      </a:r>
                    </a:p>
                  </a:txBody>
                  <a:tcPr/>
                </a:tc>
                <a:tc>
                  <a:txBody>
                    <a:bodyPr/>
                    <a:lstStyle/>
                    <a:p>
                      <a:pPr algn="ctr"/>
                      <a:r>
                        <a:rPr lang="en-US" sz="1200" kern="1200" dirty="0">
                          <a:solidFill>
                            <a:schemeClr val="bg1">
                              <a:lumMod val="75000"/>
                            </a:schemeClr>
                          </a:solidFill>
                          <a:latin typeface="+mn-lt"/>
                          <a:ea typeface="+mn-ea"/>
                          <a:cs typeface="+mn-cs"/>
                        </a:rPr>
                        <a:t>n/a</a:t>
                      </a:r>
                    </a:p>
                  </a:txBody>
                  <a:tcPr/>
                </a:tc>
                <a:tc>
                  <a:txBody>
                    <a:bodyPr/>
                    <a:lstStyle/>
                    <a:p>
                      <a:pPr algn="ctr"/>
                      <a:r>
                        <a:rPr lang="en-US" sz="1200" kern="1200" dirty="0">
                          <a:solidFill>
                            <a:srgbClr val="0070C0"/>
                          </a:solidFill>
                          <a:latin typeface="+mn-lt"/>
                          <a:ea typeface="+mn-ea"/>
                          <a:cs typeface="+mn-cs"/>
                        </a:rPr>
                        <a:t>Required</a:t>
                      </a:r>
                    </a:p>
                  </a:txBody>
                  <a:tcPr/>
                </a:tc>
                <a:extLst>
                  <a:ext uri="{0D108BD9-81ED-4DB2-BD59-A6C34878D82A}">
                    <a16:rowId xmlns:a16="http://schemas.microsoft.com/office/drawing/2014/main" val="2864130937"/>
                  </a:ext>
                </a:extLst>
              </a:tr>
            </a:tbl>
          </a:graphicData>
        </a:graphic>
      </p:graphicFrame>
      <p:sp>
        <p:nvSpPr>
          <p:cNvPr id="8" name="TextBox 7">
            <a:extLst>
              <a:ext uri="{FF2B5EF4-FFF2-40B4-BE49-F238E27FC236}">
                <a16:creationId xmlns:a16="http://schemas.microsoft.com/office/drawing/2014/main" id="{EFA7F6ED-99E3-D28B-608B-70C99E8BAE7E}"/>
              </a:ext>
            </a:extLst>
          </p:cNvPr>
          <p:cNvSpPr txBox="1"/>
          <p:nvPr/>
        </p:nvSpPr>
        <p:spPr>
          <a:xfrm>
            <a:off x="6435174" y="6211792"/>
            <a:ext cx="5145639" cy="153888"/>
          </a:xfrm>
          <a:prstGeom prst="rect">
            <a:avLst/>
          </a:prstGeom>
          <a:noFill/>
        </p:spPr>
        <p:txBody>
          <a:bodyPr wrap="none" lIns="0" tIns="0" rIns="0" bIns="0" rtlCol="0">
            <a:spAutoFit/>
          </a:bodyPr>
          <a:lstStyle/>
          <a:p>
            <a:pPr algn="l"/>
            <a:r>
              <a:rPr lang="en-US" sz="1000" dirty="0">
                <a:solidFill>
                  <a:schemeClr val="tx2"/>
                </a:solidFill>
              </a:rPr>
              <a:t>*Not inclusive of all components, for example does not cover NSX Edge, VNA, HCX, or AVI </a:t>
            </a:r>
          </a:p>
        </p:txBody>
      </p:sp>
    </p:spTree>
    <p:extLst>
      <p:ext uri="{BB962C8B-B14F-4D97-AF65-F5344CB8AC3E}">
        <p14:creationId xmlns:p14="http://schemas.microsoft.com/office/powerpoint/2010/main" val="22353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C1-2954-9DEF-77F6-3CF621541749}"/>
            </a:ext>
          </a:extLst>
        </p:cNvPr>
        <p:cNvGrpSpPr/>
        <p:nvPr/>
      </p:nvGrpSpPr>
      <p:grpSpPr>
        <a:xfrm>
          <a:off x="0" y="0"/>
          <a:ext cx="0" cy="0"/>
          <a:chOff x="0" y="0"/>
          <a:chExt cx="0" cy="0"/>
        </a:xfrm>
      </p:grpSpPr>
      <p:sp>
        <p:nvSpPr>
          <p:cNvPr id="508" name="Rounded Rectangle 507">
            <a:extLst>
              <a:ext uri="{FF2B5EF4-FFF2-40B4-BE49-F238E27FC236}">
                <a16:creationId xmlns:a16="http://schemas.microsoft.com/office/drawing/2014/main" id="{10B1D527-0AD0-FFCE-0731-75E44E96B397}"/>
              </a:ext>
            </a:extLst>
          </p:cNvPr>
          <p:cNvSpPr/>
          <p:nvPr/>
        </p:nvSpPr>
        <p:spPr bwMode="gray">
          <a:xfrm>
            <a:off x="796834" y="1310018"/>
            <a:ext cx="2130889" cy="45911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3" name="Title 2">
            <a:extLst>
              <a:ext uri="{FF2B5EF4-FFF2-40B4-BE49-F238E27FC236}">
                <a16:creationId xmlns:a16="http://schemas.microsoft.com/office/drawing/2014/main" id="{17F7A1E4-0C6A-8E9A-7833-17240D1A9255}"/>
              </a:ext>
            </a:extLst>
          </p:cNvPr>
          <p:cNvSpPr>
            <a:spLocks noGrp="1"/>
          </p:cNvSpPr>
          <p:nvPr>
            <p:ph type="title"/>
          </p:nvPr>
        </p:nvSpPr>
        <p:spPr/>
        <p:txBody>
          <a:bodyPr/>
          <a:lstStyle/>
          <a:p>
            <a:r>
              <a:rPr lang="en-US" dirty="0">
                <a:solidFill>
                  <a:srgbClr val="005C8A"/>
                </a:solidFill>
              </a:rPr>
              <a:t>VCF 9.1 Upgrade High Level Overview</a:t>
            </a:r>
            <a:endParaRPr lang="en-US" dirty="0"/>
          </a:p>
        </p:txBody>
      </p:sp>
      <p:sp>
        <p:nvSpPr>
          <p:cNvPr id="159" name="Subtitle 158">
            <a:extLst>
              <a:ext uri="{FF2B5EF4-FFF2-40B4-BE49-F238E27FC236}">
                <a16:creationId xmlns:a16="http://schemas.microsoft.com/office/drawing/2014/main" id="{91D1AE02-2CE8-E552-017F-C3A4D843A65D}"/>
              </a:ext>
            </a:extLst>
          </p:cNvPr>
          <p:cNvSpPr>
            <a:spLocks noGrp="1"/>
          </p:cNvSpPr>
          <p:nvPr>
            <p:ph type="subTitle" idx="10"/>
          </p:nvPr>
        </p:nvSpPr>
        <p:spPr/>
        <p:txBody>
          <a:bodyPr/>
          <a:lstStyle/>
          <a:p>
            <a:r>
              <a:rPr lang="en-US" dirty="0"/>
              <a:t>Converging vSphere 8.x to VCF 9.1</a:t>
            </a:r>
          </a:p>
        </p:txBody>
      </p:sp>
      <p:grpSp>
        <p:nvGrpSpPr>
          <p:cNvPr id="8" name="Group 7">
            <a:extLst>
              <a:ext uri="{FF2B5EF4-FFF2-40B4-BE49-F238E27FC236}">
                <a16:creationId xmlns:a16="http://schemas.microsoft.com/office/drawing/2014/main" id="{CB3B2009-4233-AAC1-DCFD-5B635EA7B581}"/>
              </a:ext>
            </a:extLst>
          </p:cNvPr>
          <p:cNvGrpSpPr/>
          <p:nvPr/>
        </p:nvGrpSpPr>
        <p:grpSpPr>
          <a:xfrm>
            <a:off x="972495" y="2049553"/>
            <a:ext cx="1769718" cy="1107309"/>
            <a:chOff x="796834" y="2911194"/>
            <a:chExt cx="1769718" cy="1107309"/>
          </a:xfrm>
        </p:grpSpPr>
        <p:sp>
          <p:nvSpPr>
            <p:cNvPr id="6" name="Google Shape;6678;g2d30ebb658d_0_19789">
              <a:extLst>
                <a:ext uri="{FF2B5EF4-FFF2-40B4-BE49-F238E27FC236}">
                  <a16:creationId xmlns:a16="http://schemas.microsoft.com/office/drawing/2014/main" id="{52F6E2C0-C1CB-476E-C8FD-2C311DDADA5A}"/>
                </a:ext>
              </a:extLst>
            </p:cNvPr>
            <p:cNvSpPr/>
            <p:nvPr/>
          </p:nvSpPr>
          <p:spPr>
            <a:xfrm>
              <a:off x="796834" y="2911194"/>
              <a:ext cx="1769718" cy="1107309"/>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8" name="Google Shape;6705;g2d30ebb658d_0_19789">
              <a:extLst>
                <a:ext uri="{FF2B5EF4-FFF2-40B4-BE49-F238E27FC236}">
                  <a16:creationId xmlns:a16="http://schemas.microsoft.com/office/drawing/2014/main" id="{DA6575F2-238E-3A7F-FDD6-940992E19B98}"/>
                </a:ext>
              </a:extLst>
            </p:cNvPr>
            <p:cNvSpPr/>
            <p:nvPr/>
          </p:nvSpPr>
          <p:spPr>
            <a:xfrm>
              <a:off x="847337" y="3457374"/>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160" name="Google Shape;6707;g2d30ebb658d_0_19789">
              <a:extLst>
                <a:ext uri="{FF2B5EF4-FFF2-40B4-BE49-F238E27FC236}">
                  <a16:creationId xmlns:a16="http://schemas.microsoft.com/office/drawing/2014/main" id="{AF429365-09BE-DBA1-9B31-A9C2EC24210F}"/>
                </a:ext>
              </a:extLst>
            </p:cNvPr>
            <p:cNvGrpSpPr/>
            <p:nvPr/>
          </p:nvGrpSpPr>
          <p:grpSpPr>
            <a:xfrm>
              <a:off x="2096136" y="3608893"/>
              <a:ext cx="283155" cy="283154"/>
              <a:chOff x="10722212" y="2729558"/>
              <a:chExt cx="663407" cy="663407"/>
            </a:xfrm>
          </p:grpSpPr>
          <p:sp>
            <p:nvSpPr>
              <p:cNvPr id="174" name="Google Shape;6708;g2d30ebb658d_0_19789">
                <a:extLst>
                  <a:ext uri="{FF2B5EF4-FFF2-40B4-BE49-F238E27FC236}">
                    <a16:creationId xmlns:a16="http://schemas.microsoft.com/office/drawing/2014/main" id="{BA7037B5-0705-DAF8-354E-CF153C6C696F}"/>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5" name="Google Shape;6709;g2d30ebb658d_0_19789">
                <a:extLst>
                  <a:ext uri="{FF2B5EF4-FFF2-40B4-BE49-F238E27FC236}">
                    <a16:creationId xmlns:a16="http://schemas.microsoft.com/office/drawing/2014/main" id="{4A205112-0ED6-8427-31DB-51C913E62B87}"/>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61" name="Google Shape;6710;g2d30ebb658d_0_19789">
              <a:extLst>
                <a:ext uri="{FF2B5EF4-FFF2-40B4-BE49-F238E27FC236}">
                  <a16:creationId xmlns:a16="http://schemas.microsoft.com/office/drawing/2014/main" id="{3F1F83F0-DC69-FA21-B5E8-66A2376899B6}"/>
                </a:ext>
              </a:extLst>
            </p:cNvPr>
            <p:cNvGrpSpPr/>
            <p:nvPr/>
          </p:nvGrpSpPr>
          <p:grpSpPr>
            <a:xfrm>
              <a:off x="951216" y="3608774"/>
              <a:ext cx="283155" cy="283154"/>
              <a:chOff x="572541" y="5475121"/>
              <a:chExt cx="663407" cy="663407"/>
            </a:xfrm>
          </p:grpSpPr>
          <p:sp>
            <p:nvSpPr>
              <p:cNvPr id="172" name="Google Shape;6711;g2d30ebb658d_0_19789">
                <a:extLst>
                  <a:ext uri="{FF2B5EF4-FFF2-40B4-BE49-F238E27FC236}">
                    <a16:creationId xmlns:a16="http://schemas.microsoft.com/office/drawing/2014/main" id="{622EB570-30CE-1D61-218D-3C7DC843D6A8}"/>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3" name="Google Shape;6712;g2d30ebb658d_0_19789">
                <a:extLst>
                  <a:ext uri="{FF2B5EF4-FFF2-40B4-BE49-F238E27FC236}">
                    <a16:creationId xmlns:a16="http://schemas.microsoft.com/office/drawing/2014/main" id="{5298C251-987A-0F99-9881-C6EE87A7A971}"/>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62" name="Google Shape;6713;g2d30ebb658d_0_19789">
              <a:extLst>
                <a:ext uri="{FF2B5EF4-FFF2-40B4-BE49-F238E27FC236}">
                  <a16:creationId xmlns:a16="http://schemas.microsoft.com/office/drawing/2014/main" id="{272B7D28-5F44-F152-624C-EAB031D28A67}"/>
                </a:ext>
              </a:extLst>
            </p:cNvPr>
            <p:cNvGrpSpPr/>
            <p:nvPr/>
          </p:nvGrpSpPr>
          <p:grpSpPr>
            <a:xfrm>
              <a:off x="1519584" y="3608775"/>
              <a:ext cx="283155" cy="283154"/>
              <a:chOff x="9272259" y="5475121"/>
              <a:chExt cx="663407" cy="663407"/>
            </a:xfrm>
          </p:grpSpPr>
          <p:sp>
            <p:nvSpPr>
              <p:cNvPr id="170" name="Google Shape;6714;g2d30ebb658d_0_19789">
                <a:extLst>
                  <a:ext uri="{FF2B5EF4-FFF2-40B4-BE49-F238E27FC236}">
                    <a16:creationId xmlns:a16="http://schemas.microsoft.com/office/drawing/2014/main" id="{50095FD2-7D18-8FC5-1A5F-ACE2DA2D2220}"/>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1" name="Google Shape;6715;g2d30ebb658d_0_19789">
                <a:extLst>
                  <a:ext uri="{FF2B5EF4-FFF2-40B4-BE49-F238E27FC236}">
                    <a16:creationId xmlns:a16="http://schemas.microsoft.com/office/drawing/2014/main" id="{63341DEF-A702-2D3E-C236-57F76FC415A4}"/>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64" name="TextBox 163">
              <a:extLst>
                <a:ext uri="{FF2B5EF4-FFF2-40B4-BE49-F238E27FC236}">
                  <a16:creationId xmlns:a16="http://schemas.microsoft.com/office/drawing/2014/main" id="{B79CC735-5C68-16EA-5F56-2E0C5AE7A810}"/>
                </a:ext>
              </a:extLst>
            </p:cNvPr>
            <p:cNvSpPr txBox="1"/>
            <p:nvPr/>
          </p:nvSpPr>
          <p:spPr>
            <a:xfrm>
              <a:off x="1299580" y="3481064"/>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65" name="Google Shape;6705;g2d30ebb658d_0_19789">
              <a:extLst>
                <a:ext uri="{FF2B5EF4-FFF2-40B4-BE49-F238E27FC236}">
                  <a16:creationId xmlns:a16="http://schemas.microsoft.com/office/drawing/2014/main" id="{CED16E76-9671-DEC2-3334-ED6917793A62}"/>
                </a:ext>
              </a:extLst>
            </p:cNvPr>
            <p:cNvSpPr/>
            <p:nvPr/>
          </p:nvSpPr>
          <p:spPr>
            <a:xfrm>
              <a:off x="1113662" y="2983627"/>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66" name="Google Shape;6678;g2d30ebb658d_0_19789">
              <a:extLst>
                <a:ext uri="{FF2B5EF4-FFF2-40B4-BE49-F238E27FC236}">
                  <a16:creationId xmlns:a16="http://schemas.microsoft.com/office/drawing/2014/main" id="{29043153-CABB-57C3-6CDF-C6C3C170CA43}"/>
                </a:ext>
              </a:extLst>
            </p:cNvPr>
            <p:cNvSpPr/>
            <p:nvPr/>
          </p:nvSpPr>
          <p:spPr>
            <a:xfrm>
              <a:off x="1364520" y="319350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69" name="Google Shape;6678;g2d30ebb658d_0_19789">
              <a:extLst>
                <a:ext uri="{FF2B5EF4-FFF2-40B4-BE49-F238E27FC236}">
                  <a16:creationId xmlns:a16="http://schemas.microsoft.com/office/drawing/2014/main" id="{149A7FD2-711C-8B2A-53C6-10F15C7750BD}"/>
                </a:ext>
              </a:extLst>
            </p:cNvPr>
            <p:cNvSpPr/>
            <p:nvPr/>
          </p:nvSpPr>
          <p:spPr>
            <a:xfrm>
              <a:off x="1302236" y="323858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504" name="TextBox 503">
            <a:extLst>
              <a:ext uri="{FF2B5EF4-FFF2-40B4-BE49-F238E27FC236}">
                <a16:creationId xmlns:a16="http://schemas.microsoft.com/office/drawing/2014/main" id="{922FFAFB-62B7-D8C2-3950-781682B9AFA3}"/>
              </a:ext>
            </a:extLst>
          </p:cNvPr>
          <p:cNvSpPr txBox="1"/>
          <p:nvPr/>
        </p:nvSpPr>
        <p:spPr>
          <a:xfrm>
            <a:off x="1101237" y="1384478"/>
            <a:ext cx="1522853" cy="307777"/>
          </a:xfrm>
          <a:prstGeom prst="rect">
            <a:avLst/>
          </a:prstGeom>
          <a:noFill/>
        </p:spPr>
        <p:txBody>
          <a:bodyPr wrap="none" lIns="0" tIns="0" rIns="0" bIns="0" rtlCol="0">
            <a:spAutoFit/>
          </a:bodyPr>
          <a:lstStyle/>
          <a:p>
            <a:pPr algn="l"/>
            <a:r>
              <a:rPr lang="en-US" sz="2000" dirty="0">
                <a:solidFill>
                  <a:schemeClr val="bg1"/>
                </a:solidFill>
              </a:rPr>
              <a:t>Current State</a:t>
            </a:r>
          </a:p>
        </p:txBody>
      </p:sp>
      <p:grpSp>
        <p:nvGrpSpPr>
          <p:cNvPr id="9" name="Group 8">
            <a:extLst>
              <a:ext uri="{FF2B5EF4-FFF2-40B4-BE49-F238E27FC236}">
                <a16:creationId xmlns:a16="http://schemas.microsoft.com/office/drawing/2014/main" id="{2F4464D7-A511-BAF0-85A3-541DD4252260}"/>
              </a:ext>
            </a:extLst>
          </p:cNvPr>
          <p:cNvGrpSpPr/>
          <p:nvPr/>
        </p:nvGrpSpPr>
        <p:grpSpPr>
          <a:xfrm>
            <a:off x="967087" y="3339370"/>
            <a:ext cx="1769718" cy="1107309"/>
            <a:chOff x="796834" y="2911194"/>
            <a:chExt cx="1769718" cy="1107309"/>
          </a:xfrm>
        </p:grpSpPr>
        <p:sp>
          <p:nvSpPr>
            <p:cNvPr id="10" name="Google Shape;6678;g2d30ebb658d_0_19789">
              <a:extLst>
                <a:ext uri="{FF2B5EF4-FFF2-40B4-BE49-F238E27FC236}">
                  <a16:creationId xmlns:a16="http://schemas.microsoft.com/office/drawing/2014/main" id="{F1590D77-6212-0A2D-AD92-B0AB2E638222}"/>
                </a:ext>
              </a:extLst>
            </p:cNvPr>
            <p:cNvSpPr/>
            <p:nvPr/>
          </p:nvSpPr>
          <p:spPr>
            <a:xfrm>
              <a:off x="796834" y="2911194"/>
              <a:ext cx="1769718" cy="1107309"/>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 name="Google Shape;6705;g2d30ebb658d_0_19789">
              <a:extLst>
                <a:ext uri="{FF2B5EF4-FFF2-40B4-BE49-F238E27FC236}">
                  <a16:creationId xmlns:a16="http://schemas.microsoft.com/office/drawing/2014/main" id="{DC60C930-887A-F5C1-8833-D55BC0ADA119}"/>
                </a:ext>
              </a:extLst>
            </p:cNvPr>
            <p:cNvSpPr/>
            <p:nvPr/>
          </p:nvSpPr>
          <p:spPr>
            <a:xfrm>
              <a:off x="847337" y="3457374"/>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13" name="Google Shape;6707;g2d30ebb658d_0_19789">
              <a:extLst>
                <a:ext uri="{FF2B5EF4-FFF2-40B4-BE49-F238E27FC236}">
                  <a16:creationId xmlns:a16="http://schemas.microsoft.com/office/drawing/2014/main" id="{E8311C73-1B60-21AC-1606-3D3F49DFCA0C}"/>
                </a:ext>
              </a:extLst>
            </p:cNvPr>
            <p:cNvGrpSpPr/>
            <p:nvPr/>
          </p:nvGrpSpPr>
          <p:grpSpPr>
            <a:xfrm>
              <a:off x="2096136" y="3608893"/>
              <a:ext cx="283155" cy="283154"/>
              <a:chOff x="10722212" y="2729558"/>
              <a:chExt cx="663407" cy="663407"/>
            </a:xfrm>
          </p:grpSpPr>
          <p:sp>
            <p:nvSpPr>
              <p:cNvPr id="24" name="Google Shape;6708;g2d30ebb658d_0_19789">
                <a:extLst>
                  <a:ext uri="{FF2B5EF4-FFF2-40B4-BE49-F238E27FC236}">
                    <a16:creationId xmlns:a16="http://schemas.microsoft.com/office/drawing/2014/main" id="{DBFA0738-BF89-B87A-A910-2D672F54FB56}"/>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5" name="Google Shape;6709;g2d30ebb658d_0_19789">
                <a:extLst>
                  <a:ext uri="{FF2B5EF4-FFF2-40B4-BE49-F238E27FC236}">
                    <a16:creationId xmlns:a16="http://schemas.microsoft.com/office/drawing/2014/main" id="{2C7782B1-4528-F90F-AABB-112DC6CE38F3}"/>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4" name="Google Shape;6710;g2d30ebb658d_0_19789">
              <a:extLst>
                <a:ext uri="{FF2B5EF4-FFF2-40B4-BE49-F238E27FC236}">
                  <a16:creationId xmlns:a16="http://schemas.microsoft.com/office/drawing/2014/main" id="{0C0E79ED-099A-4C2E-9889-AB43775EAAFB}"/>
                </a:ext>
              </a:extLst>
            </p:cNvPr>
            <p:cNvGrpSpPr/>
            <p:nvPr/>
          </p:nvGrpSpPr>
          <p:grpSpPr>
            <a:xfrm>
              <a:off x="951216" y="3608774"/>
              <a:ext cx="283155" cy="283154"/>
              <a:chOff x="572541" y="5475121"/>
              <a:chExt cx="663407" cy="663407"/>
            </a:xfrm>
          </p:grpSpPr>
          <p:sp>
            <p:nvSpPr>
              <p:cNvPr id="22" name="Google Shape;6711;g2d30ebb658d_0_19789">
                <a:extLst>
                  <a:ext uri="{FF2B5EF4-FFF2-40B4-BE49-F238E27FC236}">
                    <a16:creationId xmlns:a16="http://schemas.microsoft.com/office/drawing/2014/main" id="{B3E54CA5-77D4-F0C1-7BEE-3F6ED8D83D62}"/>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3" name="Google Shape;6712;g2d30ebb658d_0_19789">
                <a:extLst>
                  <a:ext uri="{FF2B5EF4-FFF2-40B4-BE49-F238E27FC236}">
                    <a16:creationId xmlns:a16="http://schemas.microsoft.com/office/drawing/2014/main" id="{1B8C5EE2-0723-11FC-EFAA-24F1272022CB}"/>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5" name="Google Shape;6713;g2d30ebb658d_0_19789">
              <a:extLst>
                <a:ext uri="{FF2B5EF4-FFF2-40B4-BE49-F238E27FC236}">
                  <a16:creationId xmlns:a16="http://schemas.microsoft.com/office/drawing/2014/main" id="{FE52A474-CA40-99CF-E1AA-2F5285048AF2}"/>
                </a:ext>
              </a:extLst>
            </p:cNvPr>
            <p:cNvGrpSpPr/>
            <p:nvPr/>
          </p:nvGrpSpPr>
          <p:grpSpPr>
            <a:xfrm>
              <a:off x="1519584" y="3608775"/>
              <a:ext cx="283155" cy="283154"/>
              <a:chOff x="9272259" y="5475121"/>
              <a:chExt cx="663407" cy="663407"/>
            </a:xfrm>
          </p:grpSpPr>
          <p:sp>
            <p:nvSpPr>
              <p:cNvPr id="20" name="Google Shape;6714;g2d30ebb658d_0_19789">
                <a:extLst>
                  <a:ext uri="{FF2B5EF4-FFF2-40B4-BE49-F238E27FC236}">
                    <a16:creationId xmlns:a16="http://schemas.microsoft.com/office/drawing/2014/main" id="{E0CB3941-ECAB-D711-B16C-FA2C434CD14C}"/>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1" name="Google Shape;6715;g2d30ebb658d_0_19789">
                <a:extLst>
                  <a:ext uri="{FF2B5EF4-FFF2-40B4-BE49-F238E27FC236}">
                    <a16:creationId xmlns:a16="http://schemas.microsoft.com/office/drawing/2014/main" id="{66AB1362-DDB4-9F71-2EB1-D3ED4A8B708E}"/>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6" name="TextBox 15">
              <a:extLst>
                <a:ext uri="{FF2B5EF4-FFF2-40B4-BE49-F238E27FC236}">
                  <a16:creationId xmlns:a16="http://schemas.microsoft.com/office/drawing/2014/main" id="{C901C713-0E74-D8EF-28D1-D1074A566AB8}"/>
                </a:ext>
              </a:extLst>
            </p:cNvPr>
            <p:cNvSpPr txBox="1"/>
            <p:nvPr/>
          </p:nvSpPr>
          <p:spPr>
            <a:xfrm>
              <a:off x="1299580" y="3481064"/>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7" name="Google Shape;6705;g2d30ebb658d_0_19789">
              <a:extLst>
                <a:ext uri="{FF2B5EF4-FFF2-40B4-BE49-F238E27FC236}">
                  <a16:creationId xmlns:a16="http://schemas.microsoft.com/office/drawing/2014/main" id="{0D75376E-845B-41AA-A5F8-450614107061}"/>
                </a:ext>
              </a:extLst>
            </p:cNvPr>
            <p:cNvSpPr/>
            <p:nvPr/>
          </p:nvSpPr>
          <p:spPr>
            <a:xfrm>
              <a:off x="1113662" y="2983627"/>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8" name="Google Shape;6678;g2d30ebb658d_0_19789">
              <a:extLst>
                <a:ext uri="{FF2B5EF4-FFF2-40B4-BE49-F238E27FC236}">
                  <a16:creationId xmlns:a16="http://schemas.microsoft.com/office/drawing/2014/main" id="{CB981841-3F21-BDA7-7F8A-2D94AC9A61F6}"/>
                </a:ext>
              </a:extLst>
            </p:cNvPr>
            <p:cNvSpPr/>
            <p:nvPr/>
          </p:nvSpPr>
          <p:spPr>
            <a:xfrm>
              <a:off x="1364520" y="319350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9" name="Google Shape;6678;g2d30ebb658d_0_19789">
              <a:extLst>
                <a:ext uri="{FF2B5EF4-FFF2-40B4-BE49-F238E27FC236}">
                  <a16:creationId xmlns:a16="http://schemas.microsoft.com/office/drawing/2014/main" id="{3715CF9F-F400-853A-97D2-7805654784E5}"/>
                </a:ext>
              </a:extLst>
            </p:cNvPr>
            <p:cNvSpPr/>
            <p:nvPr/>
          </p:nvSpPr>
          <p:spPr>
            <a:xfrm>
              <a:off x="1302236" y="323858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26" name="Group 25">
            <a:extLst>
              <a:ext uri="{FF2B5EF4-FFF2-40B4-BE49-F238E27FC236}">
                <a16:creationId xmlns:a16="http://schemas.microsoft.com/office/drawing/2014/main" id="{56999347-6EDE-7660-4019-53006E404063}"/>
              </a:ext>
            </a:extLst>
          </p:cNvPr>
          <p:cNvGrpSpPr/>
          <p:nvPr/>
        </p:nvGrpSpPr>
        <p:grpSpPr>
          <a:xfrm>
            <a:off x="968661" y="4680857"/>
            <a:ext cx="1769718" cy="1107309"/>
            <a:chOff x="796834" y="2911194"/>
            <a:chExt cx="1769718" cy="1107309"/>
          </a:xfrm>
        </p:grpSpPr>
        <p:sp>
          <p:nvSpPr>
            <p:cNvPr id="27" name="Google Shape;6678;g2d30ebb658d_0_19789">
              <a:extLst>
                <a:ext uri="{FF2B5EF4-FFF2-40B4-BE49-F238E27FC236}">
                  <a16:creationId xmlns:a16="http://schemas.microsoft.com/office/drawing/2014/main" id="{EE63C9D0-C8B6-6B99-0761-EED1AF3103C7}"/>
                </a:ext>
              </a:extLst>
            </p:cNvPr>
            <p:cNvSpPr/>
            <p:nvPr/>
          </p:nvSpPr>
          <p:spPr>
            <a:xfrm>
              <a:off x="796834" y="2911194"/>
              <a:ext cx="1769718" cy="1107309"/>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8" name="Google Shape;6705;g2d30ebb658d_0_19789">
              <a:extLst>
                <a:ext uri="{FF2B5EF4-FFF2-40B4-BE49-F238E27FC236}">
                  <a16:creationId xmlns:a16="http://schemas.microsoft.com/office/drawing/2014/main" id="{A181EBDB-2D27-3A17-22EF-2CEACCD9CF28}"/>
                </a:ext>
              </a:extLst>
            </p:cNvPr>
            <p:cNvSpPr/>
            <p:nvPr/>
          </p:nvSpPr>
          <p:spPr>
            <a:xfrm>
              <a:off x="847337" y="3457374"/>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29" name="Google Shape;6707;g2d30ebb658d_0_19789">
              <a:extLst>
                <a:ext uri="{FF2B5EF4-FFF2-40B4-BE49-F238E27FC236}">
                  <a16:creationId xmlns:a16="http://schemas.microsoft.com/office/drawing/2014/main" id="{59B656E2-D61E-1609-1CA0-D1F022ACE630}"/>
                </a:ext>
              </a:extLst>
            </p:cNvPr>
            <p:cNvGrpSpPr/>
            <p:nvPr/>
          </p:nvGrpSpPr>
          <p:grpSpPr>
            <a:xfrm>
              <a:off x="2096136" y="3608893"/>
              <a:ext cx="283155" cy="283154"/>
              <a:chOff x="10722212" y="2729558"/>
              <a:chExt cx="663407" cy="663407"/>
            </a:xfrm>
          </p:grpSpPr>
          <p:sp>
            <p:nvSpPr>
              <p:cNvPr id="40" name="Google Shape;6708;g2d30ebb658d_0_19789">
                <a:extLst>
                  <a:ext uri="{FF2B5EF4-FFF2-40B4-BE49-F238E27FC236}">
                    <a16:creationId xmlns:a16="http://schemas.microsoft.com/office/drawing/2014/main" id="{475B55C9-E574-D548-63ED-ED498E8166DE}"/>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1" name="Google Shape;6709;g2d30ebb658d_0_19789">
                <a:extLst>
                  <a:ext uri="{FF2B5EF4-FFF2-40B4-BE49-F238E27FC236}">
                    <a16:creationId xmlns:a16="http://schemas.microsoft.com/office/drawing/2014/main" id="{379F5E1D-4A25-62CF-93C5-EE5F7355E877}"/>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30" name="Google Shape;6710;g2d30ebb658d_0_19789">
              <a:extLst>
                <a:ext uri="{FF2B5EF4-FFF2-40B4-BE49-F238E27FC236}">
                  <a16:creationId xmlns:a16="http://schemas.microsoft.com/office/drawing/2014/main" id="{84B8D503-E2B4-2ECE-2165-F7C527C27900}"/>
                </a:ext>
              </a:extLst>
            </p:cNvPr>
            <p:cNvGrpSpPr/>
            <p:nvPr/>
          </p:nvGrpSpPr>
          <p:grpSpPr>
            <a:xfrm>
              <a:off x="951216" y="3608774"/>
              <a:ext cx="283155" cy="283154"/>
              <a:chOff x="572541" y="5475121"/>
              <a:chExt cx="663407" cy="663407"/>
            </a:xfrm>
          </p:grpSpPr>
          <p:sp>
            <p:nvSpPr>
              <p:cNvPr id="38" name="Google Shape;6711;g2d30ebb658d_0_19789">
                <a:extLst>
                  <a:ext uri="{FF2B5EF4-FFF2-40B4-BE49-F238E27FC236}">
                    <a16:creationId xmlns:a16="http://schemas.microsoft.com/office/drawing/2014/main" id="{3504FD37-37CF-8659-8E70-B901F0A3C99B}"/>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9" name="Google Shape;6712;g2d30ebb658d_0_19789">
                <a:extLst>
                  <a:ext uri="{FF2B5EF4-FFF2-40B4-BE49-F238E27FC236}">
                    <a16:creationId xmlns:a16="http://schemas.microsoft.com/office/drawing/2014/main" id="{50BAC6B3-E6B3-C87D-577C-99BA35138A48}"/>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31" name="Google Shape;6713;g2d30ebb658d_0_19789">
              <a:extLst>
                <a:ext uri="{FF2B5EF4-FFF2-40B4-BE49-F238E27FC236}">
                  <a16:creationId xmlns:a16="http://schemas.microsoft.com/office/drawing/2014/main" id="{7B321D54-1F46-4E01-89B4-EA27D8E578F4}"/>
                </a:ext>
              </a:extLst>
            </p:cNvPr>
            <p:cNvGrpSpPr/>
            <p:nvPr/>
          </p:nvGrpSpPr>
          <p:grpSpPr>
            <a:xfrm>
              <a:off x="1519584" y="3608775"/>
              <a:ext cx="283155" cy="283154"/>
              <a:chOff x="9272259" y="5475121"/>
              <a:chExt cx="663407" cy="663407"/>
            </a:xfrm>
          </p:grpSpPr>
          <p:sp>
            <p:nvSpPr>
              <p:cNvPr id="36" name="Google Shape;6714;g2d30ebb658d_0_19789">
                <a:extLst>
                  <a:ext uri="{FF2B5EF4-FFF2-40B4-BE49-F238E27FC236}">
                    <a16:creationId xmlns:a16="http://schemas.microsoft.com/office/drawing/2014/main" id="{6A08D7F7-CF31-C60B-16A2-0F07315178D7}"/>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7" name="Google Shape;6715;g2d30ebb658d_0_19789">
                <a:extLst>
                  <a:ext uri="{FF2B5EF4-FFF2-40B4-BE49-F238E27FC236}">
                    <a16:creationId xmlns:a16="http://schemas.microsoft.com/office/drawing/2014/main" id="{47564A2A-4B8C-966F-3C0E-B3FC7B361172}"/>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32" name="TextBox 31">
              <a:extLst>
                <a:ext uri="{FF2B5EF4-FFF2-40B4-BE49-F238E27FC236}">
                  <a16:creationId xmlns:a16="http://schemas.microsoft.com/office/drawing/2014/main" id="{7B518BD0-8927-68AE-4825-50B851DC49A5}"/>
                </a:ext>
              </a:extLst>
            </p:cNvPr>
            <p:cNvSpPr txBox="1"/>
            <p:nvPr/>
          </p:nvSpPr>
          <p:spPr>
            <a:xfrm>
              <a:off x="1299580" y="3481064"/>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3" name="Google Shape;6705;g2d30ebb658d_0_19789">
              <a:extLst>
                <a:ext uri="{FF2B5EF4-FFF2-40B4-BE49-F238E27FC236}">
                  <a16:creationId xmlns:a16="http://schemas.microsoft.com/office/drawing/2014/main" id="{43B5346F-13C9-191C-9997-E8B1E57E17AE}"/>
                </a:ext>
              </a:extLst>
            </p:cNvPr>
            <p:cNvSpPr/>
            <p:nvPr/>
          </p:nvSpPr>
          <p:spPr>
            <a:xfrm>
              <a:off x="1113662" y="2983627"/>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4" name="Google Shape;6678;g2d30ebb658d_0_19789">
              <a:extLst>
                <a:ext uri="{FF2B5EF4-FFF2-40B4-BE49-F238E27FC236}">
                  <a16:creationId xmlns:a16="http://schemas.microsoft.com/office/drawing/2014/main" id="{00498B5E-E366-61D0-8211-B444760EC5DC}"/>
                </a:ext>
              </a:extLst>
            </p:cNvPr>
            <p:cNvSpPr/>
            <p:nvPr/>
          </p:nvSpPr>
          <p:spPr>
            <a:xfrm>
              <a:off x="1364520" y="319350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35" name="Google Shape;6678;g2d30ebb658d_0_19789">
              <a:extLst>
                <a:ext uri="{FF2B5EF4-FFF2-40B4-BE49-F238E27FC236}">
                  <a16:creationId xmlns:a16="http://schemas.microsoft.com/office/drawing/2014/main" id="{0F727290-CDB3-D497-D4B3-6A645CA51DBA}"/>
                </a:ext>
              </a:extLst>
            </p:cNvPr>
            <p:cNvSpPr/>
            <p:nvPr/>
          </p:nvSpPr>
          <p:spPr>
            <a:xfrm>
              <a:off x="1302236" y="323858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42" name="TextBox 41">
            <a:extLst>
              <a:ext uri="{FF2B5EF4-FFF2-40B4-BE49-F238E27FC236}">
                <a16:creationId xmlns:a16="http://schemas.microsoft.com/office/drawing/2014/main" id="{569F799F-13FD-04BF-9167-2EF9AB7776F6}"/>
              </a:ext>
            </a:extLst>
          </p:cNvPr>
          <p:cNvSpPr txBox="1"/>
          <p:nvPr/>
        </p:nvSpPr>
        <p:spPr>
          <a:xfrm>
            <a:off x="592866" y="2528241"/>
            <a:ext cx="153888" cy="276999"/>
          </a:xfrm>
          <a:prstGeom prst="rect">
            <a:avLst/>
          </a:prstGeom>
          <a:noFill/>
        </p:spPr>
        <p:txBody>
          <a:bodyPr wrap="none" lIns="0" tIns="0" rIns="0" bIns="0" rtlCol="0">
            <a:spAutoFit/>
          </a:bodyPr>
          <a:lstStyle/>
          <a:p>
            <a:pPr algn="l"/>
            <a:r>
              <a:rPr lang="en-US" sz="1800" dirty="0">
                <a:solidFill>
                  <a:schemeClr val="tx2"/>
                </a:solidFill>
              </a:rPr>
              <a:t>A</a:t>
            </a:r>
          </a:p>
        </p:txBody>
      </p:sp>
      <p:sp>
        <p:nvSpPr>
          <p:cNvPr id="43" name="TextBox 42">
            <a:extLst>
              <a:ext uri="{FF2B5EF4-FFF2-40B4-BE49-F238E27FC236}">
                <a16:creationId xmlns:a16="http://schemas.microsoft.com/office/drawing/2014/main" id="{306367D9-CBFD-7CAE-B85D-2A7AE091CFB9}"/>
              </a:ext>
            </a:extLst>
          </p:cNvPr>
          <p:cNvSpPr txBox="1"/>
          <p:nvPr/>
        </p:nvSpPr>
        <p:spPr>
          <a:xfrm>
            <a:off x="606476" y="3656628"/>
            <a:ext cx="153888" cy="276999"/>
          </a:xfrm>
          <a:prstGeom prst="rect">
            <a:avLst/>
          </a:prstGeom>
          <a:noFill/>
        </p:spPr>
        <p:txBody>
          <a:bodyPr wrap="none" lIns="0" tIns="0" rIns="0" bIns="0" rtlCol="0">
            <a:spAutoFit/>
          </a:bodyPr>
          <a:lstStyle/>
          <a:p>
            <a:pPr algn="l"/>
            <a:r>
              <a:rPr lang="en-US" sz="1800" dirty="0">
                <a:solidFill>
                  <a:schemeClr val="tx2"/>
                </a:solidFill>
              </a:rPr>
              <a:t>B</a:t>
            </a:r>
          </a:p>
        </p:txBody>
      </p:sp>
      <p:sp>
        <p:nvSpPr>
          <p:cNvPr id="44" name="TextBox 43">
            <a:extLst>
              <a:ext uri="{FF2B5EF4-FFF2-40B4-BE49-F238E27FC236}">
                <a16:creationId xmlns:a16="http://schemas.microsoft.com/office/drawing/2014/main" id="{5B74BE09-5D0B-4688-F1F5-7646DAF429F5}"/>
              </a:ext>
            </a:extLst>
          </p:cNvPr>
          <p:cNvSpPr txBox="1"/>
          <p:nvPr/>
        </p:nvSpPr>
        <p:spPr>
          <a:xfrm>
            <a:off x="601172" y="5039961"/>
            <a:ext cx="166712" cy="276999"/>
          </a:xfrm>
          <a:prstGeom prst="rect">
            <a:avLst/>
          </a:prstGeom>
          <a:noFill/>
        </p:spPr>
        <p:txBody>
          <a:bodyPr wrap="none" lIns="0" tIns="0" rIns="0" bIns="0" rtlCol="0">
            <a:spAutoFit/>
          </a:bodyPr>
          <a:lstStyle/>
          <a:p>
            <a:pPr algn="l"/>
            <a:r>
              <a:rPr lang="en-US" dirty="0">
                <a:solidFill>
                  <a:schemeClr val="tx2"/>
                </a:solidFill>
              </a:rPr>
              <a:t>C</a:t>
            </a:r>
            <a:endParaRPr lang="en-US" sz="1800" dirty="0">
              <a:solidFill>
                <a:schemeClr val="tx2"/>
              </a:solidFill>
            </a:endParaRPr>
          </a:p>
        </p:txBody>
      </p:sp>
      <p:grpSp>
        <p:nvGrpSpPr>
          <p:cNvPr id="4" name="Group 3">
            <a:extLst>
              <a:ext uri="{FF2B5EF4-FFF2-40B4-BE49-F238E27FC236}">
                <a16:creationId xmlns:a16="http://schemas.microsoft.com/office/drawing/2014/main" id="{F893B15C-1429-D048-84E8-772AEDFF0EBD}"/>
              </a:ext>
            </a:extLst>
          </p:cNvPr>
          <p:cNvGrpSpPr/>
          <p:nvPr/>
        </p:nvGrpSpPr>
        <p:grpSpPr>
          <a:xfrm>
            <a:off x="6604897" y="1310018"/>
            <a:ext cx="2476500" cy="3136661"/>
            <a:chOff x="6604897" y="1310018"/>
            <a:chExt cx="2476500" cy="3136661"/>
          </a:xfrm>
        </p:grpSpPr>
        <p:sp>
          <p:nvSpPr>
            <p:cNvPr id="130" name="Rounded Rectangle 129">
              <a:extLst>
                <a:ext uri="{FF2B5EF4-FFF2-40B4-BE49-F238E27FC236}">
                  <a16:creationId xmlns:a16="http://schemas.microsoft.com/office/drawing/2014/main" id="{700BDBE0-4E98-10D4-99A1-D42F40418586}"/>
                </a:ext>
              </a:extLst>
            </p:cNvPr>
            <p:cNvSpPr/>
            <p:nvPr/>
          </p:nvSpPr>
          <p:spPr bwMode="gray">
            <a:xfrm>
              <a:off x="6604897" y="1310018"/>
              <a:ext cx="2476500" cy="45911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31" name="TextBox 130">
              <a:extLst>
                <a:ext uri="{FF2B5EF4-FFF2-40B4-BE49-F238E27FC236}">
                  <a16:creationId xmlns:a16="http://schemas.microsoft.com/office/drawing/2014/main" id="{0F53B6E5-6F00-AF15-C8F5-DBC28BFE3DB9}"/>
                </a:ext>
              </a:extLst>
            </p:cNvPr>
            <p:cNvSpPr txBox="1"/>
            <p:nvPr/>
          </p:nvSpPr>
          <p:spPr>
            <a:xfrm>
              <a:off x="6675905" y="1389542"/>
              <a:ext cx="2353208" cy="307777"/>
            </a:xfrm>
            <a:prstGeom prst="rect">
              <a:avLst/>
            </a:prstGeom>
            <a:noFill/>
          </p:spPr>
          <p:txBody>
            <a:bodyPr wrap="none" lIns="0" tIns="0" rIns="0" bIns="0" rtlCol="0">
              <a:spAutoFit/>
            </a:bodyPr>
            <a:lstStyle/>
            <a:p>
              <a:pPr algn="l"/>
              <a:r>
                <a:rPr lang="en-US" sz="2000" dirty="0">
                  <a:solidFill>
                    <a:schemeClr val="bg1"/>
                  </a:solidFill>
                </a:rPr>
                <a:t>Deploy VCF Installer</a:t>
              </a:r>
            </a:p>
          </p:txBody>
        </p:sp>
        <p:grpSp>
          <p:nvGrpSpPr>
            <p:cNvPr id="132" name="Group 131">
              <a:extLst>
                <a:ext uri="{FF2B5EF4-FFF2-40B4-BE49-F238E27FC236}">
                  <a16:creationId xmlns:a16="http://schemas.microsoft.com/office/drawing/2014/main" id="{785C0E63-DA48-058B-3309-4C0E32A665C2}"/>
                </a:ext>
              </a:extLst>
            </p:cNvPr>
            <p:cNvGrpSpPr/>
            <p:nvPr/>
          </p:nvGrpSpPr>
          <p:grpSpPr>
            <a:xfrm>
              <a:off x="6958288" y="3339370"/>
              <a:ext cx="1769718" cy="1107309"/>
              <a:chOff x="796834" y="2911194"/>
              <a:chExt cx="1769718" cy="1107309"/>
            </a:xfrm>
          </p:grpSpPr>
          <p:sp>
            <p:nvSpPr>
              <p:cNvPr id="133" name="Google Shape;6678;g2d30ebb658d_0_19789">
                <a:extLst>
                  <a:ext uri="{FF2B5EF4-FFF2-40B4-BE49-F238E27FC236}">
                    <a16:creationId xmlns:a16="http://schemas.microsoft.com/office/drawing/2014/main" id="{4142DA9D-D211-894C-E5D4-1264002AEBD0}"/>
                  </a:ext>
                </a:extLst>
              </p:cNvPr>
              <p:cNvSpPr/>
              <p:nvPr/>
            </p:nvSpPr>
            <p:spPr>
              <a:xfrm>
                <a:off x="796834" y="2911194"/>
                <a:ext cx="1769718" cy="1107309"/>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34" name="Google Shape;6705;g2d30ebb658d_0_19789">
                <a:extLst>
                  <a:ext uri="{FF2B5EF4-FFF2-40B4-BE49-F238E27FC236}">
                    <a16:creationId xmlns:a16="http://schemas.microsoft.com/office/drawing/2014/main" id="{1B92D70A-FEB1-4816-0265-B8F79DD712E0}"/>
                  </a:ext>
                </a:extLst>
              </p:cNvPr>
              <p:cNvSpPr/>
              <p:nvPr/>
            </p:nvSpPr>
            <p:spPr>
              <a:xfrm>
                <a:off x="847337" y="3457374"/>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135" name="Google Shape;6707;g2d30ebb658d_0_19789">
                <a:extLst>
                  <a:ext uri="{FF2B5EF4-FFF2-40B4-BE49-F238E27FC236}">
                    <a16:creationId xmlns:a16="http://schemas.microsoft.com/office/drawing/2014/main" id="{5267AAE0-1C50-B1A3-8372-C8165ACF6F5C}"/>
                  </a:ext>
                </a:extLst>
              </p:cNvPr>
              <p:cNvGrpSpPr/>
              <p:nvPr/>
            </p:nvGrpSpPr>
            <p:grpSpPr>
              <a:xfrm>
                <a:off x="2096136" y="3608893"/>
                <a:ext cx="283155" cy="283154"/>
                <a:chOff x="10722212" y="2729558"/>
                <a:chExt cx="663407" cy="663407"/>
              </a:xfrm>
            </p:grpSpPr>
            <p:sp>
              <p:nvSpPr>
                <p:cNvPr id="146" name="Google Shape;6708;g2d30ebb658d_0_19789">
                  <a:extLst>
                    <a:ext uri="{FF2B5EF4-FFF2-40B4-BE49-F238E27FC236}">
                      <a16:creationId xmlns:a16="http://schemas.microsoft.com/office/drawing/2014/main" id="{6EDE519B-2965-0FF3-3420-94C6EEB7C738}"/>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47" name="Google Shape;6709;g2d30ebb658d_0_19789">
                  <a:extLst>
                    <a:ext uri="{FF2B5EF4-FFF2-40B4-BE49-F238E27FC236}">
                      <a16:creationId xmlns:a16="http://schemas.microsoft.com/office/drawing/2014/main" id="{9E9426AA-ED20-D0EA-9BD7-D499AE21A6D3}"/>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36" name="Google Shape;6710;g2d30ebb658d_0_19789">
                <a:extLst>
                  <a:ext uri="{FF2B5EF4-FFF2-40B4-BE49-F238E27FC236}">
                    <a16:creationId xmlns:a16="http://schemas.microsoft.com/office/drawing/2014/main" id="{19F64473-DD9C-0111-633A-713A98606A5F}"/>
                  </a:ext>
                </a:extLst>
              </p:cNvPr>
              <p:cNvGrpSpPr/>
              <p:nvPr/>
            </p:nvGrpSpPr>
            <p:grpSpPr>
              <a:xfrm>
                <a:off x="951216" y="3608774"/>
                <a:ext cx="283155" cy="283154"/>
                <a:chOff x="572541" y="5475121"/>
                <a:chExt cx="663407" cy="663407"/>
              </a:xfrm>
            </p:grpSpPr>
            <p:sp>
              <p:nvSpPr>
                <p:cNvPr id="144" name="Google Shape;6711;g2d30ebb658d_0_19789">
                  <a:extLst>
                    <a:ext uri="{FF2B5EF4-FFF2-40B4-BE49-F238E27FC236}">
                      <a16:creationId xmlns:a16="http://schemas.microsoft.com/office/drawing/2014/main" id="{E5EE1D56-4261-B6DA-5874-62E521EB3505}"/>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45" name="Google Shape;6712;g2d30ebb658d_0_19789">
                  <a:extLst>
                    <a:ext uri="{FF2B5EF4-FFF2-40B4-BE49-F238E27FC236}">
                      <a16:creationId xmlns:a16="http://schemas.microsoft.com/office/drawing/2014/main" id="{A997DF6F-E79E-E890-F210-6B9958032F8B}"/>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37" name="Google Shape;6713;g2d30ebb658d_0_19789">
                <a:extLst>
                  <a:ext uri="{FF2B5EF4-FFF2-40B4-BE49-F238E27FC236}">
                    <a16:creationId xmlns:a16="http://schemas.microsoft.com/office/drawing/2014/main" id="{5365014F-87F2-31C6-FB6A-6A7143BFC959}"/>
                  </a:ext>
                </a:extLst>
              </p:cNvPr>
              <p:cNvGrpSpPr/>
              <p:nvPr/>
            </p:nvGrpSpPr>
            <p:grpSpPr>
              <a:xfrm>
                <a:off x="1519584" y="3608775"/>
                <a:ext cx="283155" cy="283154"/>
                <a:chOff x="9272259" y="5475121"/>
                <a:chExt cx="663407" cy="663407"/>
              </a:xfrm>
            </p:grpSpPr>
            <p:sp>
              <p:nvSpPr>
                <p:cNvPr id="142" name="Google Shape;6714;g2d30ebb658d_0_19789">
                  <a:extLst>
                    <a:ext uri="{FF2B5EF4-FFF2-40B4-BE49-F238E27FC236}">
                      <a16:creationId xmlns:a16="http://schemas.microsoft.com/office/drawing/2014/main" id="{9F8B7942-D635-235D-C157-BDE2081DE819}"/>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43" name="Google Shape;6715;g2d30ebb658d_0_19789">
                  <a:extLst>
                    <a:ext uri="{FF2B5EF4-FFF2-40B4-BE49-F238E27FC236}">
                      <a16:creationId xmlns:a16="http://schemas.microsoft.com/office/drawing/2014/main" id="{82845FAB-70BE-7DE5-D288-D67ECA21E64C}"/>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38" name="TextBox 137">
                <a:extLst>
                  <a:ext uri="{FF2B5EF4-FFF2-40B4-BE49-F238E27FC236}">
                    <a16:creationId xmlns:a16="http://schemas.microsoft.com/office/drawing/2014/main" id="{0C92150B-1B97-77BF-974A-E1C559A8F17D}"/>
                  </a:ext>
                </a:extLst>
              </p:cNvPr>
              <p:cNvSpPr txBox="1"/>
              <p:nvPr/>
            </p:nvSpPr>
            <p:spPr>
              <a:xfrm>
                <a:off x="1299580" y="3481064"/>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9" name="Google Shape;6705;g2d30ebb658d_0_19789">
                <a:extLst>
                  <a:ext uri="{FF2B5EF4-FFF2-40B4-BE49-F238E27FC236}">
                    <a16:creationId xmlns:a16="http://schemas.microsoft.com/office/drawing/2014/main" id="{1E370D3D-8C2F-9315-5F1C-A9501F235FD6}"/>
                  </a:ext>
                </a:extLst>
              </p:cNvPr>
              <p:cNvSpPr/>
              <p:nvPr/>
            </p:nvSpPr>
            <p:spPr>
              <a:xfrm>
                <a:off x="1113662" y="2983627"/>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40" name="Google Shape;6678;g2d30ebb658d_0_19789">
                <a:extLst>
                  <a:ext uri="{FF2B5EF4-FFF2-40B4-BE49-F238E27FC236}">
                    <a16:creationId xmlns:a16="http://schemas.microsoft.com/office/drawing/2014/main" id="{C66464EB-8AF4-3275-3C2B-0B667E3266FA}"/>
                  </a:ext>
                </a:extLst>
              </p:cNvPr>
              <p:cNvSpPr/>
              <p:nvPr/>
            </p:nvSpPr>
            <p:spPr>
              <a:xfrm>
                <a:off x="1364520" y="319350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41" name="Google Shape;6678;g2d30ebb658d_0_19789">
                <a:extLst>
                  <a:ext uri="{FF2B5EF4-FFF2-40B4-BE49-F238E27FC236}">
                    <a16:creationId xmlns:a16="http://schemas.microsoft.com/office/drawing/2014/main" id="{4499332C-58A2-73BC-45B9-77FAC47CCF68}"/>
                  </a:ext>
                </a:extLst>
              </p:cNvPr>
              <p:cNvSpPr/>
              <p:nvPr/>
            </p:nvSpPr>
            <p:spPr>
              <a:xfrm>
                <a:off x="1302236" y="323858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148" name="Rounded Rectangle 147">
              <a:extLst>
                <a:ext uri="{FF2B5EF4-FFF2-40B4-BE49-F238E27FC236}">
                  <a16:creationId xmlns:a16="http://schemas.microsoft.com/office/drawing/2014/main" id="{D8C3904A-5A0E-446D-2633-23EB2F1805AF}"/>
                </a:ext>
              </a:extLst>
            </p:cNvPr>
            <p:cNvSpPr/>
            <p:nvPr/>
          </p:nvSpPr>
          <p:spPr bwMode="gray">
            <a:xfrm>
              <a:off x="7008791" y="2528241"/>
              <a:ext cx="1661045" cy="324418"/>
            </a:xfrm>
            <a:prstGeom prst="roundRect">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algn="ctr">
                <a:buClr>
                  <a:srgbClr val="000000"/>
                </a:buClr>
                <a:buSzPts val="800"/>
              </a:pPr>
              <a:r>
                <a:rPr lang="en-US" sz="650" b="1" dirty="0">
                  <a:solidFill>
                    <a:srgbClr val="FFFFFF"/>
                  </a:solidFill>
                  <a:latin typeface="Arial" panose="020B0604020202020204"/>
                  <a:cs typeface="Arial"/>
                </a:rPr>
                <a:t>VCF Installer</a:t>
              </a:r>
            </a:p>
          </p:txBody>
        </p:sp>
        <p:sp>
          <p:nvSpPr>
            <p:cNvPr id="149" name="TextBox 148">
              <a:extLst>
                <a:ext uri="{FF2B5EF4-FFF2-40B4-BE49-F238E27FC236}">
                  <a16:creationId xmlns:a16="http://schemas.microsoft.com/office/drawing/2014/main" id="{13F8DBC8-5269-C860-2D95-164D966E1BAF}"/>
                </a:ext>
              </a:extLst>
            </p:cNvPr>
            <p:cNvSpPr txBox="1"/>
            <p:nvPr/>
          </p:nvSpPr>
          <p:spPr>
            <a:xfrm>
              <a:off x="7453819" y="2136354"/>
              <a:ext cx="767839" cy="123111"/>
            </a:xfrm>
            <a:prstGeom prst="rect">
              <a:avLst/>
            </a:prstGeom>
            <a:noFill/>
          </p:spPr>
          <p:txBody>
            <a:bodyPr wrap="none" lIns="0" tIns="0" rIns="0" bIns="0" rtlCol="0">
              <a:spAutoFit/>
            </a:bodyPr>
            <a:lstStyle/>
            <a:p>
              <a:pPr algn="l"/>
              <a:r>
                <a:rPr lang="en-US" sz="800" dirty="0">
                  <a:solidFill>
                    <a:schemeClr val="tx2"/>
                  </a:solidFill>
                </a:rPr>
                <a:t>VCF 9.1 binaries</a:t>
              </a:r>
            </a:p>
          </p:txBody>
        </p:sp>
        <p:cxnSp>
          <p:nvCxnSpPr>
            <p:cNvPr id="151" name="Straight Arrow Connector 150">
              <a:extLst>
                <a:ext uri="{FF2B5EF4-FFF2-40B4-BE49-F238E27FC236}">
                  <a16:creationId xmlns:a16="http://schemas.microsoft.com/office/drawing/2014/main" id="{70281D5E-6913-FD48-8DDC-3367EDD6F898}"/>
                </a:ext>
              </a:extLst>
            </p:cNvPr>
            <p:cNvCxnSpPr>
              <a:stCxn id="149" idx="2"/>
              <a:endCxn id="148" idx="0"/>
            </p:cNvCxnSpPr>
            <p:nvPr/>
          </p:nvCxnSpPr>
          <p:spPr bwMode="gray">
            <a:xfrm>
              <a:off x="7837739" y="2259465"/>
              <a:ext cx="1575" cy="268776"/>
            </a:xfrm>
            <a:prstGeom prst="straightConnector1">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90" name="TextBox 289">
              <a:extLst>
                <a:ext uri="{FF2B5EF4-FFF2-40B4-BE49-F238E27FC236}">
                  <a16:creationId xmlns:a16="http://schemas.microsoft.com/office/drawing/2014/main" id="{F1E23A81-F76D-EB77-F759-F21F983ABBED}"/>
                </a:ext>
              </a:extLst>
            </p:cNvPr>
            <p:cNvSpPr txBox="1"/>
            <p:nvPr/>
          </p:nvSpPr>
          <p:spPr>
            <a:xfrm>
              <a:off x="6726905" y="3521220"/>
              <a:ext cx="153888" cy="276999"/>
            </a:xfrm>
            <a:prstGeom prst="rect">
              <a:avLst/>
            </a:prstGeom>
            <a:noFill/>
          </p:spPr>
          <p:txBody>
            <a:bodyPr wrap="none" lIns="0" tIns="0" rIns="0" bIns="0" rtlCol="0">
              <a:spAutoFit/>
            </a:bodyPr>
            <a:lstStyle/>
            <a:p>
              <a:pPr algn="l"/>
              <a:r>
                <a:rPr lang="en-US" sz="1800" dirty="0">
                  <a:solidFill>
                    <a:schemeClr val="tx2"/>
                  </a:solidFill>
                </a:rPr>
                <a:t>B</a:t>
              </a:r>
            </a:p>
          </p:txBody>
        </p:sp>
      </p:grpSp>
      <p:grpSp>
        <p:nvGrpSpPr>
          <p:cNvPr id="7" name="Group 6">
            <a:extLst>
              <a:ext uri="{FF2B5EF4-FFF2-40B4-BE49-F238E27FC236}">
                <a16:creationId xmlns:a16="http://schemas.microsoft.com/office/drawing/2014/main" id="{EEDB6A05-CF09-B913-7346-C34EDFD35F97}"/>
              </a:ext>
            </a:extLst>
          </p:cNvPr>
          <p:cNvGrpSpPr/>
          <p:nvPr/>
        </p:nvGrpSpPr>
        <p:grpSpPr>
          <a:xfrm>
            <a:off x="2738379" y="2603208"/>
            <a:ext cx="7228745" cy="3321558"/>
            <a:chOff x="2738379" y="2603208"/>
            <a:chExt cx="7228745" cy="3321558"/>
          </a:xfrm>
        </p:grpSpPr>
        <p:cxnSp>
          <p:nvCxnSpPr>
            <p:cNvPr id="287" name="Elbow Connector 286">
              <a:extLst>
                <a:ext uri="{FF2B5EF4-FFF2-40B4-BE49-F238E27FC236}">
                  <a16:creationId xmlns:a16="http://schemas.microsoft.com/office/drawing/2014/main" id="{4E8113DA-AE63-B6D5-6C44-C40401F0249B}"/>
                </a:ext>
              </a:extLst>
            </p:cNvPr>
            <p:cNvCxnSpPr>
              <a:stCxn id="6" idx="3"/>
            </p:cNvCxnSpPr>
            <p:nvPr/>
          </p:nvCxnSpPr>
          <p:spPr bwMode="gray">
            <a:xfrm>
              <a:off x="2742213" y="2603208"/>
              <a:ext cx="7224911" cy="3064909"/>
            </a:xfrm>
            <a:prstGeom prst="bentConnector3">
              <a:avLst>
                <a:gd name="adj1" fmla="val 5654"/>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124C36DC-9D70-E5B3-4E83-6D718A5998AD}"/>
                </a:ext>
              </a:extLst>
            </p:cNvPr>
            <p:cNvSpPr txBox="1"/>
            <p:nvPr/>
          </p:nvSpPr>
          <p:spPr>
            <a:xfrm>
              <a:off x="4949061" y="5370768"/>
              <a:ext cx="3052118" cy="553998"/>
            </a:xfrm>
            <a:prstGeom prst="rect">
              <a:avLst/>
            </a:prstGeom>
            <a:noFill/>
          </p:spPr>
          <p:txBody>
            <a:bodyPr wrap="none" lIns="0" tIns="0" rIns="0" bIns="0" rtlCol="0">
              <a:spAutoFit/>
            </a:bodyPr>
            <a:lstStyle/>
            <a:p>
              <a:pPr algn="ctr"/>
              <a:r>
                <a:rPr lang="en-US" sz="1800" dirty="0">
                  <a:solidFill>
                    <a:schemeClr val="tx2"/>
                  </a:solidFill>
                </a:rPr>
                <a:t>Domain Import from VCF Ops</a:t>
              </a:r>
            </a:p>
            <a:p>
              <a:pPr algn="ctr"/>
              <a:r>
                <a:rPr lang="en-US" dirty="0">
                  <a:solidFill>
                    <a:schemeClr val="tx2"/>
                  </a:solidFill>
                </a:rPr>
                <a:t>(verify prerequisites first)</a:t>
              </a:r>
              <a:endParaRPr lang="en-US" sz="1800" dirty="0">
                <a:solidFill>
                  <a:schemeClr val="tx2"/>
                </a:solidFill>
              </a:endParaRPr>
            </a:p>
          </p:txBody>
        </p:sp>
        <p:cxnSp>
          <p:nvCxnSpPr>
            <p:cNvPr id="292" name="Elbow Connector 291">
              <a:extLst>
                <a:ext uri="{FF2B5EF4-FFF2-40B4-BE49-F238E27FC236}">
                  <a16:creationId xmlns:a16="http://schemas.microsoft.com/office/drawing/2014/main" id="{A93D181C-D884-F367-E2EB-16BCDEA412EF}"/>
                </a:ext>
              </a:extLst>
            </p:cNvPr>
            <p:cNvCxnSpPr>
              <a:cxnSpLocks/>
              <a:stCxn id="27" idx="3"/>
            </p:cNvCxnSpPr>
            <p:nvPr/>
          </p:nvCxnSpPr>
          <p:spPr bwMode="gray">
            <a:xfrm>
              <a:off x="2738379" y="5234512"/>
              <a:ext cx="7228745" cy="433605"/>
            </a:xfrm>
            <a:prstGeom prst="bentConnector3">
              <a:avLst>
                <a:gd name="adj1" fmla="val 5776"/>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D1B9C4A1-EA78-2833-9E93-247F8E3576F5}"/>
              </a:ext>
            </a:extLst>
          </p:cNvPr>
          <p:cNvGrpSpPr/>
          <p:nvPr/>
        </p:nvGrpSpPr>
        <p:grpSpPr>
          <a:xfrm>
            <a:off x="9649546" y="4890633"/>
            <a:ext cx="2330922" cy="1417732"/>
            <a:chOff x="9649546" y="4890633"/>
            <a:chExt cx="2330922" cy="1417732"/>
          </a:xfrm>
        </p:grpSpPr>
        <p:grpSp>
          <p:nvGrpSpPr>
            <p:cNvPr id="297" name="Group 296">
              <a:extLst>
                <a:ext uri="{FF2B5EF4-FFF2-40B4-BE49-F238E27FC236}">
                  <a16:creationId xmlns:a16="http://schemas.microsoft.com/office/drawing/2014/main" id="{EDC5D27D-E51E-7459-0186-D12FAED7F9CD}"/>
                </a:ext>
              </a:extLst>
            </p:cNvPr>
            <p:cNvGrpSpPr/>
            <p:nvPr/>
          </p:nvGrpSpPr>
          <p:grpSpPr>
            <a:xfrm>
              <a:off x="9649546" y="4890689"/>
              <a:ext cx="1128526" cy="1103585"/>
              <a:chOff x="1886350" y="4045200"/>
              <a:chExt cx="1769718" cy="1537778"/>
            </a:xfrm>
          </p:grpSpPr>
          <p:sp>
            <p:nvSpPr>
              <p:cNvPr id="298" name="Google Shape;6678;g2d30ebb658d_0_19789">
                <a:extLst>
                  <a:ext uri="{FF2B5EF4-FFF2-40B4-BE49-F238E27FC236}">
                    <a16:creationId xmlns:a16="http://schemas.microsoft.com/office/drawing/2014/main" id="{0E6865E0-53EF-FC73-B730-A306597D1EC1}"/>
                  </a:ext>
                </a:extLst>
              </p:cNvPr>
              <p:cNvSpPr/>
              <p:nvPr/>
            </p:nvSpPr>
            <p:spPr>
              <a:xfrm>
                <a:off x="1886350" y="4045200"/>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99" name="Google Shape;6705;g2d30ebb658d_0_19789">
                <a:extLst>
                  <a:ext uri="{FF2B5EF4-FFF2-40B4-BE49-F238E27FC236}">
                    <a16:creationId xmlns:a16="http://schemas.microsoft.com/office/drawing/2014/main" id="{0436F022-5ACB-13FC-A4BD-73C1936E1A19}"/>
                  </a:ext>
                </a:extLst>
              </p:cNvPr>
              <p:cNvSpPr/>
              <p:nvPr/>
            </p:nvSpPr>
            <p:spPr>
              <a:xfrm>
                <a:off x="1936853" y="5028628"/>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00" name="Google Shape;6708;g2d30ebb658d_0_19789">
                <a:extLst>
                  <a:ext uri="{FF2B5EF4-FFF2-40B4-BE49-F238E27FC236}">
                    <a16:creationId xmlns:a16="http://schemas.microsoft.com/office/drawing/2014/main" id="{21EBC538-B7FF-DDD9-217C-0524F3DFE260}"/>
                  </a:ext>
                </a:extLst>
              </p:cNvPr>
              <p:cNvSpPr>
                <a:spLocks noChangeAspect="1"/>
              </p:cNvSpPr>
              <p:nvPr/>
            </p:nvSpPr>
            <p:spPr>
              <a:xfrm>
                <a:off x="3185652" y="5180147"/>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01" name="Google Shape;6709;g2d30ebb658d_0_19789">
                <a:extLst>
                  <a:ext uri="{FF2B5EF4-FFF2-40B4-BE49-F238E27FC236}">
                    <a16:creationId xmlns:a16="http://schemas.microsoft.com/office/drawing/2014/main" id="{CF031EDC-693C-DF67-1A56-7080616BB99F}"/>
                  </a:ext>
                </a:extLst>
              </p:cNvPr>
              <p:cNvSpPr>
                <a:spLocks noChangeAspect="1"/>
              </p:cNvSpPr>
              <p:nvPr/>
            </p:nvSpPr>
            <p:spPr>
              <a:xfrm>
                <a:off x="3234550" y="5229519"/>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02" name="Google Shape;6711;g2d30ebb658d_0_19789">
                <a:extLst>
                  <a:ext uri="{FF2B5EF4-FFF2-40B4-BE49-F238E27FC236}">
                    <a16:creationId xmlns:a16="http://schemas.microsoft.com/office/drawing/2014/main" id="{3A8533FB-78A8-BD47-8603-82759D0F71C4}"/>
                  </a:ext>
                </a:extLst>
              </p:cNvPr>
              <p:cNvSpPr>
                <a:spLocks noChangeAspect="1"/>
              </p:cNvSpPr>
              <p:nvPr/>
            </p:nvSpPr>
            <p:spPr>
              <a:xfrm>
                <a:off x="2040732" y="5180028"/>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03" name="Google Shape;6712;g2d30ebb658d_0_19789">
                <a:extLst>
                  <a:ext uri="{FF2B5EF4-FFF2-40B4-BE49-F238E27FC236}">
                    <a16:creationId xmlns:a16="http://schemas.microsoft.com/office/drawing/2014/main" id="{A88DBE1E-1CC8-1AB9-D28E-E0E501C3A6CA}"/>
                  </a:ext>
                </a:extLst>
              </p:cNvPr>
              <p:cNvSpPr>
                <a:spLocks noChangeAspect="1"/>
              </p:cNvSpPr>
              <p:nvPr/>
            </p:nvSpPr>
            <p:spPr>
              <a:xfrm>
                <a:off x="2094842" y="5244738"/>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04" name="Google Shape;6714;g2d30ebb658d_0_19789">
                <a:extLst>
                  <a:ext uri="{FF2B5EF4-FFF2-40B4-BE49-F238E27FC236}">
                    <a16:creationId xmlns:a16="http://schemas.microsoft.com/office/drawing/2014/main" id="{5C1CF862-4D0E-874F-4E45-D09ADF08A67A}"/>
                  </a:ext>
                </a:extLst>
              </p:cNvPr>
              <p:cNvSpPr>
                <a:spLocks noChangeAspect="1"/>
              </p:cNvSpPr>
              <p:nvPr/>
            </p:nvSpPr>
            <p:spPr>
              <a:xfrm>
                <a:off x="2609100" y="5180029"/>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05" name="Google Shape;6715;g2d30ebb658d_0_19789">
                <a:extLst>
                  <a:ext uri="{FF2B5EF4-FFF2-40B4-BE49-F238E27FC236}">
                    <a16:creationId xmlns:a16="http://schemas.microsoft.com/office/drawing/2014/main" id="{6D66EB31-256D-E3C9-7195-A990935146ED}"/>
                  </a:ext>
                </a:extLst>
              </p:cNvPr>
              <p:cNvSpPr>
                <a:spLocks noChangeAspect="1"/>
              </p:cNvSpPr>
              <p:nvPr/>
            </p:nvSpPr>
            <p:spPr>
              <a:xfrm>
                <a:off x="2679247" y="5233033"/>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06" name="Google Shape;6704;g2d30ebb658d_0_19789">
                <a:extLst>
                  <a:ext uri="{FF2B5EF4-FFF2-40B4-BE49-F238E27FC236}">
                    <a16:creationId xmlns:a16="http://schemas.microsoft.com/office/drawing/2014/main" id="{CC33B104-BE84-22D9-4D2C-C39D668EB743}"/>
                  </a:ext>
                </a:extLst>
              </p:cNvPr>
              <p:cNvSpPr/>
              <p:nvPr/>
            </p:nvSpPr>
            <p:spPr>
              <a:xfrm>
                <a:off x="1971964" y="4103875"/>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07" name="TextBox 306">
                <a:extLst>
                  <a:ext uri="{FF2B5EF4-FFF2-40B4-BE49-F238E27FC236}">
                    <a16:creationId xmlns:a16="http://schemas.microsoft.com/office/drawing/2014/main" id="{FB9B8A56-2944-8A1F-9608-A65C387C2D3B}"/>
                  </a:ext>
                </a:extLst>
              </p:cNvPr>
              <p:cNvSpPr txBox="1"/>
              <p:nvPr/>
            </p:nvSpPr>
            <p:spPr>
              <a:xfrm>
                <a:off x="2389096" y="5052318"/>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08" name="Google Shape;6678;g2d30ebb658d_0_19789">
                <a:extLst>
                  <a:ext uri="{FF2B5EF4-FFF2-40B4-BE49-F238E27FC236}">
                    <a16:creationId xmlns:a16="http://schemas.microsoft.com/office/drawing/2014/main" id="{00B3E981-2EB9-8FDC-3EA4-B07B0DC8E928}"/>
                  </a:ext>
                </a:extLst>
              </p:cNvPr>
              <p:cNvSpPr/>
              <p:nvPr/>
            </p:nvSpPr>
            <p:spPr>
              <a:xfrm>
                <a:off x="2199465" y="4581159"/>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09" name="Google Shape;6678;g2d30ebb658d_0_19789">
                <a:extLst>
                  <a:ext uri="{FF2B5EF4-FFF2-40B4-BE49-F238E27FC236}">
                    <a16:creationId xmlns:a16="http://schemas.microsoft.com/office/drawing/2014/main" id="{56C26B6D-DC44-B7CA-B688-8BE4D712E5DA}"/>
                  </a:ext>
                </a:extLst>
              </p:cNvPr>
              <p:cNvSpPr/>
              <p:nvPr/>
            </p:nvSpPr>
            <p:spPr>
              <a:xfrm>
                <a:off x="2203178" y="4390517"/>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10" name="Google Shape;6678;g2d30ebb658d_0_19789">
                <a:extLst>
                  <a:ext uri="{FF2B5EF4-FFF2-40B4-BE49-F238E27FC236}">
                    <a16:creationId xmlns:a16="http://schemas.microsoft.com/office/drawing/2014/main" id="{A7242712-8DFD-D88A-095E-7D65C22EDFFA}"/>
                  </a:ext>
                </a:extLst>
              </p:cNvPr>
              <p:cNvSpPr/>
              <p:nvPr/>
            </p:nvSpPr>
            <p:spPr>
              <a:xfrm>
                <a:off x="2442655" y="477712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311" name="Google Shape;6678;g2d30ebb658d_0_19789">
                <a:extLst>
                  <a:ext uri="{FF2B5EF4-FFF2-40B4-BE49-F238E27FC236}">
                    <a16:creationId xmlns:a16="http://schemas.microsoft.com/office/drawing/2014/main" id="{8BA2AE78-0DA3-1DDC-FD22-577128C35FB6}"/>
                  </a:ext>
                </a:extLst>
              </p:cNvPr>
              <p:cNvSpPr/>
              <p:nvPr/>
            </p:nvSpPr>
            <p:spPr>
              <a:xfrm>
                <a:off x="2380371" y="482220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5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5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313" name="Group 312">
              <a:extLst>
                <a:ext uri="{FF2B5EF4-FFF2-40B4-BE49-F238E27FC236}">
                  <a16:creationId xmlns:a16="http://schemas.microsoft.com/office/drawing/2014/main" id="{8353E680-0B1E-46B2-2D60-B0692EDD5AE9}"/>
                </a:ext>
              </a:extLst>
            </p:cNvPr>
            <p:cNvGrpSpPr/>
            <p:nvPr/>
          </p:nvGrpSpPr>
          <p:grpSpPr>
            <a:xfrm>
              <a:off x="10851942" y="4890633"/>
              <a:ext cx="1128526" cy="1103585"/>
              <a:chOff x="1886350" y="4045200"/>
              <a:chExt cx="1769718" cy="1537778"/>
            </a:xfrm>
          </p:grpSpPr>
          <p:sp>
            <p:nvSpPr>
              <p:cNvPr id="314" name="Google Shape;6678;g2d30ebb658d_0_19789">
                <a:extLst>
                  <a:ext uri="{FF2B5EF4-FFF2-40B4-BE49-F238E27FC236}">
                    <a16:creationId xmlns:a16="http://schemas.microsoft.com/office/drawing/2014/main" id="{73CB8D8B-07C5-575B-87F3-445C7883578B}"/>
                  </a:ext>
                </a:extLst>
              </p:cNvPr>
              <p:cNvSpPr/>
              <p:nvPr/>
            </p:nvSpPr>
            <p:spPr>
              <a:xfrm>
                <a:off x="1886350" y="4045200"/>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16" name="Google Shape;6705;g2d30ebb658d_0_19789">
                <a:extLst>
                  <a:ext uri="{FF2B5EF4-FFF2-40B4-BE49-F238E27FC236}">
                    <a16:creationId xmlns:a16="http://schemas.microsoft.com/office/drawing/2014/main" id="{CC1F908B-848C-D7D1-22BF-386028D4073C}"/>
                  </a:ext>
                </a:extLst>
              </p:cNvPr>
              <p:cNvSpPr/>
              <p:nvPr/>
            </p:nvSpPr>
            <p:spPr>
              <a:xfrm>
                <a:off x="1936853" y="5028628"/>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17" name="Google Shape;6708;g2d30ebb658d_0_19789">
                <a:extLst>
                  <a:ext uri="{FF2B5EF4-FFF2-40B4-BE49-F238E27FC236}">
                    <a16:creationId xmlns:a16="http://schemas.microsoft.com/office/drawing/2014/main" id="{BAF50F51-3CD1-E4E6-75A2-E84D12231A4F}"/>
                  </a:ext>
                </a:extLst>
              </p:cNvPr>
              <p:cNvSpPr>
                <a:spLocks noChangeAspect="1"/>
              </p:cNvSpPr>
              <p:nvPr/>
            </p:nvSpPr>
            <p:spPr>
              <a:xfrm>
                <a:off x="3185652" y="5180147"/>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18" name="Google Shape;6709;g2d30ebb658d_0_19789">
                <a:extLst>
                  <a:ext uri="{FF2B5EF4-FFF2-40B4-BE49-F238E27FC236}">
                    <a16:creationId xmlns:a16="http://schemas.microsoft.com/office/drawing/2014/main" id="{8F637709-08EB-CA03-F58E-410E219D715A}"/>
                  </a:ext>
                </a:extLst>
              </p:cNvPr>
              <p:cNvSpPr>
                <a:spLocks noChangeAspect="1"/>
              </p:cNvSpPr>
              <p:nvPr/>
            </p:nvSpPr>
            <p:spPr>
              <a:xfrm>
                <a:off x="3234550" y="5229519"/>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19" name="Google Shape;6711;g2d30ebb658d_0_19789">
                <a:extLst>
                  <a:ext uri="{FF2B5EF4-FFF2-40B4-BE49-F238E27FC236}">
                    <a16:creationId xmlns:a16="http://schemas.microsoft.com/office/drawing/2014/main" id="{B02806E0-A708-B5EE-007E-A6B02D63C07A}"/>
                  </a:ext>
                </a:extLst>
              </p:cNvPr>
              <p:cNvSpPr>
                <a:spLocks noChangeAspect="1"/>
              </p:cNvSpPr>
              <p:nvPr/>
            </p:nvSpPr>
            <p:spPr>
              <a:xfrm>
                <a:off x="2040732" y="5180028"/>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84" name="Google Shape;6712;g2d30ebb658d_0_19789">
                <a:extLst>
                  <a:ext uri="{FF2B5EF4-FFF2-40B4-BE49-F238E27FC236}">
                    <a16:creationId xmlns:a16="http://schemas.microsoft.com/office/drawing/2014/main" id="{AE30EF0C-8672-C015-8626-C636BA0437B3}"/>
                  </a:ext>
                </a:extLst>
              </p:cNvPr>
              <p:cNvSpPr>
                <a:spLocks noChangeAspect="1"/>
              </p:cNvSpPr>
              <p:nvPr/>
            </p:nvSpPr>
            <p:spPr>
              <a:xfrm>
                <a:off x="2094842" y="5244738"/>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85" name="Google Shape;6714;g2d30ebb658d_0_19789">
                <a:extLst>
                  <a:ext uri="{FF2B5EF4-FFF2-40B4-BE49-F238E27FC236}">
                    <a16:creationId xmlns:a16="http://schemas.microsoft.com/office/drawing/2014/main" id="{6717FB2B-B0E6-CC1C-CDA3-A3B5D132AC97}"/>
                  </a:ext>
                </a:extLst>
              </p:cNvPr>
              <p:cNvSpPr>
                <a:spLocks noChangeAspect="1"/>
              </p:cNvSpPr>
              <p:nvPr/>
            </p:nvSpPr>
            <p:spPr>
              <a:xfrm>
                <a:off x="2609100" y="5180029"/>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86" name="Google Shape;6715;g2d30ebb658d_0_19789">
                <a:extLst>
                  <a:ext uri="{FF2B5EF4-FFF2-40B4-BE49-F238E27FC236}">
                    <a16:creationId xmlns:a16="http://schemas.microsoft.com/office/drawing/2014/main" id="{C3943616-9DE5-34C8-1D02-9254A066156F}"/>
                  </a:ext>
                </a:extLst>
              </p:cNvPr>
              <p:cNvSpPr>
                <a:spLocks noChangeAspect="1"/>
              </p:cNvSpPr>
              <p:nvPr/>
            </p:nvSpPr>
            <p:spPr>
              <a:xfrm>
                <a:off x="2679247" y="5233033"/>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87" name="Google Shape;6704;g2d30ebb658d_0_19789">
                <a:extLst>
                  <a:ext uri="{FF2B5EF4-FFF2-40B4-BE49-F238E27FC236}">
                    <a16:creationId xmlns:a16="http://schemas.microsoft.com/office/drawing/2014/main" id="{930F8C38-9072-650C-B1D7-8C11B2203323}"/>
                  </a:ext>
                </a:extLst>
              </p:cNvPr>
              <p:cNvSpPr/>
              <p:nvPr/>
            </p:nvSpPr>
            <p:spPr>
              <a:xfrm>
                <a:off x="1971964" y="4103875"/>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88" name="TextBox 387">
                <a:extLst>
                  <a:ext uri="{FF2B5EF4-FFF2-40B4-BE49-F238E27FC236}">
                    <a16:creationId xmlns:a16="http://schemas.microsoft.com/office/drawing/2014/main" id="{F5BCB19D-9BC2-0AA7-7DD7-011FF4C765A4}"/>
                  </a:ext>
                </a:extLst>
              </p:cNvPr>
              <p:cNvSpPr txBox="1"/>
              <p:nvPr/>
            </p:nvSpPr>
            <p:spPr>
              <a:xfrm>
                <a:off x="2389096" y="5052318"/>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89" name="Google Shape;6678;g2d30ebb658d_0_19789">
                <a:extLst>
                  <a:ext uri="{FF2B5EF4-FFF2-40B4-BE49-F238E27FC236}">
                    <a16:creationId xmlns:a16="http://schemas.microsoft.com/office/drawing/2014/main" id="{96B0324A-998F-7590-1C7A-66EB7898CA7E}"/>
                  </a:ext>
                </a:extLst>
              </p:cNvPr>
              <p:cNvSpPr/>
              <p:nvPr/>
            </p:nvSpPr>
            <p:spPr>
              <a:xfrm>
                <a:off x="2199465" y="4581159"/>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90" name="Google Shape;6678;g2d30ebb658d_0_19789">
                <a:extLst>
                  <a:ext uri="{FF2B5EF4-FFF2-40B4-BE49-F238E27FC236}">
                    <a16:creationId xmlns:a16="http://schemas.microsoft.com/office/drawing/2014/main" id="{F9C7AF6F-7B37-AAAF-6D1B-F4048B40AD24}"/>
                  </a:ext>
                </a:extLst>
              </p:cNvPr>
              <p:cNvSpPr/>
              <p:nvPr/>
            </p:nvSpPr>
            <p:spPr>
              <a:xfrm>
                <a:off x="2203178" y="4390517"/>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91" name="Google Shape;6678;g2d30ebb658d_0_19789">
                <a:extLst>
                  <a:ext uri="{FF2B5EF4-FFF2-40B4-BE49-F238E27FC236}">
                    <a16:creationId xmlns:a16="http://schemas.microsoft.com/office/drawing/2014/main" id="{6A669BC6-E1AA-8AB0-4259-6CC1AADCC025}"/>
                  </a:ext>
                </a:extLst>
              </p:cNvPr>
              <p:cNvSpPr/>
              <p:nvPr/>
            </p:nvSpPr>
            <p:spPr>
              <a:xfrm>
                <a:off x="2442655" y="477712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392" name="Google Shape;6678;g2d30ebb658d_0_19789">
                <a:extLst>
                  <a:ext uri="{FF2B5EF4-FFF2-40B4-BE49-F238E27FC236}">
                    <a16:creationId xmlns:a16="http://schemas.microsoft.com/office/drawing/2014/main" id="{AD433696-4CAE-E8BC-8276-AB52DE5F77EA}"/>
                  </a:ext>
                </a:extLst>
              </p:cNvPr>
              <p:cNvSpPr/>
              <p:nvPr/>
            </p:nvSpPr>
            <p:spPr>
              <a:xfrm>
                <a:off x="2380371" y="482220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5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5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393" name="TextBox 392">
              <a:extLst>
                <a:ext uri="{FF2B5EF4-FFF2-40B4-BE49-F238E27FC236}">
                  <a16:creationId xmlns:a16="http://schemas.microsoft.com/office/drawing/2014/main" id="{09AC75FF-8D5D-1942-B8EC-8A04404E863A}"/>
                </a:ext>
              </a:extLst>
            </p:cNvPr>
            <p:cNvSpPr txBox="1"/>
            <p:nvPr/>
          </p:nvSpPr>
          <p:spPr>
            <a:xfrm>
              <a:off x="10135636" y="6031366"/>
              <a:ext cx="153888" cy="276999"/>
            </a:xfrm>
            <a:prstGeom prst="rect">
              <a:avLst/>
            </a:prstGeom>
            <a:noFill/>
          </p:spPr>
          <p:txBody>
            <a:bodyPr wrap="none" lIns="0" tIns="0" rIns="0" bIns="0" rtlCol="0">
              <a:spAutoFit/>
            </a:bodyPr>
            <a:lstStyle/>
            <a:p>
              <a:pPr algn="l"/>
              <a:r>
                <a:rPr lang="en-US" sz="1800" dirty="0">
                  <a:solidFill>
                    <a:schemeClr val="tx2"/>
                  </a:solidFill>
                </a:rPr>
                <a:t>A</a:t>
              </a:r>
            </a:p>
          </p:txBody>
        </p:sp>
        <p:sp>
          <p:nvSpPr>
            <p:cNvPr id="395" name="TextBox 394">
              <a:extLst>
                <a:ext uri="{FF2B5EF4-FFF2-40B4-BE49-F238E27FC236}">
                  <a16:creationId xmlns:a16="http://schemas.microsoft.com/office/drawing/2014/main" id="{BF52068D-3909-824B-3554-3BC99267BF7E}"/>
                </a:ext>
              </a:extLst>
            </p:cNvPr>
            <p:cNvSpPr txBox="1"/>
            <p:nvPr/>
          </p:nvSpPr>
          <p:spPr>
            <a:xfrm>
              <a:off x="11321928" y="6031365"/>
              <a:ext cx="166712" cy="276999"/>
            </a:xfrm>
            <a:prstGeom prst="rect">
              <a:avLst/>
            </a:prstGeom>
            <a:noFill/>
          </p:spPr>
          <p:txBody>
            <a:bodyPr wrap="none" lIns="0" tIns="0" rIns="0" bIns="0" rtlCol="0">
              <a:spAutoFit/>
            </a:bodyPr>
            <a:lstStyle/>
            <a:p>
              <a:pPr algn="l"/>
              <a:r>
                <a:rPr lang="en-US" dirty="0">
                  <a:solidFill>
                    <a:schemeClr val="tx2"/>
                  </a:solidFill>
                </a:rPr>
                <a:t>C</a:t>
              </a:r>
              <a:endParaRPr lang="en-US" sz="1800" dirty="0">
                <a:solidFill>
                  <a:schemeClr val="tx2"/>
                </a:solidFill>
              </a:endParaRPr>
            </a:p>
          </p:txBody>
        </p:sp>
      </p:grpSp>
      <p:grpSp>
        <p:nvGrpSpPr>
          <p:cNvPr id="5" name="Group 4">
            <a:extLst>
              <a:ext uri="{FF2B5EF4-FFF2-40B4-BE49-F238E27FC236}">
                <a16:creationId xmlns:a16="http://schemas.microsoft.com/office/drawing/2014/main" id="{B78AE87C-796C-10DF-057D-6BA1C0091A14}"/>
              </a:ext>
            </a:extLst>
          </p:cNvPr>
          <p:cNvGrpSpPr/>
          <p:nvPr/>
        </p:nvGrpSpPr>
        <p:grpSpPr>
          <a:xfrm>
            <a:off x="9556323" y="1315387"/>
            <a:ext cx="2536617" cy="5326419"/>
            <a:chOff x="9556323" y="1315387"/>
            <a:chExt cx="2536617" cy="5326419"/>
          </a:xfrm>
        </p:grpSpPr>
        <p:sp>
          <p:nvSpPr>
            <p:cNvPr id="510" name="Rounded Rectangle 509">
              <a:extLst>
                <a:ext uri="{FF2B5EF4-FFF2-40B4-BE49-F238E27FC236}">
                  <a16:creationId xmlns:a16="http://schemas.microsoft.com/office/drawing/2014/main" id="{F2D6D938-DD75-A926-9648-88D96A5F7557}"/>
                </a:ext>
              </a:extLst>
            </p:cNvPr>
            <p:cNvSpPr/>
            <p:nvPr/>
          </p:nvSpPr>
          <p:spPr bwMode="gray">
            <a:xfrm>
              <a:off x="9561637" y="1315387"/>
              <a:ext cx="2531303" cy="45911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506" name="TextBox 505">
              <a:extLst>
                <a:ext uri="{FF2B5EF4-FFF2-40B4-BE49-F238E27FC236}">
                  <a16:creationId xmlns:a16="http://schemas.microsoft.com/office/drawing/2014/main" id="{4BFF206C-31DB-F448-3850-B49DF7C4DA69}"/>
                </a:ext>
              </a:extLst>
            </p:cNvPr>
            <p:cNvSpPr txBox="1"/>
            <p:nvPr/>
          </p:nvSpPr>
          <p:spPr>
            <a:xfrm>
              <a:off x="9661338" y="1408750"/>
              <a:ext cx="2338782" cy="307777"/>
            </a:xfrm>
            <a:prstGeom prst="rect">
              <a:avLst/>
            </a:prstGeom>
            <a:noFill/>
          </p:spPr>
          <p:txBody>
            <a:bodyPr wrap="none" lIns="0" tIns="0" rIns="0" bIns="0" rtlCol="0">
              <a:spAutoFit/>
            </a:bodyPr>
            <a:lstStyle/>
            <a:p>
              <a:pPr algn="l"/>
              <a:r>
                <a:rPr lang="en-US" sz="2000" dirty="0">
                  <a:solidFill>
                    <a:schemeClr val="bg1"/>
                  </a:solidFill>
                </a:rPr>
                <a:t>Converge VCF Fleet</a:t>
              </a:r>
            </a:p>
          </p:txBody>
        </p:sp>
        <p:sp>
          <p:nvSpPr>
            <p:cNvPr id="153" name="Google Shape;6678;g2d30ebb658d_0_19789">
              <a:extLst>
                <a:ext uri="{FF2B5EF4-FFF2-40B4-BE49-F238E27FC236}">
                  <a16:creationId xmlns:a16="http://schemas.microsoft.com/office/drawing/2014/main" id="{144C5789-15AE-AA52-215D-920A26D03633}"/>
                </a:ext>
              </a:extLst>
            </p:cNvPr>
            <p:cNvSpPr/>
            <p:nvPr/>
          </p:nvSpPr>
          <p:spPr>
            <a:xfrm>
              <a:off x="9556323" y="1895580"/>
              <a:ext cx="2531303" cy="4746226"/>
            </a:xfrm>
            <a:prstGeom prst="roundRect">
              <a:avLst>
                <a:gd name="adj" fmla="val 2356"/>
              </a:avLst>
            </a:prstGeom>
            <a:solidFill>
              <a:schemeClr val="accent3">
                <a:alpha val="10000"/>
              </a:schemeClr>
            </a:solidFill>
            <a:ln w="9525">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4" name="TextBox 153">
              <a:extLst>
                <a:ext uri="{FF2B5EF4-FFF2-40B4-BE49-F238E27FC236}">
                  <a16:creationId xmlns:a16="http://schemas.microsoft.com/office/drawing/2014/main" id="{57BE9407-DA5E-B7D1-2FF8-A990C67DB745}"/>
                </a:ext>
              </a:extLst>
            </p:cNvPr>
            <p:cNvSpPr txBox="1"/>
            <p:nvPr/>
          </p:nvSpPr>
          <p:spPr>
            <a:xfrm>
              <a:off x="10530934" y="1936328"/>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249" name="Google Shape;6678;g2d30ebb658d_0_19789">
              <a:extLst>
                <a:ext uri="{FF2B5EF4-FFF2-40B4-BE49-F238E27FC236}">
                  <a16:creationId xmlns:a16="http://schemas.microsoft.com/office/drawing/2014/main" id="{F041DBD6-3603-E5B9-448D-6762F129B757}"/>
                </a:ext>
              </a:extLst>
            </p:cNvPr>
            <p:cNvSpPr/>
            <p:nvPr/>
          </p:nvSpPr>
          <p:spPr>
            <a:xfrm>
              <a:off x="9848901" y="2603484"/>
              <a:ext cx="1909145" cy="214980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67" name="Google Shape;6678;g2d30ebb658d_0_19789">
              <a:extLst>
                <a:ext uri="{FF2B5EF4-FFF2-40B4-BE49-F238E27FC236}">
                  <a16:creationId xmlns:a16="http://schemas.microsoft.com/office/drawing/2014/main" id="{8AAA09B6-D61D-98FC-A0BA-919D3AD89856}"/>
                </a:ext>
              </a:extLst>
            </p:cNvPr>
            <p:cNvSpPr/>
            <p:nvPr/>
          </p:nvSpPr>
          <p:spPr>
            <a:xfrm>
              <a:off x="9916621" y="2880321"/>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68" name="Google Shape;6705;g2d30ebb658d_0_19789">
              <a:extLst>
                <a:ext uri="{FF2B5EF4-FFF2-40B4-BE49-F238E27FC236}">
                  <a16:creationId xmlns:a16="http://schemas.microsoft.com/office/drawing/2014/main" id="{C4E90C54-D5D0-1618-698E-D6485D8A3A7E}"/>
                </a:ext>
              </a:extLst>
            </p:cNvPr>
            <p:cNvSpPr/>
            <p:nvPr/>
          </p:nvSpPr>
          <p:spPr>
            <a:xfrm>
              <a:off x="9967124" y="4056297"/>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69" name="Google Shape;6708;g2d30ebb658d_0_19789">
              <a:extLst>
                <a:ext uri="{FF2B5EF4-FFF2-40B4-BE49-F238E27FC236}">
                  <a16:creationId xmlns:a16="http://schemas.microsoft.com/office/drawing/2014/main" id="{7595DB06-60C0-DC0C-599E-653E745D2F4D}"/>
                </a:ext>
              </a:extLst>
            </p:cNvPr>
            <p:cNvSpPr>
              <a:spLocks noChangeAspect="1"/>
            </p:cNvSpPr>
            <p:nvPr/>
          </p:nvSpPr>
          <p:spPr>
            <a:xfrm>
              <a:off x="11215923" y="4207816"/>
              <a:ext cx="283155" cy="283154"/>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70" name="Google Shape;6709;g2d30ebb658d_0_19789">
              <a:extLst>
                <a:ext uri="{FF2B5EF4-FFF2-40B4-BE49-F238E27FC236}">
                  <a16:creationId xmlns:a16="http://schemas.microsoft.com/office/drawing/2014/main" id="{641A7838-904B-FC9F-1B66-0534DDC67155}"/>
                </a:ext>
              </a:extLst>
            </p:cNvPr>
            <p:cNvSpPr>
              <a:spLocks noChangeAspect="1"/>
            </p:cNvSpPr>
            <p:nvPr/>
          </p:nvSpPr>
          <p:spPr>
            <a:xfrm>
              <a:off x="11264821" y="4257188"/>
              <a:ext cx="186824" cy="186823"/>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71" name="Google Shape;6711;g2d30ebb658d_0_19789">
              <a:extLst>
                <a:ext uri="{FF2B5EF4-FFF2-40B4-BE49-F238E27FC236}">
                  <a16:creationId xmlns:a16="http://schemas.microsoft.com/office/drawing/2014/main" id="{416E0400-99FD-3631-2209-A3CA16C46F46}"/>
                </a:ext>
              </a:extLst>
            </p:cNvPr>
            <p:cNvSpPr>
              <a:spLocks noChangeAspect="1"/>
            </p:cNvSpPr>
            <p:nvPr/>
          </p:nvSpPr>
          <p:spPr>
            <a:xfrm>
              <a:off x="10071003" y="4207697"/>
              <a:ext cx="283155" cy="283154"/>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72" name="Google Shape;6712;g2d30ebb658d_0_19789">
              <a:extLst>
                <a:ext uri="{FF2B5EF4-FFF2-40B4-BE49-F238E27FC236}">
                  <a16:creationId xmlns:a16="http://schemas.microsoft.com/office/drawing/2014/main" id="{E4F70098-70DB-13F0-DD80-EE45E03EB5E1}"/>
                </a:ext>
              </a:extLst>
            </p:cNvPr>
            <p:cNvSpPr>
              <a:spLocks noChangeAspect="1"/>
            </p:cNvSpPr>
            <p:nvPr/>
          </p:nvSpPr>
          <p:spPr>
            <a:xfrm>
              <a:off x="10125113" y="4272407"/>
              <a:ext cx="176364" cy="160767"/>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73" name="Google Shape;6714;g2d30ebb658d_0_19789">
              <a:extLst>
                <a:ext uri="{FF2B5EF4-FFF2-40B4-BE49-F238E27FC236}">
                  <a16:creationId xmlns:a16="http://schemas.microsoft.com/office/drawing/2014/main" id="{F2EA0158-6847-04B8-25FA-B927FD89C5E7}"/>
                </a:ext>
              </a:extLst>
            </p:cNvPr>
            <p:cNvSpPr>
              <a:spLocks noChangeAspect="1"/>
            </p:cNvSpPr>
            <p:nvPr/>
          </p:nvSpPr>
          <p:spPr>
            <a:xfrm>
              <a:off x="10639371" y="4207698"/>
              <a:ext cx="283155" cy="283154"/>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74" name="Google Shape;6715;g2d30ebb658d_0_19789">
              <a:extLst>
                <a:ext uri="{FF2B5EF4-FFF2-40B4-BE49-F238E27FC236}">
                  <a16:creationId xmlns:a16="http://schemas.microsoft.com/office/drawing/2014/main" id="{48E3319D-E17F-D3C8-27F6-D30E2EABAB59}"/>
                </a:ext>
              </a:extLst>
            </p:cNvPr>
            <p:cNvSpPr>
              <a:spLocks noChangeAspect="1"/>
            </p:cNvSpPr>
            <p:nvPr/>
          </p:nvSpPr>
          <p:spPr>
            <a:xfrm>
              <a:off x="10709518" y="4260702"/>
              <a:ext cx="152795" cy="178019"/>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75" name="Google Shape;6704;g2d30ebb658d_0_19789">
              <a:extLst>
                <a:ext uri="{FF2B5EF4-FFF2-40B4-BE49-F238E27FC236}">
                  <a16:creationId xmlns:a16="http://schemas.microsoft.com/office/drawing/2014/main" id="{12B4BE76-1B68-8D38-7D8C-525A79068120}"/>
                </a:ext>
              </a:extLst>
            </p:cNvPr>
            <p:cNvSpPr/>
            <p:nvPr/>
          </p:nvSpPr>
          <p:spPr>
            <a:xfrm>
              <a:off x="10002235" y="2941047"/>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Workload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76" name="TextBox 275">
              <a:extLst>
                <a:ext uri="{FF2B5EF4-FFF2-40B4-BE49-F238E27FC236}">
                  <a16:creationId xmlns:a16="http://schemas.microsoft.com/office/drawing/2014/main" id="{42AD7E11-B6EF-73B0-C97A-696B60303A21}"/>
                </a:ext>
              </a:extLst>
            </p:cNvPr>
            <p:cNvSpPr txBox="1"/>
            <p:nvPr/>
          </p:nvSpPr>
          <p:spPr>
            <a:xfrm>
              <a:off x="10419367" y="4079987"/>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277" name="Google Shape;6705;g2d30ebb658d_0_19789">
              <a:extLst>
                <a:ext uri="{FF2B5EF4-FFF2-40B4-BE49-F238E27FC236}">
                  <a16:creationId xmlns:a16="http://schemas.microsoft.com/office/drawing/2014/main" id="{895DB20E-02AE-7C7D-16AA-BEF95D74FF1B}"/>
                </a:ext>
              </a:extLst>
            </p:cNvPr>
            <p:cNvSpPr/>
            <p:nvPr/>
          </p:nvSpPr>
          <p:spPr>
            <a:xfrm>
              <a:off x="10233449" y="3193930"/>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78" name="Google Shape;6678;g2d30ebb658d_0_19789">
              <a:extLst>
                <a:ext uri="{FF2B5EF4-FFF2-40B4-BE49-F238E27FC236}">
                  <a16:creationId xmlns:a16="http://schemas.microsoft.com/office/drawing/2014/main" id="{5252D88C-E809-B97C-5B2D-DE85CB7F77FA}"/>
                </a:ext>
              </a:extLst>
            </p:cNvPr>
            <p:cNvSpPr/>
            <p:nvPr/>
          </p:nvSpPr>
          <p:spPr>
            <a:xfrm>
              <a:off x="10484307" y="3792425"/>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279" name="Google Shape;6678;g2d30ebb658d_0_19789">
              <a:extLst>
                <a:ext uri="{FF2B5EF4-FFF2-40B4-BE49-F238E27FC236}">
                  <a16:creationId xmlns:a16="http://schemas.microsoft.com/office/drawing/2014/main" id="{60363F98-6DB8-CFB9-8A1A-2E6FF0163F88}"/>
                </a:ext>
              </a:extLst>
            </p:cNvPr>
            <p:cNvSpPr/>
            <p:nvPr/>
          </p:nvSpPr>
          <p:spPr>
            <a:xfrm>
              <a:off x="10233449" y="3395741"/>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80" name="TextBox 279">
              <a:extLst>
                <a:ext uri="{FF2B5EF4-FFF2-40B4-BE49-F238E27FC236}">
                  <a16:creationId xmlns:a16="http://schemas.microsoft.com/office/drawing/2014/main" id="{FA101AA8-BB3A-9609-DCD4-6ED687FB7860}"/>
                </a:ext>
              </a:extLst>
            </p:cNvPr>
            <p:cNvSpPr txBox="1"/>
            <p:nvPr/>
          </p:nvSpPr>
          <p:spPr>
            <a:xfrm>
              <a:off x="10526838" y="2679608"/>
              <a:ext cx="878446"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 1</a:t>
              </a:r>
            </a:p>
          </p:txBody>
        </p:sp>
        <p:sp>
          <p:nvSpPr>
            <p:cNvPr id="281" name="Google Shape;6705;g2d30ebb658d_0_19789">
              <a:extLst>
                <a:ext uri="{FF2B5EF4-FFF2-40B4-BE49-F238E27FC236}">
                  <a16:creationId xmlns:a16="http://schemas.microsoft.com/office/drawing/2014/main" id="{F4C96E25-D60E-7EE0-A488-B263D9FA26F4}"/>
                </a:ext>
              </a:extLst>
            </p:cNvPr>
            <p:cNvSpPr/>
            <p:nvPr/>
          </p:nvSpPr>
          <p:spPr>
            <a:xfrm>
              <a:off x="10233449" y="3591839"/>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82" name="Google Shape;6678;g2d30ebb658d_0_19789">
              <a:extLst>
                <a:ext uri="{FF2B5EF4-FFF2-40B4-BE49-F238E27FC236}">
                  <a16:creationId xmlns:a16="http://schemas.microsoft.com/office/drawing/2014/main" id="{9C86E0C9-3A34-DBEC-DF77-9A102808F1CD}"/>
                </a:ext>
              </a:extLst>
            </p:cNvPr>
            <p:cNvSpPr/>
            <p:nvPr/>
          </p:nvSpPr>
          <p:spPr>
            <a:xfrm>
              <a:off x="10422023" y="3837507"/>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pic>
          <p:nvPicPr>
            <p:cNvPr id="283" name="Google Shape;6699;p92">
              <a:extLst>
                <a:ext uri="{FF2B5EF4-FFF2-40B4-BE49-F238E27FC236}">
                  <a16:creationId xmlns:a16="http://schemas.microsoft.com/office/drawing/2014/main" id="{2F0D6B11-5856-5204-649B-634E7861A72F}"/>
                </a:ext>
              </a:extLst>
            </p:cNvPr>
            <p:cNvPicPr preferRelativeResize="0">
              <a:picLocks noChangeAspect="1"/>
            </p:cNvPicPr>
            <p:nvPr/>
          </p:nvPicPr>
          <p:blipFill rotWithShape="1">
            <a:blip r:embed="rId3">
              <a:alphaModFix/>
            </a:blip>
            <a:srcRect/>
            <a:stretch/>
          </p:blipFill>
          <p:spPr>
            <a:xfrm>
              <a:off x="10249294" y="2637262"/>
              <a:ext cx="220483" cy="220483"/>
            </a:xfrm>
            <a:prstGeom prst="rect">
              <a:avLst/>
            </a:prstGeom>
            <a:noFill/>
            <a:ln>
              <a:noFill/>
            </a:ln>
          </p:spPr>
        </p:pic>
        <p:sp>
          <p:nvSpPr>
            <p:cNvPr id="284" name="Google Shape;6705;g2d30ebb658d_0_19789">
              <a:extLst>
                <a:ext uri="{FF2B5EF4-FFF2-40B4-BE49-F238E27FC236}">
                  <a16:creationId xmlns:a16="http://schemas.microsoft.com/office/drawing/2014/main" id="{0146207D-51A9-92A0-3553-64611E9A6D0F}"/>
                </a:ext>
              </a:extLst>
            </p:cNvPr>
            <p:cNvSpPr/>
            <p:nvPr/>
          </p:nvSpPr>
          <p:spPr>
            <a:xfrm>
              <a:off x="9848901" y="2358879"/>
              <a:ext cx="1909145" cy="1468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285" name="Google Shape;6705;g2d30ebb658d_0_19789">
              <a:extLst>
                <a:ext uri="{FF2B5EF4-FFF2-40B4-BE49-F238E27FC236}">
                  <a16:creationId xmlns:a16="http://schemas.microsoft.com/office/drawing/2014/main" id="{E7D1878F-78A5-073C-36D7-DCF7417D0DFF}"/>
                </a:ext>
              </a:extLst>
            </p:cNvPr>
            <p:cNvSpPr/>
            <p:nvPr/>
          </p:nvSpPr>
          <p:spPr>
            <a:xfrm>
              <a:off x="9852365" y="2164111"/>
              <a:ext cx="1906928" cy="139628"/>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396" name="TextBox 395">
              <a:extLst>
                <a:ext uri="{FF2B5EF4-FFF2-40B4-BE49-F238E27FC236}">
                  <a16:creationId xmlns:a16="http://schemas.microsoft.com/office/drawing/2014/main" id="{49EEE13E-4263-60DF-588D-E7A4B6ABC0B2}"/>
                </a:ext>
              </a:extLst>
            </p:cNvPr>
            <p:cNvSpPr txBox="1"/>
            <p:nvPr/>
          </p:nvSpPr>
          <p:spPr>
            <a:xfrm>
              <a:off x="9636318" y="3518128"/>
              <a:ext cx="153888" cy="276999"/>
            </a:xfrm>
            <a:prstGeom prst="rect">
              <a:avLst/>
            </a:prstGeom>
            <a:noFill/>
          </p:spPr>
          <p:txBody>
            <a:bodyPr wrap="none" lIns="0" tIns="0" rIns="0" bIns="0" rtlCol="0">
              <a:spAutoFit/>
            </a:bodyPr>
            <a:lstStyle/>
            <a:p>
              <a:pPr algn="l"/>
              <a:r>
                <a:rPr lang="en-US" sz="1800" dirty="0">
                  <a:solidFill>
                    <a:schemeClr val="tx2"/>
                  </a:solidFill>
                </a:rPr>
                <a:t>B</a:t>
              </a:r>
            </a:p>
          </p:txBody>
        </p:sp>
      </p:grpSp>
      <p:grpSp>
        <p:nvGrpSpPr>
          <p:cNvPr id="2" name="Group 1">
            <a:extLst>
              <a:ext uri="{FF2B5EF4-FFF2-40B4-BE49-F238E27FC236}">
                <a16:creationId xmlns:a16="http://schemas.microsoft.com/office/drawing/2014/main" id="{5865EBBD-0700-C7EA-F880-E6FA8A63E60F}"/>
              </a:ext>
            </a:extLst>
          </p:cNvPr>
          <p:cNvGrpSpPr/>
          <p:nvPr/>
        </p:nvGrpSpPr>
        <p:grpSpPr>
          <a:xfrm>
            <a:off x="3521380" y="1315839"/>
            <a:ext cx="2739266" cy="3123365"/>
            <a:chOff x="3521380" y="1315839"/>
            <a:chExt cx="2739266" cy="3123365"/>
          </a:xfrm>
        </p:grpSpPr>
        <p:sp>
          <p:nvSpPr>
            <p:cNvPr id="509" name="Rounded Rectangle 508">
              <a:extLst>
                <a:ext uri="{FF2B5EF4-FFF2-40B4-BE49-F238E27FC236}">
                  <a16:creationId xmlns:a16="http://schemas.microsoft.com/office/drawing/2014/main" id="{78185CC8-8350-81A7-7792-D7077D21468C}"/>
                </a:ext>
              </a:extLst>
            </p:cNvPr>
            <p:cNvSpPr/>
            <p:nvPr/>
          </p:nvSpPr>
          <p:spPr bwMode="gray">
            <a:xfrm>
              <a:off x="3528060" y="1315839"/>
              <a:ext cx="2476500" cy="45911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505" name="TextBox 504">
              <a:extLst>
                <a:ext uri="{FF2B5EF4-FFF2-40B4-BE49-F238E27FC236}">
                  <a16:creationId xmlns:a16="http://schemas.microsoft.com/office/drawing/2014/main" id="{07601536-61B2-5049-971D-0D716D6B2272}"/>
                </a:ext>
              </a:extLst>
            </p:cNvPr>
            <p:cNvSpPr txBox="1"/>
            <p:nvPr/>
          </p:nvSpPr>
          <p:spPr>
            <a:xfrm>
              <a:off x="3675268" y="1395363"/>
              <a:ext cx="2209195" cy="307777"/>
            </a:xfrm>
            <a:prstGeom prst="rect">
              <a:avLst/>
            </a:prstGeom>
            <a:noFill/>
          </p:spPr>
          <p:txBody>
            <a:bodyPr wrap="none" lIns="0" tIns="0" rIns="0" bIns="0" rtlCol="0">
              <a:spAutoFit/>
            </a:bodyPr>
            <a:lstStyle/>
            <a:p>
              <a:pPr algn="l"/>
              <a:r>
                <a:rPr lang="en-US" sz="2000" dirty="0">
                  <a:solidFill>
                    <a:schemeClr val="bg1"/>
                  </a:solidFill>
                </a:rPr>
                <a:t>Verify Prerequisites</a:t>
              </a:r>
            </a:p>
          </p:txBody>
        </p:sp>
        <p:grpSp>
          <p:nvGrpSpPr>
            <p:cNvPr id="46" name="Group 45">
              <a:extLst>
                <a:ext uri="{FF2B5EF4-FFF2-40B4-BE49-F238E27FC236}">
                  <a16:creationId xmlns:a16="http://schemas.microsoft.com/office/drawing/2014/main" id="{8303D9A4-9284-663D-70A7-74FAB7ED8C07}"/>
                </a:ext>
              </a:extLst>
            </p:cNvPr>
            <p:cNvGrpSpPr/>
            <p:nvPr/>
          </p:nvGrpSpPr>
          <p:grpSpPr>
            <a:xfrm>
              <a:off x="3771087" y="3331895"/>
              <a:ext cx="1769718" cy="1107309"/>
              <a:chOff x="796834" y="2911194"/>
              <a:chExt cx="1769718" cy="1107309"/>
            </a:xfrm>
          </p:grpSpPr>
          <p:sp>
            <p:nvSpPr>
              <p:cNvPr id="47" name="Google Shape;6678;g2d30ebb658d_0_19789">
                <a:extLst>
                  <a:ext uri="{FF2B5EF4-FFF2-40B4-BE49-F238E27FC236}">
                    <a16:creationId xmlns:a16="http://schemas.microsoft.com/office/drawing/2014/main" id="{B3320754-50EC-B20A-A57B-C54939CF9F0E}"/>
                  </a:ext>
                </a:extLst>
              </p:cNvPr>
              <p:cNvSpPr/>
              <p:nvPr/>
            </p:nvSpPr>
            <p:spPr>
              <a:xfrm>
                <a:off x="796834" y="2911194"/>
                <a:ext cx="1769718" cy="1107309"/>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8" name="Google Shape;6705;g2d30ebb658d_0_19789">
                <a:extLst>
                  <a:ext uri="{FF2B5EF4-FFF2-40B4-BE49-F238E27FC236}">
                    <a16:creationId xmlns:a16="http://schemas.microsoft.com/office/drawing/2014/main" id="{35618440-48BD-3E4D-DB1A-C98F060FBFE1}"/>
                  </a:ext>
                </a:extLst>
              </p:cNvPr>
              <p:cNvSpPr/>
              <p:nvPr/>
            </p:nvSpPr>
            <p:spPr>
              <a:xfrm>
                <a:off x="847337" y="3457374"/>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49" name="Google Shape;6707;g2d30ebb658d_0_19789">
                <a:extLst>
                  <a:ext uri="{FF2B5EF4-FFF2-40B4-BE49-F238E27FC236}">
                    <a16:creationId xmlns:a16="http://schemas.microsoft.com/office/drawing/2014/main" id="{FB8AA236-2424-76A9-CA57-6DC546809719}"/>
                  </a:ext>
                </a:extLst>
              </p:cNvPr>
              <p:cNvGrpSpPr/>
              <p:nvPr/>
            </p:nvGrpSpPr>
            <p:grpSpPr>
              <a:xfrm>
                <a:off x="2096136" y="3608893"/>
                <a:ext cx="283155" cy="283154"/>
                <a:chOff x="10722212" y="2729558"/>
                <a:chExt cx="663407" cy="663407"/>
              </a:xfrm>
            </p:grpSpPr>
            <p:sp>
              <p:nvSpPr>
                <p:cNvPr id="60" name="Google Shape;6708;g2d30ebb658d_0_19789">
                  <a:extLst>
                    <a:ext uri="{FF2B5EF4-FFF2-40B4-BE49-F238E27FC236}">
                      <a16:creationId xmlns:a16="http://schemas.microsoft.com/office/drawing/2014/main" id="{A6E4077D-7248-9522-27C2-B2F420ED53D1}"/>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1" name="Google Shape;6709;g2d30ebb658d_0_19789">
                  <a:extLst>
                    <a:ext uri="{FF2B5EF4-FFF2-40B4-BE49-F238E27FC236}">
                      <a16:creationId xmlns:a16="http://schemas.microsoft.com/office/drawing/2014/main" id="{D3C39A2D-B45C-CC22-4F12-20AA482B4291}"/>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50" name="Google Shape;6710;g2d30ebb658d_0_19789">
                <a:extLst>
                  <a:ext uri="{FF2B5EF4-FFF2-40B4-BE49-F238E27FC236}">
                    <a16:creationId xmlns:a16="http://schemas.microsoft.com/office/drawing/2014/main" id="{A78605A8-CD8D-5153-0611-8BE6A15873BF}"/>
                  </a:ext>
                </a:extLst>
              </p:cNvPr>
              <p:cNvGrpSpPr/>
              <p:nvPr/>
            </p:nvGrpSpPr>
            <p:grpSpPr>
              <a:xfrm>
                <a:off x="951216" y="3608774"/>
                <a:ext cx="283155" cy="283154"/>
                <a:chOff x="572541" y="5475121"/>
                <a:chExt cx="663407" cy="663407"/>
              </a:xfrm>
            </p:grpSpPr>
            <p:sp>
              <p:nvSpPr>
                <p:cNvPr id="58" name="Google Shape;6711;g2d30ebb658d_0_19789">
                  <a:extLst>
                    <a:ext uri="{FF2B5EF4-FFF2-40B4-BE49-F238E27FC236}">
                      <a16:creationId xmlns:a16="http://schemas.microsoft.com/office/drawing/2014/main" id="{709E43DB-546C-1320-F0CA-EF19D51C14C0}"/>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9" name="Google Shape;6712;g2d30ebb658d_0_19789">
                  <a:extLst>
                    <a:ext uri="{FF2B5EF4-FFF2-40B4-BE49-F238E27FC236}">
                      <a16:creationId xmlns:a16="http://schemas.microsoft.com/office/drawing/2014/main" id="{B1C93B5E-419C-3548-C8E2-9899261844E5}"/>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51" name="Google Shape;6713;g2d30ebb658d_0_19789">
                <a:extLst>
                  <a:ext uri="{FF2B5EF4-FFF2-40B4-BE49-F238E27FC236}">
                    <a16:creationId xmlns:a16="http://schemas.microsoft.com/office/drawing/2014/main" id="{BF677892-E6D5-E76A-37AF-A40FF4475F98}"/>
                  </a:ext>
                </a:extLst>
              </p:cNvPr>
              <p:cNvGrpSpPr/>
              <p:nvPr/>
            </p:nvGrpSpPr>
            <p:grpSpPr>
              <a:xfrm>
                <a:off x="1519584" y="3608775"/>
                <a:ext cx="283155" cy="283154"/>
                <a:chOff x="9272259" y="5475121"/>
                <a:chExt cx="663407" cy="663407"/>
              </a:xfrm>
            </p:grpSpPr>
            <p:sp>
              <p:nvSpPr>
                <p:cNvPr id="56" name="Google Shape;6714;g2d30ebb658d_0_19789">
                  <a:extLst>
                    <a:ext uri="{FF2B5EF4-FFF2-40B4-BE49-F238E27FC236}">
                      <a16:creationId xmlns:a16="http://schemas.microsoft.com/office/drawing/2014/main" id="{B0142DC6-1496-C9A3-516E-1265F09FADF0}"/>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7" name="Google Shape;6715;g2d30ebb658d_0_19789">
                  <a:extLst>
                    <a:ext uri="{FF2B5EF4-FFF2-40B4-BE49-F238E27FC236}">
                      <a16:creationId xmlns:a16="http://schemas.microsoft.com/office/drawing/2014/main" id="{FA1BC8D2-A752-392D-3F13-73B32AF97FF5}"/>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52" name="TextBox 51">
                <a:extLst>
                  <a:ext uri="{FF2B5EF4-FFF2-40B4-BE49-F238E27FC236}">
                    <a16:creationId xmlns:a16="http://schemas.microsoft.com/office/drawing/2014/main" id="{4801E7C9-EE3D-1E92-EDB4-32CB3F681B2C}"/>
                  </a:ext>
                </a:extLst>
              </p:cNvPr>
              <p:cNvSpPr txBox="1"/>
              <p:nvPr/>
            </p:nvSpPr>
            <p:spPr>
              <a:xfrm>
                <a:off x="1299580" y="3481064"/>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53" name="Google Shape;6705;g2d30ebb658d_0_19789">
                <a:extLst>
                  <a:ext uri="{FF2B5EF4-FFF2-40B4-BE49-F238E27FC236}">
                    <a16:creationId xmlns:a16="http://schemas.microsoft.com/office/drawing/2014/main" id="{1A5F61FC-411D-0D13-FC24-D3E0B2BAE252}"/>
                  </a:ext>
                </a:extLst>
              </p:cNvPr>
              <p:cNvSpPr/>
              <p:nvPr/>
            </p:nvSpPr>
            <p:spPr>
              <a:xfrm>
                <a:off x="1113662" y="2983627"/>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4" name="Google Shape;6678;g2d30ebb658d_0_19789">
                <a:extLst>
                  <a:ext uri="{FF2B5EF4-FFF2-40B4-BE49-F238E27FC236}">
                    <a16:creationId xmlns:a16="http://schemas.microsoft.com/office/drawing/2014/main" id="{E0CF96D9-4842-C79B-109B-E746DA41BC44}"/>
                  </a:ext>
                </a:extLst>
              </p:cNvPr>
              <p:cNvSpPr/>
              <p:nvPr/>
            </p:nvSpPr>
            <p:spPr>
              <a:xfrm>
                <a:off x="1364520" y="319350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55" name="Google Shape;6678;g2d30ebb658d_0_19789">
                <a:extLst>
                  <a:ext uri="{FF2B5EF4-FFF2-40B4-BE49-F238E27FC236}">
                    <a16:creationId xmlns:a16="http://schemas.microsoft.com/office/drawing/2014/main" id="{DE8DD97C-F520-6563-93F5-F29F7F9770DC}"/>
                  </a:ext>
                </a:extLst>
              </p:cNvPr>
              <p:cNvSpPr/>
              <p:nvPr/>
            </p:nvSpPr>
            <p:spPr>
              <a:xfrm>
                <a:off x="1302236" y="3238584"/>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62" name="TextBox 61">
              <a:extLst>
                <a:ext uri="{FF2B5EF4-FFF2-40B4-BE49-F238E27FC236}">
                  <a16:creationId xmlns:a16="http://schemas.microsoft.com/office/drawing/2014/main" id="{019D8AD5-69A6-0A7F-B91A-EA38C900BB9B}"/>
                </a:ext>
              </a:extLst>
            </p:cNvPr>
            <p:cNvSpPr txBox="1"/>
            <p:nvPr/>
          </p:nvSpPr>
          <p:spPr>
            <a:xfrm>
              <a:off x="4239260" y="2356404"/>
              <a:ext cx="963405" cy="184666"/>
            </a:xfrm>
            <a:prstGeom prst="rect">
              <a:avLst/>
            </a:prstGeom>
            <a:noFill/>
          </p:spPr>
          <p:txBody>
            <a:bodyPr wrap="none" lIns="0" tIns="0" rIns="0" bIns="0" rtlCol="0">
              <a:spAutoFit/>
            </a:bodyPr>
            <a:lstStyle/>
            <a:p>
              <a:pPr algn="l"/>
              <a:r>
                <a:rPr lang="en-US" sz="1200" dirty="0">
                  <a:solidFill>
                    <a:schemeClr val="tx2"/>
                  </a:solidFill>
                </a:rPr>
                <a:t>vCenter 8.0u3</a:t>
              </a:r>
            </a:p>
          </p:txBody>
        </p:sp>
        <p:sp>
          <p:nvSpPr>
            <p:cNvPr id="63" name="TextBox 62">
              <a:extLst>
                <a:ext uri="{FF2B5EF4-FFF2-40B4-BE49-F238E27FC236}">
                  <a16:creationId xmlns:a16="http://schemas.microsoft.com/office/drawing/2014/main" id="{41B8D8D0-5714-698C-22B1-8B21DEE6F2B0}"/>
                </a:ext>
              </a:extLst>
            </p:cNvPr>
            <p:cNvSpPr txBox="1"/>
            <p:nvPr/>
          </p:nvSpPr>
          <p:spPr>
            <a:xfrm>
              <a:off x="4239260" y="2597480"/>
              <a:ext cx="734175" cy="184666"/>
            </a:xfrm>
            <a:prstGeom prst="rect">
              <a:avLst/>
            </a:prstGeom>
            <a:noFill/>
          </p:spPr>
          <p:txBody>
            <a:bodyPr wrap="none" lIns="0" tIns="0" rIns="0" bIns="0" rtlCol="0">
              <a:spAutoFit/>
            </a:bodyPr>
            <a:lstStyle/>
            <a:p>
              <a:pPr algn="l"/>
              <a:r>
                <a:rPr lang="en-US" sz="1200" dirty="0">
                  <a:solidFill>
                    <a:schemeClr val="tx2"/>
                  </a:solidFill>
                </a:rPr>
                <a:t>ESX 8.0u3</a:t>
              </a:r>
            </a:p>
          </p:txBody>
        </p:sp>
        <p:sp>
          <p:nvSpPr>
            <p:cNvPr id="511" name="TextBox 510">
              <a:extLst>
                <a:ext uri="{FF2B5EF4-FFF2-40B4-BE49-F238E27FC236}">
                  <a16:creationId xmlns:a16="http://schemas.microsoft.com/office/drawing/2014/main" id="{A7872291-6FD1-D302-909E-FC7052A82A00}"/>
                </a:ext>
              </a:extLst>
            </p:cNvPr>
            <p:cNvSpPr txBox="1"/>
            <p:nvPr/>
          </p:nvSpPr>
          <p:spPr>
            <a:xfrm>
              <a:off x="4239260" y="2849828"/>
              <a:ext cx="828753" cy="184666"/>
            </a:xfrm>
            <a:prstGeom prst="rect">
              <a:avLst/>
            </a:prstGeom>
            <a:noFill/>
          </p:spPr>
          <p:txBody>
            <a:bodyPr wrap="none" lIns="0" tIns="0" rIns="0" bIns="0" rtlCol="0">
              <a:spAutoFit/>
            </a:bodyPr>
            <a:lstStyle/>
            <a:p>
              <a:pPr algn="l"/>
              <a:r>
                <a:rPr lang="en-US" sz="1200" dirty="0">
                  <a:solidFill>
                    <a:schemeClr val="tx2"/>
                  </a:solidFill>
                </a:rPr>
                <a:t>NSX 4.2.0.1</a:t>
              </a:r>
            </a:p>
          </p:txBody>
        </p:sp>
        <p:sp>
          <p:nvSpPr>
            <p:cNvPr id="289" name="TextBox 288">
              <a:extLst>
                <a:ext uri="{FF2B5EF4-FFF2-40B4-BE49-F238E27FC236}">
                  <a16:creationId xmlns:a16="http://schemas.microsoft.com/office/drawing/2014/main" id="{26F9DB2B-5277-4464-F999-D47D1E679BA1}"/>
                </a:ext>
              </a:extLst>
            </p:cNvPr>
            <p:cNvSpPr txBox="1"/>
            <p:nvPr/>
          </p:nvSpPr>
          <p:spPr>
            <a:xfrm>
              <a:off x="3521380" y="3588924"/>
              <a:ext cx="153888" cy="276999"/>
            </a:xfrm>
            <a:prstGeom prst="rect">
              <a:avLst/>
            </a:prstGeom>
            <a:noFill/>
          </p:spPr>
          <p:txBody>
            <a:bodyPr wrap="none" lIns="0" tIns="0" rIns="0" bIns="0" rtlCol="0">
              <a:spAutoFit/>
            </a:bodyPr>
            <a:lstStyle/>
            <a:p>
              <a:pPr algn="l"/>
              <a:r>
                <a:rPr lang="en-US" sz="1800" dirty="0">
                  <a:solidFill>
                    <a:schemeClr val="tx2"/>
                  </a:solidFill>
                </a:rPr>
                <a:t>B</a:t>
              </a:r>
            </a:p>
          </p:txBody>
        </p:sp>
        <p:sp>
          <p:nvSpPr>
            <p:cNvPr id="397" name="TextBox 396">
              <a:extLst>
                <a:ext uri="{FF2B5EF4-FFF2-40B4-BE49-F238E27FC236}">
                  <a16:creationId xmlns:a16="http://schemas.microsoft.com/office/drawing/2014/main" id="{0AF07835-8E9D-5334-F9A4-312554A50029}"/>
                </a:ext>
              </a:extLst>
            </p:cNvPr>
            <p:cNvSpPr txBox="1"/>
            <p:nvPr/>
          </p:nvSpPr>
          <p:spPr>
            <a:xfrm>
              <a:off x="4239259" y="3088824"/>
              <a:ext cx="2021387" cy="184666"/>
            </a:xfrm>
            <a:prstGeom prst="rect">
              <a:avLst/>
            </a:prstGeom>
            <a:noFill/>
          </p:spPr>
          <p:txBody>
            <a:bodyPr wrap="none" lIns="0" tIns="0" rIns="0" bIns="0" rtlCol="0">
              <a:spAutoFit/>
            </a:bodyPr>
            <a:lstStyle/>
            <a:p>
              <a:pPr algn="l"/>
              <a:r>
                <a:rPr lang="en-US" sz="1200" dirty="0">
                  <a:solidFill>
                    <a:schemeClr val="tx2"/>
                  </a:solidFill>
                </a:rPr>
                <a:t>Capacity for new components</a:t>
              </a:r>
            </a:p>
          </p:txBody>
        </p:sp>
      </p:grpSp>
    </p:spTree>
    <p:extLst>
      <p:ext uri="{BB962C8B-B14F-4D97-AF65-F5344CB8AC3E}">
        <p14:creationId xmlns:p14="http://schemas.microsoft.com/office/powerpoint/2010/main" val="3132218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dissolv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08870-B317-7557-19AC-458FD8F780CD}"/>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22A2BEB0-F0CE-C2C3-5D21-7582A9410033}"/>
              </a:ext>
            </a:extLst>
          </p:cNvPr>
          <p:cNvSpPr>
            <a:spLocks noGrp="1"/>
          </p:cNvSpPr>
          <p:nvPr>
            <p:ph type="title"/>
          </p:nvPr>
        </p:nvSpPr>
        <p:spPr/>
        <p:txBody>
          <a:bodyPr/>
          <a:lstStyle/>
          <a:p>
            <a:r>
              <a:rPr lang="en-US" dirty="0"/>
              <a:t>Deprecated </a:t>
            </a:r>
            <a:br>
              <a:rPr lang="en-US" dirty="0"/>
            </a:br>
            <a:r>
              <a:rPr lang="en-US" dirty="0"/>
              <a:t>Features…</a:t>
            </a:r>
          </a:p>
        </p:txBody>
      </p:sp>
    </p:spTree>
    <p:extLst>
      <p:ext uri="{BB962C8B-B14F-4D97-AF65-F5344CB8AC3E}">
        <p14:creationId xmlns:p14="http://schemas.microsoft.com/office/powerpoint/2010/main" val="382859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D21F5-F12E-120C-4A17-492DD997ECC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9D7B-A5F5-3052-D427-734D35EC8BFA}"/>
              </a:ext>
            </a:extLst>
          </p:cNvPr>
          <p:cNvSpPr>
            <a:spLocks noGrp="1"/>
          </p:cNvSpPr>
          <p:nvPr>
            <p:ph type="title"/>
          </p:nvPr>
        </p:nvSpPr>
        <p:spPr/>
        <p:txBody>
          <a:bodyPr/>
          <a:lstStyle/>
          <a:p>
            <a:r>
              <a:rPr lang="en-US" dirty="0"/>
              <a:t>Deprecated Feature</a:t>
            </a:r>
          </a:p>
        </p:txBody>
      </p:sp>
      <p:sp>
        <p:nvSpPr>
          <p:cNvPr id="7" name="Subtitle 6">
            <a:extLst>
              <a:ext uri="{FF2B5EF4-FFF2-40B4-BE49-F238E27FC236}">
                <a16:creationId xmlns:a16="http://schemas.microsoft.com/office/drawing/2014/main" id="{5ADB0C33-86EC-B977-4DA3-A45ED14888A7}"/>
              </a:ext>
            </a:extLst>
          </p:cNvPr>
          <p:cNvSpPr>
            <a:spLocks noGrp="1"/>
          </p:cNvSpPr>
          <p:nvPr>
            <p:ph type="subTitle" idx="10"/>
          </p:nvPr>
        </p:nvSpPr>
        <p:spPr/>
        <p:txBody>
          <a:bodyPr/>
          <a:lstStyle/>
          <a:p>
            <a:r>
              <a:rPr lang="en-US" dirty="0"/>
              <a:t>vSphere Lifecycle Manager Baselines (aka VUM)</a:t>
            </a:r>
          </a:p>
        </p:txBody>
      </p:sp>
      <p:sp>
        <p:nvSpPr>
          <p:cNvPr id="8" name="Text Placeholder 7">
            <a:extLst>
              <a:ext uri="{FF2B5EF4-FFF2-40B4-BE49-F238E27FC236}">
                <a16:creationId xmlns:a16="http://schemas.microsoft.com/office/drawing/2014/main" id="{5FA8DEC0-44D2-512D-75C8-8D4DA51DEE6F}"/>
              </a:ext>
            </a:extLst>
          </p:cNvPr>
          <p:cNvSpPr>
            <a:spLocks noGrp="1"/>
          </p:cNvSpPr>
          <p:nvPr>
            <p:ph type="body" sz="quarter" idx="17"/>
          </p:nvPr>
        </p:nvSpPr>
        <p:spPr/>
        <p:txBody>
          <a:bodyPr/>
          <a:lstStyle/>
          <a:p>
            <a:r>
              <a:rPr lang="en-US" dirty="0"/>
              <a:t>vSphere Lifecycle Manager Baselines is not supported with VCF 9.0 or later.</a:t>
            </a:r>
          </a:p>
          <a:p>
            <a:pPr lvl="1"/>
            <a:r>
              <a:rPr lang="en-US" dirty="0"/>
              <a:t>Replaced by vSphere Lifecycle Manager Images</a:t>
            </a:r>
          </a:p>
          <a:p>
            <a:r>
              <a:rPr lang="en-US" dirty="0"/>
              <a:t>Transition to vSphere Lifecycle Manager (vLCM) Prior to converging to VCF 9.1.</a:t>
            </a:r>
          </a:p>
          <a:p>
            <a:pPr marL="273050" lvl="1" indent="0">
              <a:buNone/>
            </a:pPr>
            <a:endParaRPr lang="en-US" dirty="0"/>
          </a:p>
        </p:txBody>
      </p:sp>
      <p:pic>
        <p:nvPicPr>
          <p:cNvPr id="3" name="Content Placeholder 2">
            <a:extLst>
              <a:ext uri="{FF2B5EF4-FFF2-40B4-BE49-F238E27FC236}">
                <a16:creationId xmlns:a16="http://schemas.microsoft.com/office/drawing/2014/main" id="{2C33D87C-0C87-F9E2-EE5F-960880187903}"/>
              </a:ext>
            </a:extLst>
          </p:cNvPr>
          <p:cNvPicPr>
            <a:picLocks noGrp="1" noChangeAspect="1"/>
          </p:cNvPicPr>
          <p:nvPr>
            <p:ph sz="quarter" idx="14"/>
          </p:nvPr>
        </p:nvPicPr>
        <p:blipFill>
          <a:blip r:embed="rId2"/>
          <a:stretch>
            <a:fillRect/>
          </a:stretch>
        </p:blipFill>
        <p:spPr>
          <a:xfrm>
            <a:off x="608013" y="2395699"/>
            <a:ext cx="7397750" cy="2981001"/>
          </a:xfrm>
          <a:prstGeom prst="rect">
            <a:avLst/>
          </a:prstGeom>
        </p:spPr>
      </p:pic>
    </p:spTree>
    <p:extLst>
      <p:ext uri="{BB962C8B-B14F-4D97-AF65-F5344CB8AC3E}">
        <p14:creationId xmlns:p14="http://schemas.microsoft.com/office/powerpoint/2010/main" val="118087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BD366-8D89-9EDB-31EB-E9C75B778E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F5B3AC-F315-5102-0FCA-D46658E44726}"/>
              </a:ext>
            </a:extLst>
          </p:cNvPr>
          <p:cNvSpPr>
            <a:spLocks noGrp="1"/>
          </p:cNvSpPr>
          <p:nvPr>
            <p:ph type="title"/>
          </p:nvPr>
        </p:nvSpPr>
        <p:spPr/>
        <p:txBody>
          <a:bodyPr/>
          <a:lstStyle/>
          <a:p>
            <a:r>
              <a:rPr lang="en-US" dirty="0"/>
              <a:t>Deprecated Feature</a:t>
            </a:r>
          </a:p>
        </p:txBody>
      </p:sp>
      <p:sp>
        <p:nvSpPr>
          <p:cNvPr id="7" name="Subtitle 6">
            <a:extLst>
              <a:ext uri="{FF2B5EF4-FFF2-40B4-BE49-F238E27FC236}">
                <a16:creationId xmlns:a16="http://schemas.microsoft.com/office/drawing/2014/main" id="{D1D80019-66DB-0900-E5B9-E1631D649718}"/>
              </a:ext>
            </a:extLst>
          </p:cNvPr>
          <p:cNvSpPr>
            <a:spLocks noGrp="1"/>
          </p:cNvSpPr>
          <p:nvPr>
            <p:ph type="subTitle" idx="10"/>
          </p:nvPr>
        </p:nvSpPr>
        <p:spPr/>
        <p:txBody>
          <a:bodyPr/>
          <a:lstStyle/>
          <a:p>
            <a:r>
              <a:rPr lang="en-US" dirty="0"/>
              <a:t>vCenter Enhanced Linked Mode (ELM)</a:t>
            </a:r>
          </a:p>
        </p:txBody>
      </p:sp>
      <p:sp>
        <p:nvSpPr>
          <p:cNvPr id="8" name="Text Placeholder 7">
            <a:extLst>
              <a:ext uri="{FF2B5EF4-FFF2-40B4-BE49-F238E27FC236}">
                <a16:creationId xmlns:a16="http://schemas.microsoft.com/office/drawing/2014/main" id="{CD3184BC-66DC-A04E-F5A7-E620288465BD}"/>
              </a:ext>
            </a:extLst>
          </p:cNvPr>
          <p:cNvSpPr>
            <a:spLocks noGrp="1"/>
          </p:cNvSpPr>
          <p:nvPr>
            <p:ph type="body" sz="quarter" idx="17"/>
          </p:nvPr>
        </p:nvSpPr>
        <p:spPr/>
        <p:txBody>
          <a:bodyPr/>
          <a:lstStyle/>
          <a:p>
            <a:pPr indent="-184150">
              <a:buNone/>
            </a:pPr>
            <a:r>
              <a:rPr lang="en-US" dirty="0"/>
              <a:t>vCenter Enhanced Linked Mode (ELM):</a:t>
            </a:r>
          </a:p>
          <a:p>
            <a:pPr lvl="1"/>
            <a:r>
              <a:rPr lang="en-US" dirty="0"/>
              <a:t>Deactivate ELM for all vCenter instances</a:t>
            </a:r>
          </a:p>
          <a:p>
            <a:pPr lvl="1"/>
            <a:r>
              <a:rPr lang="en-US" dirty="0"/>
              <a:t>Steps to deactivate vary based on vCenter version.</a:t>
            </a:r>
          </a:p>
          <a:p>
            <a:r>
              <a:rPr lang="en-US" dirty="0"/>
              <a:t>In VCF 9.x ELM is replaced by:</a:t>
            </a:r>
            <a:endParaRPr lang="en-US" sz="1800" dirty="0"/>
          </a:p>
          <a:p>
            <a:pPr lvl="1"/>
            <a:r>
              <a:rPr lang="en-US" dirty="0"/>
              <a:t>Replaced by VF Single sign-on (SSO)</a:t>
            </a:r>
          </a:p>
          <a:p>
            <a:pPr lvl="1"/>
            <a:r>
              <a:rPr lang="en-US" sz="1600" dirty="0"/>
              <a:t>vCenter Linking</a:t>
            </a:r>
          </a:p>
        </p:txBody>
      </p:sp>
      <p:pic>
        <p:nvPicPr>
          <p:cNvPr id="2" name="Content Placeholder 1">
            <a:extLst>
              <a:ext uri="{FF2B5EF4-FFF2-40B4-BE49-F238E27FC236}">
                <a16:creationId xmlns:a16="http://schemas.microsoft.com/office/drawing/2014/main" id="{D89EE867-AF8D-88B5-DA2C-755DDC0C2BF2}"/>
              </a:ext>
            </a:extLst>
          </p:cNvPr>
          <p:cNvPicPr>
            <a:picLocks noGrp="1" noChangeAspect="1"/>
          </p:cNvPicPr>
          <p:nvPr>
            <p:ph sz="quarter" idx="14"/>
          </p:nvPr>
        </p:nvPicPr>
        <p:blipFill>
          <a:blip r:embed="rId2"/>
          <a:stretch>
            <a:fillRect/>
          </a:stretch>
        </p:blipFill>
        <p:spPr>
          <a:xfrm>
            <a:off x="608013" y="2281832"/>
            <a:ext cx="7397750" cy="3208736"/>
          </a:xfrm>
          <a:prstGeom prst="rect">
            <a:avLst/>
          </a:prstGeom>
        </p:spPr>
      </p:pic>
    </p:spTree>
    <p:extLst>
      <p:ext uri="{BB962C8B-B14F-4D97-AF65-F5344CB8AC3E}">
        <p14:creationId xmlns:p14="http://schemas.microsoft.com/office/powerpoint/2010/main" val="56853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3B24C-B508-0ECF-EAA7-BD9AA321898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3B4363B3-7571-A930-72A8-BB03960F37A1}"/>
              </a:ext>
            </a:extLst>
          </p:cNvPr>
          <p:cNvSpPr>
            <a:spLocks noGrp="1"/>
          </p:cNvSpPr>
          <p:nvPr>
            <p:ph type="title"/>
          </p:nvPr>
        </p:nvSpPr>
        <p:spPr>
          <a:xfrm>
            <a:off x="589107" y="1413356"/>
            <a:ext cx="6587869" cy="1229360"/>
          </a:xfrm>
        </p:spPr>
        <p:txBody>
          <a:bodyPr/>
          <a:lstStyle/>
          <a:p>
            <a:r>
              <a:rPr lang="en-US" dirty="0"/>
              <a:t>vSphere 8.x to VCF 9.1</a:t>
            </a:r>
            <a:br>
              <a:rPr lang="en-US" dirty="0"/>
            </a:br>
            <a:r>
              <a:rPr lang="en-US" dirty="0"/>
              <a:t>Upgrade Overview…</a:t>
            </a:r>
          </a:p>
        </p:txBody>
      </p:sp>
    </p:spTree>
    <p:extLst>
      <p:ext uri="{BB962C8B-B14F-4D97-AF65-F5344CB8AC3E}">
        <p14:creationId xmlns:p14="http://schemas.microsoft.com/office/powerpoint/2010/main" val="2829948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272E3D-0E60-2714-E0BF-1398880CE1AB}"/>
              </a:ext>
            </a:extLst>
          </p:cNvPr>
          <p:cNvSpPr>
            <a:spLocks noGrp="1"/>
          </p:cNvSpPr>
          <p:nvPr>
            <p:ph type="title"/>
          </p:nvPr>
        </p:nvSpPr>
        <p:spPr/>
        <p:txBody>
          <a:bodyPr/>
          <a:lstStyle/>
          <a:p>
            <a:r>
              <a:rPr lang="en-US" dirty="0"/>
              <a:t>Upgrade Path Differs Depending if NSX and Aria Ops is Used</a:t>
            </a:r>
          </a:p>
        </p:txBody>
      </p:sp>
      <p:sp>
        <p:nvSpPr>
          <p:cNvPr id="7" name="Text Placeholder 6">
            <a:extLst>
              <a:ext uri="{FF2B5EF4-FFF2-40B4-BE49-F238E27FC236}">
                <a16:creationId xmlns:a16="http://schemas.microsoft.com/office/drawing/2014/main" id="{A9467D4E-C970-DF59-D4AE-8A36DCC65C8B}"/>
              </a:ext>
            </a:extLst>
          </p:cNvPr>
          <p:cNvSpPr>
            <a:spLocks noGrp="1"/>
          </p:cNvSpPr>
          <p:nvPr>
            <p:ph type="body" sz="quarter" idx="17"/>
          </p:nvPr>
        </p:nvSpPr>
        <p:spPr/>
        <p:txBody>
          <a:bodyPr/>
          <a:lstStyle/>
          <a:p>
            <a:r>
              <a:rPr lang="en-US" sz="2400" dirty="0"/>
              <a:t>NSX</a:t>
            </a:r>
          </a:p>
        </p:txBody>
      </p:sp>
      <p:sp>
        <p:nvSpPr>
          <p:cNvPr id="5" name="Content Placeholder 4">
            <a:extLst>
              <a:ext uri="{FF2B5EF4-FFF2-40B4-BE49-F238E27FC236}">
                <a16:creationId xmlns:a16="http://schemas.microsoft.com/office/drawing/2014/main" id="{E4D65072-11FD-CBE4-B8ED-B7D49BAB083B}"/>
              </a:ext>
            </a:extLst>
          </p:cNvPr>
          <p:cNvSpPr>
            <a:spLocks noGrp="1"/>
          </p:cNvSpPr>
          <p:nvPr>
            <p:ph sz="quarter" idx="14"/>
          </p:nvPr>
        </p:nvSpPr>
        <p:spPr/>
        <p:txBody>
          <a:bodyPr/>
          <a:lstStyle/>
          <a:p>
            <a:pPr marL="0" marR="0" lvl="0" indent="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r>
              <a:rPr kumimoji="0" lang="en-US" sz="2000" b="0" i="0" u="none" strike="noStrike" kern="1200" cap="none" spc="0" normalizeH="0" baseline="0" noProof="0" dirty="0">
                <a:ln>
                  <a:noFill/>
                </a:ln>
                <a:solidFill>
                  <a:srgbClr val="005C8A"/>
                </a:solidFill>
                <a:effectLst/>
                <a:uLnTx/>
                <a:uFillTx/>
                <a:latin typeface="Arial" panose="020B0604020202020204"/>
                <a:ea typeface="+mn-ea"/>
                <a:cs typeface="+mn-cs"/>
              </a:rPr>
              <a:t>If your vCenter is </a:t>
            </a:r>
            <a:r>
              <a:rPr kumimoji="0" lang="en-US" sz="2000" b="1" i="0" u="none" strike="noStrike" kern="1200" cap="none" spc="0" normalizeH="0" baseline="0" noProof="0" dirty="0">
                <a:ln>
                  <a:noFill/>
                </a:ln>
                <a:solidFill>
                  <a:srgbClr val="C00000"/>
                </a:solidFill>
                <a:effectLst/>
                <a:uLnTx/>
                <a:uFillTx/>
                <a:latin typeface="Arial" panose="020B0604020202020204"/>
                <a:ea typeface="+mn-ea"/>
                <a:cs typeface="+mn-cs"/>
              </a:rPr>
              <a:t>NOT</a:t>
            </a:r>
            <a:r>
              <a:rPr kumimoji="0" lang="en-US" sz="2000" b="0" i="0" u="none" strike="noStrike" kern="1200" cap="none" spc="0" normalizeH="0" baseline="0" noProof="0" dirty="0">
                <a:ln>
                  <a:noFill/>
                </a:ln>
                <a:solidFill>
                  <a:srgbClr val="005C8A"/>
                </a:solidFill>
                <a:effectLst/>
                <a:uLnTx/>
                <a:uFillTx/>
                <a:latin typeface="Arial" panose="020B0604020202020204"/>
                <a:ea typeface="+mn-ea"/>
                <a:cs typeface="+mn-cs"/>
              </a:rPr>
              <a:t> registered with NSX:</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You must</a:t>
            </a:r>
            <a:r>
              <a:rPr kumimoji="0" lang="en-US" sz="1800" b="0" i="0" u="none" strike="noStrike" kern="1200" cap="none" spc="0" normalizeH="0" noProof="0" dirty="0">
                <a:ln>
                  <a:noFill/>
                </a:ln>
                <a:solidFill>
                  <a:srgbClr val="005C8A"/>
                </a:solidFill>
                <a:effectLst/>
                <a:uLnTx/>
                <a:uFillTx/>
                <a:latin typeface="Arial" panose="020B0604020202020204"/>
                <a:ea typeface="+mn-ea"/>
                <a:cs typeface="+mn-cs"/>
              </a:rPr>
              <a:t> manually u</a:t>
            </a: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pgrade vCenter to 9.1</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lang="en-US" sz="1800" dirty="0">
                <a:solidFill>
                  <a:srgbClr val="005C8A"/>
                </a:solidFill>
                <a:latin typeface="Arial" panose="020B0604020202020204"/>
              </a:rPr>
              <a:t>You can optionally u</a:t>
            </a: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upgrade ESX to 9.1 as well, or </a:t>
            </a:r>
            <a:r>
              <a:rPr lang="en-US" sz="1800" dirty="0">
                <a:solidFill>
                  <a:srgbClr val="005C8A"/>
                </a:solidFill>
                <a:latin typeface="Arial" panose="020B0604020202020204"/>
              </a:rPr>
              <a:t>use VCF Ops after convergence.</a:t>
            </a:r>
            <a:endPar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endPar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18415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None/>
              <a:tabLst/>
              <a:defRPr/>
            </a:pPr>
            <a:r>
              <a:rPr kumimoji="0" lang="en-US" sz="2000" b="0" i="0" u="none" strike="noStrike" kern="1200" cap="none" spc="0" normalizeH="0" baseline="0" noProof="0" dirty="0">
                <a:ln>
                  <a:noFill/>
                </a:ln>
                <a:solidFill>
                  <a:srgbClr val="005C8A"/>
                </a:solidFill>
                <a:effectLst/>
                <a:uLnTx/>
                <a:uFillTx/>
                <a:latin typeface="Arial" panose="020B0604020202020204"/>
                <a:ea typeface="+mn-ea"/>
                <a:cs typeface="+mn-cs"/>
              </a:rPr>
              <a:t>If your vCenter </a:t>
            </a:r>
            <a:r>
              <a:rPr kumimoji="0" lang="en-US" sz="2000" b="1" i="0" u="none" strike="noStrike" kern="1200" cap="none" spc="0" normalizeH="0" baseline="0" noProof="0" dirty="0">
                <a:ln>
                  <a:noFill/>
                </a:ln>
                <a:solidFill>
                  <a:srgbClr val="61A60C"/>
                </a:solidFill>
                <a:effectLst/>
                <a:uLnTx/>
                <a:uFillTx/>
                <a:latin typeface="Arial" panose="020B0604020202020204"/>
                <a:ea typeface="+mn-ea"/>
                <a:cs typeface="+mn-cs"/>
              </a:rPr>
              <a:t>IS</a:t>
            </a:r>
            <a:r>
              <a:rPr kumimoji="0" lang="en-US" sz="2000" b="0" i="0" u="none" strike="noStrike" kern="1200" cap="none" spc="0" normalizeH="0" baseline="0" noProof="0" dirty="0">
                <a:ln>
                  <a:noFill/>
                </a:ln>
                <a:solidFill>
                  <a:srgbClr val="005C8A"/>
                </a:solidFill>
                <a:effectLst/>
                <a:uLnTx/>
                <a:uFillTx/>
                <a:latin typeface="Arial" panose="020B0604020202020204"/>
                <a:ea typeface="+mn-ea"/>
                <a:cs typeface="+mn-cs"/>
              </a:rPr>
              <a:t> registered with NSX:</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Update to vCenter 8.0u3a (or later)</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Upgrade to ESX 8.0u3 (or later)</a:t>
            </a:r>
          </a:p>
          <a:p>
            <a:pPr marL="457200" marR="0" lvl="1" indent="-184150" algn="l" defTabSz="914400" rtl="0" eaLnBrk="1" fontAlgn="auto" latinLnBrk="0" hangingPunct="1">
              <a:lnSpc>
                <a:spcPct val="100000"/>
              </a:lnSpc>
              <a:spcBef>
                <a:spcPts val="0"/>
              </a:spcBef>
              <a:spcAft>
                <a:spcPts val="1200"/>
              </a:spcAft>
              <a:buClr>
                <a:srgbClr val="005C8A"/>
              </a:buClr>
              <a:buSzPct val="90000"/>
              <a:buFont typeface="Arial" panose="020B0604020202020204" pitchFamily="34" charset="0"/>
              <a:buChar char="•"/>
              <a:tabLst/>
              <a:defRPr/>
            </a:pPr>
            <a:r>
              <a:rPr kumimoji="0" lang="en-US" sz="1800" b="0" i="0" u="none" strike="noStrike" kern="1200" cap="none" spc="0" normalizeH="0" baseline="0" noProof="0" dirty="0">
                <a:ln>
                  <a:noFill/>
                </a:ln>
                <a:solidFill>
                  <a:srgbClr val="005C8A"/>
                </a:solidFill>
                <a:effectLst/>
                <a:uLnTx/>
                <a:uFillTx/>
                <a:latin typeface="Arial" panose="020B0604020202020204"/>
                <a:ea typeface="+mn-ea"/>
                <a:cs typeface="+mn-cs"/>
              </a:rPr>
              <a:t>Update to NSX 4.2 (or later)</a:t>
            </a:r>
          </a:p>
          <a:p>
            <a:endParaRPr lang="en-US" dirty="0"/>
          </a:p>
        </p:txBody>
      </p:sp>
      <p:sp>
        <p:nvSpPr>
          <p:cNvPr id="8" name="Text Placeholder 7">
            <a:extLst>
              <a:ext uri="{FF2B5EF4-FFF2-40B4-BE49-F238E27FC236}">
                <a16:creationId xmlns:a16="http://schemas.microsoft.com/office/drawing/2014/main" id="{04E87634-6A22-19DA-6F29-03146A9F2B40}"/>
              </a:ext>
            </a:extLst>
          </p:cNvPr>
          <p:cNvSpPr>
            <a:spLocks noGrp="1"/>
          </p:cNvSpPr>
          <p:nvPr>
            <p:ph type="body" sz="quarter" idx="18"/>
          </p:nvPr>
        </p:nvSpPr>
        <p:spPr/>
        <p:txBody>
          <a:bodyPr/>
          <a:lstStyle/>
          <a:p>
            <a:r>
              <a:rPr lang="en-US" sz="2400" dirty="0"/>
              <a:t>Aria Operations</a:t>
            </a:r>
          </a:p>
        </p:txBody>
      </p:sp>
      <p:sp>
        <p:nvSpPr>
          <p:cNvPr id="6" name="Content Placeholder 5">
            <a:extLst>
              <a:ext uri="{FF2B5EF4-FFF2-40B4-BE49-F238E27FC236}">
                <a16:creationId xmlns:a16="http://schemas.microsoft.com/office/drawing/2014/main" id="{57BFC8CB-4F03-D711-3CF2-337F29835043}"/>
              </a:ext>
            </a:extLst>
          </p:cNvPr>
          <p:cNvSpPr>
            <a:spLocks noGrp="1"/>
          </p:cNvSpPr>
          <p:nvPr>
            <p:ph sz="quarter" idx="16"/>
          </p:nvPr>
        </p:nvSpPr>
        <p:spPr/>
        <p:txBody>
          <a:bodyPr/>
          <a:lstStyle/>
          <a:p>
            <a:pPr lvl="0">
              <a:buClr>
                <a:srgbClr val="000000">
                  <a:lumMod val="60000"/>
                  <a:lumOff val="40000"/>
                </a:srgbClr>
              </a:buClr>
              <a:defRPr/>
            </a:pPr>
            <a:r>
              <a:rPr kumimoji="0" lang="en-US" sz="2000" b="0" i="0" u="none" strike="noStrike" kern="1200" cap="none" spc="0" normalizeH="0" baseline="0" noProof="0" dirty="0">
                <a:ln>
                  <a:noFill/>
                </a:ln>
                <a:solidFill>
                  <a:srgbClr val="005C8A"/>
                </a:solidFill>
                <a:effectLst/>
                <a:uLnTx/>
                <a:uFillTx/>
                <a:latin typeface="Arial" panose="020B0604020202020204"/>
                <a:ea typeface="+mn-ea"/>
                <a:cs typeface="+mn-cs"/>
              </a:rPr>
              <a:t>If Aria Operations </a:t>
            </a:r>
            <a:r>
              <a:rPr lang="en-US" sz="2000" b="1" dirty="0">
                <a:solidFill>
                  <a:srgbClr val="61A60C"/>
                </a:solidFill>
              </a:rPr>
              <a:t>IS</a:t>
            </a:r>
            <a:r>
              <a:rPr kumimoji="0" lang="en-US" sz="2000" b="0" i="0" u="none" strike="noStrike" kern="1200" cap="none" spc="0" normalizeH="0" baseline="0" noProof="0" dirty="0">
                <a:ln>
                  <a:noFill/>
                </a:ln>
                <a:solidFill>
                  <a:srgbClr val="005C8A"/>
                </a:solidFill>
                <a:effectLst/>
                <a:uLnTx/>
                <a:uFillTx/>
                <a:latin typeface="Arial" panose="020B0604020202020204"/>
                <a:ea typeface="+mn-ea"/>
                <a:cs typeface="+mn-cs"/>
              </a:rPr>
              <a:t> used, manually upgrade to VCF Operations 9.1 using PAK file.</a:t>
            </a:r>
          </a:p>
          <a:p>
            <a:pPr lvl="0">
              <a:buClr>
                <a:srgbClr val="000000">
                  <a:lumMod val="60000"/>
                  <a:lumOff val="40000"/>
                </a:srgbClr>
              </a:buClr>
              <a:defRPr/>
            </a:pPr>
            <a:r>
              <a:rPr lang="en-US" sz="2000" dirty="0">
                <a:solidFill>
                  <a:srgbClr val="005C8A"/>
                </a:solidFill>
                <a:latin typeface="Arial" panose="020B0604020202020204"/>
              </a:rPr>
              <a:t>If Aria Operations is </a:t>
            </a:r>
            <a:r>
              <a:rPr lang="en-US" sz="2000" b="1" dirty="0">
                <a:solidFill>
                  <a:srgbClr val="C00000"/>
                </a:solidFill>
                <a:latin typeface="Arial" panose="020B0604020202020204"/>
              </a:rPr>
              <a:t>NOT</a:t>
            </a:r>
            <a:r>
              <a:rPr lang="en-US" sz="2000" dirty="0">
                <a:solidFill>
                  <a:srgbClr val="005C8A"/>
                </a:solidFill>
                <a:latin typeface="Arial" panose="020B0604020202020204"/>
              </a:rPr>
              <a:t> used, it will be deployed by the VCF Installer.</a:t>
            </a:r>
          </a:p>
          <a:p>
            <a:pPr lvl="0">
              <a:buClr>
                <a:srgbClr val="000000">
                  <a:lumMod val="60000"/>
                  <a:lumOff val="40000"/>
                </a:srgbClr>
              </a:buClr>
              <a:defRPr/>
            </a:pPr>
            <a:endParaRPr kumimoji="0" lang="en-US" sz="20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Notes:</a:t>
            </a:r>
          </a:p>
          <a:p>
            <a:pPr lvl="1" indent="0">
              <a:buClr>
                <a:srgbClr val="000000">
                  <a:lumMod val="60000"/>
                  <a:lumOff val="40000"/>
                </a:srgbClr>
              </a:buClr>
              <a:buFont typeface="Arial" panose="020B0604020202020204" pitchFamily="34" charset="0"/>
              <a:buChar char="​"/>
              <a:defRPr/>
            </a:pPr>
            <a:r>
              <a:rPr kumimoji="0" lang="en-US" sz="1400" b="0" i="0" u="none" strike="noStrike" kern="1200" cap="none" spc="0" normalizeH="0" baseline="0" noProof="0" dirty="0">
                <a:ln>
                  <a:noFill/>
                </a:ln>
                <a:solidFill>
                  <a:srgbClr val="005C8A"/>
                </a:solidFill>
                <a:effectLst/>
                <a:uLnTx/>
                <a:uFillTx/>
                <a:latin typeface="Arial" panose="020B0604020202020204"/>
                <a:ea typeface="+mn-ea"/>
                <a:cs typeface="+mn-cs"/>
              </a:rPr>
              <a:t>Aria Suite Lifecycle is not upgraded to 9.1.</a:t>
            </a:r>
          </a:p>
          <a:p>
            <a:pPr lvl="2" indent="-184150">
              <a:buClr>
                <a:srgbClr val="005C8A"/>
              </a:buClr>
              <a:buFont typeface="Arial" panose="020B0604020202020204" pitchFamily="34" charset="0"/>
              <a:buChar char="•"/>
              <a:defRPr/>
            </a:pPr>
            <a:r>
              <a:rPr kumimoji="0" lang="en-US" b="0" i="0" u="none" strike="noStrike" kern="1200" cap="none" spc="0" normalizeH="0" baseline="0" noProof="0" dirty="0">
                <a:ln>
                  <a:noFill/>
                </a:ln>
                <a:solidFill>
                  <a:srgbClr val="005C8A"/>
                </a:solidFill>
                <a:effectLst/>
                <a:uLnTx/>
                <a:uFillTx/>
                <a:latin typeface="Arial" panose="020B0604020202020204"/>
                <a:ea typeface="+mn-ea"/>
                <a:cs typeface="+mn-cs"/>
              </a:rPr>
              <a:t>Functionality moved to VCF management services</a:t>
            </a:r>
          </a:p>
          <a:p>
            <a:pPr lvl="1" indent="0">
              <a:buClr>
                <a:srgbClr val="000000">
                  <a:lumMod val="60000"/>
                  <a:lumOff val="40000"/>
                </a:srgbClr>
              </a:buClr>
              <a:buFont typeface="Arial" panose="020B0604020202020204" pitchFamily="34" charset="0"/>
              <a:buChar char="​"/>
              <a:defRPr/>
            </a:pPr>
            <a:r>
              <a:rPr lang="en-US" sz="1400" dirty="0">
                <a:solidFill>
                  <a:srgbClr val="005C8A"/>
                </a:solidFill>
                <a:latin typeface="Arial" panose="020B0604020202020204"/>
              </a:rPr>
              <a:t>Continue to use the Aria Suite Lifecycle to manage components not upgraded to 9.1 (i.e. VIDM, Aria Logs)</a:t>
            </a:r>
          </a:p>
          <a:p>
            <a:endParaRPr lang="en-US" dirty="0"/>
          </a:p>
        </p:txBody>
      </p:sp>
    </p:spTree>
    <p:extLst>
      <p:ext uri="{BB962C8B-B14F-4D97-AF65-F5344CB8AC3E}">
        <p14:creationId xmlns:p14="http://schemas.microsoft.com/office/powerpoint/2010/main" val="424089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 calcmode="lin" valueType="num">
                                      <p:cBhvr additive="base">
                                        <p:cTn id="2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 calcmode="lin" valueType="num">
                                      <p:cBhvr additive="base">
                                        <p:cTn id="2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 calcmode="lin" valueType="num">
                                      <p:cBhvr additive="base">
                                        <p:cTn id="3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anim calcmode="lin" valueType="num">
                                      <p:cBhvr additive="base">
                                        <p:cTn id="3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6">
                                            <p:txEl>
                                              <p:pRg st="1" end="1"/>
                                            </p:txEl>
                                          </p:spTgt>
                                        </p:tgtEl>
                                        <p:attrNameLst>
                                          <p:attrName>style.visibility</p:attrName>
                                        </p:attrNameLst>
                                      </p:cBhvr>
                                      <p:to>
                                        <p:strVal val="visible"/>
                                      </p:to>
                                    </p:set>
                                    <p:anim calcmode="lin" valueType="num">
                                      <p:cBhvr additive="base">
                                        <p:cTn id="4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6">
                                            <p:txEl>
                                              <p:pRg st="3" end="3"/>
                                            </p:txEl>
                                          </p:spTgt>
                                        </p:tgtEl>
                                        <p:attrNameLst>
                                          <p:attrName>style.visibility</p:attrName>
                                        </p:attrNameLst>
                                      </p:cBhvr>
                                      <p:to>
                                        <p:strVal val="visible"/>
                                      </p:to>
                                    </p:set>
                                    <p:anim calcmode="lin" valueType="num">
                                      <p:cBhvr additive="base">
                                        <p:cTn id="5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6">
                                            <p:txEl>
                                              <p:pRg st="4" end="4"/>
                                            </p:txEl>
                                          </p:spTgt>
                                        </p:tgtEl>
                                        <p:attrNameLst>
                                          <p:attrName>style.visibility</p:attrName>
                                        </p:attrNameLst>
                                      </p:cBhvr>
                                      <p:to>
                                        <p:strVal val="visible"/>
                                      </p:to>
                                    </p:set>
                                    <p:anim calcmode="lin" valueType="num">
                                      <p:cBhvr additive="base">
                                        <p:cTn id="5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
                                            <p:txEl>
                                              <p:pRg st="5" end="5"/>
                                            </p:txEl>
                                          </p:spTgt>
                                        </p:tgtEl>
                                        <p:attrNameLst>
                                          <p:attrName>style.visibility</p:attrName>
                                        </p:attrNameLst>
                                      </p:cBhvr>
                                      <p:to>
                                        <p:strVal val="visible"/>
                                      </p:to>
                                    </p:set>
                                    <p:anim calcmode="lin" valueType="num">
                                      <p:cBhvr additive="base">
                                        <p:cTn id="5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
                                            <p:txEl>
                                              <p:pRg st="5" end="5"/>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6">
                                            <p:txEl>
                                              <p:pRg st="6" end="6"/>
                                            </p:txEl>
                                          </p:spTgt>
                                        </p:tgtEl>
                                        <p:attrNameLst>
                                          <p:attrName>style.visibility</p:attrName>
                                        </p:attrNameLst>
                                      </p:cBhvr>
                                      <p:to>
                                        <p:strVal val="visible"/>
                                      </p:to>
                                    </p:set>
                                    <p:anim calcmode="lin" valueType="num">
                                      <p:cBhvr additive="base">
                                        <p:cTn id="6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B30BB-6502-8B0D-8805-4DD2DC395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1640B-362E-1D13-5450-5F9C5A07DC5F}"/>
              </a:ext>
            </a:extLst>
          </p:cNvPr>
          <p:cNvSpPr>
            <a:spLocks noGrp="1"/>
          </p:cNvSpPr>
          <p:nvPr>
            <p:ph type="title"/>
          </p:nvPr>
        </p:nvSpPr>
        <p:spPr>
          <a:xfrm>
            <a:off x="579809" y="412751"/>
            <a:ext cx="11001004" cy="381000"/>
          </a:xfrm>
        </p:spPr>
        <p:txBody>
          <a:bodyPr wrap="none" anchor="b">
            <a:normAutofit/>
          </a:bodyPr>
          <a:lstStyle/>
          <a:p>
            <a:r>
              <a:rPr lang="en-US" sz="2600" dirty="0"/>
              <a:t>vSphere 8.x </a:t>
            </a:r>
            <a:r>
              <a:rPr lang="en-US" sz="2600" dirty="0">
                <a:sym typeface="Wingdings" pitchFamily="2" charset="2"/>
              </a:rPr>
              <a:t></a:t>
            </a:r>
            <a:r>
              <a:rPr lang="en-US" sz="2600" dirty="0"/>
              <a:t> VCF 9.1 Upgrade Considerations</a:t>
            </a:r>
          </a:p>
        </p:txBody>
      </p:sp>
      <p:sp>
        <p:nvSpPr>
          <p:cNvPr id="4" name="Content Placeholder 3">
            <a:extLst>
              <a:ext uri="{FF2B5EF4-FFF2-40B4-BE49-F238E27FC236}">
                <a16:creationId xmlns:a16="http://schemas.microsoft.com/office/drawing/2014/main" id="{6DA119E3-A813-646B-2A9E-61F9A8B3CD86}"/>
              </a:ext>
            </a:extLst>
          </p:cNvPr>
          <p:cNvSpPr>
            <a:spLocks noGrp="1"/>
          </p:cNvSpPr>
          <p:nvPr>
            <p:ph sz="quarter" idx="17"/>
          </p:nvPr>
        </p:nvSpPr>
        <p:spPr>
          <a:xfrm>
            <a:off x="608013" y="1600200"/>
            <a:ext cx="5313783" cy="4572000"/>
          </a:xfrm>
        </p:spPr>
        <p:txBody>
          <a:bodyPr>
            <a:normAutofit/>
          </a:bodyPr>
          <a:lstStyle/>
          <a:p>
            <a:r>
              <a:rPr lang="en-US" dirty="0">
                <a:solidFill>
                  <a:schemeClr val="accent2"/>
                </a:solidFill>
              </a:rPr>
              <a:t>Use the </a:t>
            </a:r>
            <a:r>
              <a:rPr lang="en-US" b="1" dirty="0">
                <a:solidFill>
                  <a:schemeClr val="accent2"/>
                </a:solidFill>
              </a:rPr>
              <a:t>VCF Installer</a:t>
            </a:r>
            <a:r>
              <a:rPr lang="en-US" dirty="0">
                <a:solidFill>
                  <a:schemeClr val="accent2"/>
                </a:solidFill>
              </a:rPr>
              <a:t> to ”converge” an existing vSphere environment to VCF 9.1 Instance.</a:t>
            </a:r>
          </a:p>
          <a:p>
            <a:pPr lvl="1"/>
            <a:r>
              <a:rPr lang="en-US" dirty="0">
                <a:solidFill>
                  <a:schemeClr val="accent2"/>
                </a:solidFill>
              </a:rPr>
              <a:t>The converged vSphere environment becomes the VCF management domain in a new VCF Instance.</a:t>
            </a:r>
          </a:p>
          <a:p>
            <a:r>
              <a:rPr lang="en-US" b="1" dirty="0">
                <a:solidFill>
                  <a:schemeClr val="accent2"/>
                </a:solidFill>
              </a:rPr>
              <a:t>Missing components automatically deployed</a:t>
            </a:r>
            <a:r>
              <a:rPr lang="en-US" dirty="0">
                <a:solidFill>
                  <a:schemeClr val="accent2"/>
                </a:solidFill>
              </a:rPr>
              <a:t> to complete the VCF Instance/Fleet.</a:t>
            </a:r>
          </a:p>
          <a:p>
            <a:pPr lvl="1"/>
            <a:r>
              <a:rPr lang="en-US" dirty="0">
                <a:solidFill>
                  <a:schemeClr val="accent2"/>
                </a:solidFill>
              </a:rPr>
              <a:t>VCF Operations</a:t>
            </a:r>
          </a:p>
          <a:p>
            <a:pPr lvl="1"/>
            <a:r>
              <a:rPr lang="en-US" dirty="0">
                <a:solidFill>
                  <a:schemeClr val="accent2"/>
                </a:solidFill>
              </a:rPr>
              <a:t>NSX</a:t>
            </a:r>
          </a:p>
          <a:p>
            <a:pPr lvl="1"/>
            <a:r>
              <a:rPr lang="en-US" dirty="0">
                <a:solidFill>
                  <a:schemeClr val="accent2"/>
                </a:solidFill>
              </a:rPr>
              <a:t>VCF Automation</a:t>
            </a:r>
          </a:p>
          <a:p>
            <a:pPr lvl="1"/>
            <a:r>
              <a:rPr lang="en-US" dirty="0">
                <a:solidFill>
                  <a:schemeClr val="accent2"/>
                </a:solidFill>
              </a:rPr>
              <a:t>New components introduced with VCF 9.1.</a:t>
            </a:r>
          </a:p>
          <a:p>
            <a:pPr lvl="2"/>
            <a:r>
              <a:rPr lang="en-US" dirty="0">
                <a:solidFill>
                  <a:schemeClr val="accent2"/>
                </a:solidFill>
              </a:rPr>
              <a:t>VCF Management Services</a:t>
            </a:r>
          </a:p>
          <a:p>
            <a:pPr lvl="2"/>
            <a:r>
              <a:rPr lang="en-US" dirty="0">
                <a:solidFill>
                  <a:schemeClr val="accent2"/>
                </a:solidFill>
              </a:rPr>
              <a:t>VCF License Server</a:t>
            </a:r>
          </a:p>
        </p:txBody>
      </p:sp>
      <p:pic>
        <p:nvPicPr>
          <p:cNvPr id="5" name="Picture 4">
            <a:extLst>
              <a:ext uri="{FF2B5EF4-FFF2-40B4-BE49-F238E27FC236}">
                <a16:creationId xmlns:a16="http://schemas.microsoft.com/office/drawing/2014/main" id="{F515A8BD-E82E-BDD4-7735-411A599471CF}"/>
              </a:ext>
            </a:extLst>
          </p:cNvPr>
          <p:cNvPicPr>
            <a:picLocks noChangeAspect="1"/>
          </p:cNvPicPr>
          <p:nvPr/>
        </p:nvPicPr>
        <p:blipFill>
          <a:blip r:embed="rId3"/>
          <a:stretch>
            <a:fillRect/>
          </a:stretch>
        </p:blipFill>
        <p:spPr>
          <a:xfrm>
            <a:off x="6321287" y="1793898"/>
            <a:ext cx="5313783" cy="4184604"/>
          </a:xfrm>
          <a:prstGeom prst="rect">
            <a:avLst/>
          </a:prstGeom>
          <a:noFill/>
        </p:spPr>
      </p:pic>
    </p:spTree>
    <p:extLst>
      <p:ext uri="{BB962C8B-B14F-4D97-AF65-F5344CB8AC3E}">
        <p14:creationId xmlns:p14="http://schemas.microsoft.com/office/powerpoint/2010/main" val="31989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79D28-B06F-1F96-C041-5C1D5702EA43}"/>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6E68988-E058-EEDC-3453-94CCEE295CCF}"/>
              </a:ext>
            </a:extLst>
          </p:cNvPr>
          <p:cNvSpPr/>
          <p:nvPr/>
        </p:nvSpPr>
        <p:spPr bwMode="gray">
          <a:xfrm>
            <a:off x="2173379" y="4055484"/>
            <a:ext cx="9759763" cy="2097666"/>
          </a:xfrm>
          <a:prstGeom prst="roundRect">
            <a:avLst/>
          </a:prstGeom>
          <a:solidFill>
            <a:schemeClr val="accent4">
              <a:lumMod val="20000"/>
              <a:lumOff val="8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5" name="Rounded Rectangle 4">
            <a:extLst>
              <a:ext uri="{FF2B5EF4-FFF2-40B4-BE49-F238E27FC236}">
                <a16:creationId xmlns:a16="http://schemas.microsoft.com/office/drawing/2014/main" id="{F75B2150-28CE-EFFA-75CC-0CCC8B4700C7}"/>
              </a:ext>
            </a:extLst>
          </p:cNvPr>
          <p:cNvSpPr/>
          <p:nvPr/>
        </p:nvSpPr>
        <p:spPr bwMode="gray">
          <a:xfrm>
            <a:off x="2146487" y="1701025"/>
            <a:ext cx="9759763" cy="1970567"/>
          </a:xfrm>
          <a:prstGeom prst="roundRect">
            <a:avLst/>
          </a:prstGeom>
          <a:solidFill>
            <a:schemeClr val="accent2">
              <a:lumMod val="20000"/>
              <a:lumOff val="8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2" name="Title 1">
            <a:extLst>
              <a:ext uri="{FF2B5EF4-FFF2-40B4-BE49-F238E27FC236}">
                <a16:creationId xmlns:a16="http://schemas.microsoft.com/office/drawing/2014/main" id="{D038C466-38CB-D44B-FFEA-2310CDC74308}"/>
              </a:ext>
            </a:extLst>
          </p:cNvPr>
          <p:cNvSpPr>
            <a:spLocks noGrp="1"/>
          </p:cNvSpPr>
          <p:nvPr>
            <p:ph type="title"/>
          </p:nvPr>
        </p:nvSpPr>
        <p:spPr/>
        <p:txBody>
          <a:bodyPr/>
          <a:lstStyle/>
          <a:p>
            <a:r>
              <a:rPr lang="en-US" dirty="0"/>
              <a:t>vSphere 8.x Upgrade Path</a:t>
            </a:r>
          </a:p>
        </p:txBody>
      </p:sp>
      <p:sp>
        <p:nvSpPr>
          <p:cNvPr id="3" name="Rounded Rectangle 2">
            <a:extLst>
              <a:ext uri="{FF2B5EF4-FFF2-40B4-BE49-F238E27FC236}">
                <a16:creationId xmlns:a16="http://schemas.microsoft.com/office/drawing/2014/main" id="{CF54326D-B136-B3CF-803A-B9AB1DB26197}"/>
              </a:ext>
            </a:extLst>
          </p:cNvPr>
          <p:cNvSpPr/>
          <p:nvPr/>
        </p:nvSpPr>
        <p:spPr bwMode="gray">
          <a:xfrm>
            <a:off x="579809" y="3449320"/>
            <a:ext cx="1267426" cy="537882"/>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vSphere</a:t>
            </a:r>
          </a:p>
          <a:p>
            <a:pPr algn="ctr"/>
            <a:r>
              <a:rPr lang="en-US" sz="1000" dirty="0">
                <a:solidFill>
                  <a:schemeClr val="bg1"/>
                </a:solidFill>
              </a:rPr>
              <a:t>8.0 Update 3</a:t>
            </a:r>
          </a:p>
        </p:txBody>
      </p:sp>
      <p:grpSp>
        <p:nvGrpSpPr>
          <p:cNvPr id="86" name="Group 85">
            <a:extLst>
              <a:ext uri="{FF2B5EF4-FFF2-40B4-BE49-F238E27FC236}">
                <a16:creationId xmlns:a16="http://schemas.microsoft.com/office/drawing/2014/main" id="{B4655D14-8644-E2EF-7203-F90F1C30137A}"/>
              </a:ext>
            </a:extLst>
          </p:cNvPr>
          <p:cNvGrpSpPr/>
          <p:nvPr/>
        </p:nvGrpSpPr>
        <p:grpSpPr>
          <a:xfrm>
            <a:off x="1213521" y="2421986"/>
            <a:ext cx="2137393" cy="2822034"/>
            <a:chOff x="1213521" y="2421986"/>
            <a:chExt cx="2137393" cy="2822034"/>
          </a:xfrm>
        </p:grpSpPr>
        <p:grpSp>
          <p:nvGrpSpPr>
            <p:cNvPr id="6" name="Group 5">
              <a:extLst>
                <a:ext uri="{FF2B5EF4-FFF2-40B4-BE49-F238E27FC236}">
                  <a16:creationId xmlns:a16="http://schemas.microsoft.com/office/drawing/2014/main" id="{7D622FA1-71EC-5C5E-F23C-EAB6F0D0FEE2}"/>
                </a:ext>
              </a:extLst>
            </p:cNvPr>
            <p:cNvGrpSpPr/>
            <p:nvPr/>
          </p:nvGrpSpPr>
          <p:grpSpPr>
            <a:xfrm>
              <a:off x="1213521" y="2421986"/>
              <a:ext cx="2137393" cy="1027335"/>
              <a:chOff x="1213521" y="2421986"/>
              <a:chExt cx="2137393" cy="1027335"/>
            </a:xfrm>
          </p:grpSpPr>
          <p:sp>
            <p:nvSpPr>
              <p:cNvPr id="8" name="Rounded Rectangle 7">
                <a:extLst>
                  <a:ext uri="{FF2B5EF4-FFF2-40B4-BE49-F238E27FC236}">
                    <a16:creationId xmlns:a16="http://schemas.microsoft.com/office/drawing/2014/main" id="{D69E6B82-0FE5-DBDD-955B-656EE22F7F52}"/>
                  </a:ext>
                </a:extLst>
              </p:cNvPr>
              <p:cNvSpPr/>
              <p:nvPr/>
            </p:nvSpPr>
            <p:spPr bwMode="gray">
              <a:xfrm>
                <a:off x="2295561" y="2421986"/>
                <a:ext cx="1055353" cy="38100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w/out NSX</a:t>
                </a:r>
              </a:p>
            </p:txBody>
          </p:sp>
          <p:cxnSp>
            <p:nvCxnSpPr>
              <p:cNvPr id="65" name="Elbow Connector 64">
                <a:extLst>
                  <a:ext uri="{FF2B5EF4-FFF2-40B4-BE49-F238E27FC236}">
                    <a16:creationId xmlns:a16="http://schemas.microsoft.com/office/drawing/2014/main" id="{691B70C0-EE72-6740-2BA3-68BCDD692F7B}"/>
                  </a:ext>
                </a:extLst>
              </p:cNvPr>
              <p:cNvCxnSpPr>
                <a:stCxn id="3" idx="0"/>
                <a:endCxn id="8" idx="1"/>
              </p:cNvCxnSpPr>
              <p:nvPr/>
            </p:nvCxnSpPr>
            <p:spPr bwMode="gray">
              <a:xfrm rot="5400000" flipH="1" flipV="1">
                <a:off x="1336124" y="2489884"/>
                <a:ext cx="836834" cy="1082039"/>
              </a:xfrm>
              <a:prstGeom prst="bentConnector2">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849CB795-D1B6-9690-FC6A-1949831838B6}"/>
                </a:ext>
              </a:extLst>
            </p:cNvPr>
            <p:cNvGrpSpPr/>
            <p:nvPr/>
          </p:nvGrpSpPr>
          <p:grpSpPr>
            <a:xfrm>
              <a:off x="1213521" y="3987202"/>
              <a:ext cx="2137393" cy="1256818"/>
              <a:chOff x="1213521" y="3987202"/>
              <a:chExt cx="2137393" cy="1256818"/>
            </a:xfrm>
          </p:grpSpPr>
          <p:sp>
            <p:nvSpPr>
              <p:cNvPr id="9" name="Rounded Rectangle 8">
                <a:extLst>
                  <a:ext uri="{FF2B5EF4-FFF2-40B4-BE49-F238E27FC236}">
                    <a16:creationId xmlns:a16="http://schemas.microsoft.com/office/drawing/2014/main" id="{F4B7823F-E86C-12B1-9F06-4AB1F42B4127}"/>
                  </a:ext>
                </a:extLst>
              </p:cNvPr>
              <p:cNvSpPr/>
              <p:nvPr/>
            </p:nvSpPr>
            <p:spPr bwMode="gray">
              <a:xfrm>
                <a:off x="2295561" y="4863020"/>
                <a:ext cx="1055353" cy="38100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w/ NSX 4.2</a:t>
                </a:r>
              </a:p>
            </p:txBody>
          </p:sp>
          <p:cxnSp>
            <p:nvCxnSpPr>
              <p:cNvPr id="66" name="Elbow Connector 65">
                <a:extLst>
                  <a:ext uri="{FF2B5EF4-FFF2-40B4-BE49-F238E27FC236}">
                    <a16:creationId xmlns:a16="http://schemas.microsoft.com/office/drawing/2014/main" id="{FD72CE2A-6EBE-98C5-8E76-C823033DE922}"/>
                  </a:ext>
                </a:extLst>
              </p:cNvPr>
              <p:cNvCxnSpPr>
                <a:cxnSpLocks/>
                <a:stCxn id="3" idx="2"/>
                <a:endCxn id="9" idx="1"/>
              </p:cNvCxnSpPr>
              <p:nvPr/>
            </p:nvCxnSpPr>
            <p:spPr bwMode="gray">
              <a:xfrm rot="16200000" flipH="1">
                <a:off x="1221382" y="3979341"/>
                <a:ext cx="1066318" cy="1082039"/>
              </a:xfrm>
              <a:prstGeom prst="bentConnector2">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grpSp>
      <p:cxnSp>
        <p:nvCxnSpPr>
          <p:cNvPr id="25" name="Elbow Connector 24">
            <a:extLst>
              <a:ext uri="{FF2B5EF4-FFF2-40B4-BE49-F238E27FC236}">
                <a16:creationId xmlns:a16="http://schemas.microsoft.com/office/drawing/2014/main" id="{31916D21-699A-80EB-8E15-FD8B2D0E3F00}"/>
              </a:ext>
            </a:extLst>
          </p:cNvPr>
          <p:cNvCxnSpPr>
            <a:cxnSpLocks/>
            <a:stCxn id="8" idx="3"/>
            <a:endCxn id="32" idx="1"/>
          </p:cNvCxnSpPr>
          <p:nvPr/>
        </p:nvCxnSpPr>
        <p:spPr bwMode="gray">
          <a:xfrm flipV="1">
            <a:off x="3350914" y="2314060"/>
            <a:ext cx="7734446" cy="298426"/>
          </a:xfrm>
          <a:prstGeom prst="bentConnector3">
            <a:avLst>
              <a:gd name="adj1" fmla="val 1479"/>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5" name="Rounded Rectangle 44">
            <a:extLst>
              <a:ext uri="{FF2B5EF4-FFF2-40B4-BE49-F238E27FC236}">
                <a16:creationId xmlns:a16="http://schemas.microsoft.com/office/drawing/2014/main" id="{FEBE84DE-8FD4-D056-961D-D3AC526C3D46}"/>
              </a:ext>
            </a:extLst>
          </p:cNvPr>
          <p:cNvSpPr/>
          <p:nvPr/>
        </p:nvSpPr>
        <p:spPr bwMode="gray">
          <a:xfrm>
            <a:off x="3610164" y="2102006"/>
            <a:ext cx="1055353" cy="38100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w/out Aria Ops</a:t>
            </a:r>
          </a:p>
        </p:txBody>
      </p:sp>
      <p:cxnSp>
        <p:nvCxnSpPr>
          <p:cNvPr id="29" name="Elbow Connector 28">
            <a:extLst>
              <a:ext uri="{FF2B5EF4-FFF2-40B4-BE49-F238E27FC236}">
                <a16:creationId xmlns:a16="http://schemas.microsoft.com/office/drawing/2014/main" id="{179154D3-E9FD-1DA0-5530-23E5B40D1D3F}"/>
              </a:ext>
            </a:extLst>
          </p:cNvPr>
          <p:cNvCxnSpPr>
            <a:cxnSpLocks/>
            <a:stCxn id="8" idx="3"/>
            <a:endCxn id="52" idx="1"/>
          </p:cNvCxnSpPr>
          <p:nvPr/>
        </p:nvCxnSpPr>
        <p:spPr bwMode="gray">
          <a:xfrm>
            <a:off x="3350914" y="2612486"/>
            <a:ext cx="7734446" cy="357961"/>
          </a:xfrm>
          <a:prstGeom prst="bentConnector3">
            <a:avLst>
              <a:gd name="adj1" fmla="val 1460"/>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9F7375FE-45B8-AAD3-844D-9F9D0C7C8A78}"/>
              </a:ext>
            </a:extLst>
          </p:cNvPr>
          <p:cNvSpPr/>
          <p:nvPr/>
        </p:nvSpPr>
        <p:spPr bwMode="gray">
          <a:xfrm>
            <a:off x="3610164" y="2768886"/>
            <a:ext cx="1055353" cy="38100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w/ Aria Ops 8.18</a:t>
            </a:r>
          </a:p>
        </p:txBody>
      </p:sp>
      <p:cxnSp>
        <p:nvCxnSpPr>
          <p:cNvPr id="35" name="Elbow Connector 34">
            <a:extLst>
              <a:ext uri="{FF2B5EF4-FFF2-40B4-BE49-F238E27FC236}">
                <a16:creationId xmlns:a16="http://schemas.microsoft.com/office/drawing/2014/main" id="{1A6D5AEA-27F5-2983-204A-46A270C07878}"/>
              </a:ext>
            </a:extLst>
          </p:cNvPr>
          <p:cNvCxnSpPr>
            <a:cxnSpLocks/>
            <a:stCxn id="9" idx="3"/>
            <a:endCxn id="61" idx="1"/>
          </p:cNvCxnSpPr>
          <p:nvPr/>
        </p:nvCxnSpPr>
        <p:spPr bwMode="gray">
          <a:xfrm flipV="1">
            <a:off x="3350914" y="4747113"/>
            <a:ext cx="6693331" cy="306407"/>
          </a:xfrm>
          <a:prstGeom prst="bentConnector3">
            <a:avLst>
              <a:gd name="adj1" fmla="val 1758"/>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F3A736F5-0DA6-A184-057A-651F6ABCCD5C}"/>
              </a:ext>
            </a:extLst>
          </p:cNvPr>
          <p:cNvCxnSpPr>
            <a:cxnSpLocks/>
            <a:stCxn id="9" idx="3"/>
            <a:endCxn id="20" idx="1"/>
          </p:cNvCxnSpPr>
          <p:nvPr/>
        </p:nvCxnSpPr>
        <p:spPr bwMode="gray">
          <a:xfrm>
            <a:off x="3350914" y="5053520"/>
            <a:ext cx="6706964" cy="359478"/>
          </a:xfrm>
          <a:prstGeom prst="bentConnector3">
            <a:avLst>
              <a:gd name="adj1" fmla="val 1736"/>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4" name="Rounded Rectangle 53">
            <a:extLst>
              <a:ext uri="{FF2B5EF4-FFF2-40B4-BE49-F238E27FC236}">
                <a16:creationId xmlns:a16="http://schemas.microsoft.com/office/drawing/2014/main" id="{DCEFE9BA-076A-0E5A-BEE3-6B6DB1B2A4B0}"/>
              </a:ext>
            </a:extLst>
          </p:cNvPr>
          <p:cNvSpPr/>
          <p:nvPr/>
        </p:nvSpPr>
        <p:spPr bwMode="gray">
          <a:xfrm>
            <a:off x="3610164" y="4557859"/>
            <a:ext cx="1055353" cy="38100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w/out Aria Ops</a:t>
            </a:r>
          </a:p>
        </p:txBody>
      </p:sp>
      <p:sp>
        <p:nvSpPr>
          <p:cNvPr id="55" name="Rounded Rectangle 54">
            <a:extLst>
              <a:ext uri="{FF2B5EF4-FFF2-40B4-BE49-F238E27FC236}">
                <a16:creationId xmlns:a16="http://schemas.microsoft.com/office/drawing/2014/main" id="{1A5F003C-8C0F-AED7-C4CD-E5481B0D9A92}"/>
              </a:ext>
            </a:extLst>
          </p:cNvPr>
          <p:cNvSpPr/>
          <p:nvPr/>
        </p:nvSpPr>
        <p:spPr bwMode="gray">
          <a:xfrm>
            <a:off x="3610164" y="5209689"/>
            <a:ext cx="1055353" cy="38100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w/ Aria Ops 8.18</a:t>
            </a:r>
          </a:p>
        </p:txBody>
      </p:sp>
      <p:grpSp>
        <p:nvGrpSpPr>
          <p:cNvPr id="40" name="Group 39">
            <a:extLst>
              <a:ext uri="{FF2B5EF4-FFF2-40B4-BE49-F238E27FC236}">
                <a16:creationId xmlns:a16="http://schemas.microsoft.com/office/drawing/2014/main" id="{363055EE-C748-2F02-2D07-3C6DBDC9420C}"/>
              </a:ext>
            </a:extLst>
          </p:cNvPr>
          <p:cNvGrpSpPr/>
          <p:nvPr/>
        </p:nvGrpSpPr>
        <p:grpSpPr>
          <a:xfrm>
            <a:off x="5899487" y="4361465"/>
            <a:ext cx="744132" cy="560067"/>
            <a:chOff x="5899487" y="4361465"/>
            <a:chExt cx="744132" cy="560067"/>
          </a:xfrm>
        </p:grpSpPr>
        <p:sp>
          <p:nvSpPr>
            <p:cNvPr id="57" name="Google Shape;1909;g398b2a37679_3_8262">
              <a:extLst>
                <a:ext uri="{FF2B5EF4-FFF2-40B4-BE49-F238E27FC236}">
                  <a16:creationId xmlns:a16="http://schemas.microsoft.com/office/drawing/2014/main" id="{4B20732A-F034-5286-6CE2-DA05A689DF21}"/>
                </a:ext>
              </a:extLst>
            </p:cNvPr>
            <p:cNvSpPr/>
            <p:nvPr/>
          </p:nvSpPr>
          <p:spPr>
            <a:xfrm>
              <a:off x="5899487" y="4572694"/>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Deploy VCF Installer &amp; Dload Binaries</a:t>
              </a:r>
              <a:endParaRPr dirty="0"/>
            </a:p>
          </p:txBody>
        </p:sp>
        <p:sp>
          <p:nvSpPr>
            <p:cNvPr id="62" name="Oval 61">
              <a:extLst>
                <a:ext uri="{FF2B5EF4-FFF2-40B4-BE49-F238E27FC236}">
                  <a16:creationId xmlns:a16="http://schemas.microsoft.com/office/drawing/2014/main" id="{79398873-AEE8-77F5-F967-865AB8106A5E}"/>
                </a:ext>
              </a:extLst>
            </p:cNvPr>
            <p:cNvSpPr/>
            <p:nvPr/>
          </p:nvSpPr>
          <p:spPr bwMode="gray">
            <a:xfrm>
              <a:off x="5934628" y="4361465"/>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1</a:t>
              </a:r>
            </a:p>
          </p:txBody>
        </p:sp>
      </p:grpSp>
      <p:grpSp>
        <p:nvGrpSpPr>
          <p:cNvPr id="41" name="Group 40">
            <a:extLst>
              <a:ext uri="{FF2B5EF4-FFF2-40B4-BE49-F238E27FC236}">
                <a16:creationId xmlns:a16="http://schemas.microsoft.com/office/drawing/2014/main" id="{C6BCA6E3-371C-1C9D-3293-2AD10CF3ECE8}"/>
              </a:ext>
            </a:extLst>
          </p:cNvPr>
          <p:cNvGrpSpPr/>
          <p:nvPr/>
        </p:nvGrpSpPr>
        <p:grpSpPr>
          <a:xfrm>
            <a:off x="6933935" y="4371844"/>
            <a:ext cx="744132" cy="556454"/>
            <a:chOff x="6933935" y="4371844"/>
            <a:chExt cx="744132" cy="556454"/>
          </a:xfrm>
        </p:grpSpPr>
        <p:sp>
          <p:nvSpPr>
            <p:cNvPr id="58" name="Google Shape;1910;g398b2a37679_3_8262">
              <a:extLst>
                <a:ext uri="{FF2B5EF4-FFF2-40B4-BE49-F238E27FC236}">
                  <a16:creationId xmlns:a16="http://schemas.microsoft.com/office/drawing/2014/main" id="{103069B3-E1D6-854B-84EC-0431019DF807}"/>
                </a:ext>
              </a:extLst>
            </p:cNvPr>
            <p:cNvSpPr/>
            <p:nvPr/>
          </p:nvSpPr>
          <p:spPr>
            <a:xfrm>
              <a:off x="6933935" y="4579460"/>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Converge vSphere + NSX &amp; Deploy VCF</a:t>
              </a:r>
              <a:endParaRPr dirty="0"/>
            </a:p>
          </p:txBody>
        </p:sp>
        <p:sp>
          <p:nvSpPr>
            <p:cNvPr id="63" name="Oval 62">
              <a:extLst>
                <a:ext uri="{FF2B5EF4-FFF2-40B4-BE49-F238E27FC236}">
                  <a16:creationId xmlns:a16="http://schemas.microsoft.com/office/drawing/2014/main" id="{3F76F3E8-4FB6-54E5-22F9-B560E6FD6E71}"/>
                </a:ext>
              </a:extLst>
            </p:cNvPr>
            <p:cNvSpPr/>
            <p:nvPr/>
          </p:nvSpPr>
          <p:spPr bwMode="gray">
            <a:xfrm>
              <a:off x="6961072" y="4371844"/>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2</a:t>
              </a:r>
            </a:p>
          </p:txBody>
        </p:sp>
      </p:grpSp>
      <p:grpSp>
        <p:nvGrpSpPr>
          <p:cNvPr id="42" name="Group 41">
            <a:extLst>
              <a:ext uri="{FF2B5EF4-FFF2-40B4-BE49-F238E27FC236}">
                <a16:creationId xmlns:a16="http://schemas.microsoft.com/office/drawing/2014/main" id="{654A8083-2B77-826E-112A-5162BCA0C04F}"/>
              </a:ext>
            </a:extLst>
          </p:cNvPr>
          <p:cNvGrpSpPr/>
          <p:nvPr/>
        </p:nvGrpSpPr>
        <p:grpSpPr>
          <a:xfrm>
            <a:off x="7968383" y="4351633"/>
            <a:ext cx="744132" cy="557401"/>
            <a:chOff x="7968383" y="4351633"/>
            <a:chExt cx="744132" cy="557401"/>
          </a:xfrm>
        </p:grpSpPr>
        <p:sp>
          <p:nvSpPr>
            <p:cNvPr id="59" name="Google Shape;1877;g398b2a37679_3_8262">
              <a:extLst>
                <a:ext uri="{FF2B5EF4-FFF2-40B4-BE49-F238E27FC236}">
                  <a16:creationId xmlns:a16="http://schemas.microsoft.com/office/drawing/2014/main" id="{2B5B0C95-0A30-EF36-CA9F-68437D020851}"/>
                </a:ext>
              </a:extLst>
            </p:cNvPr>
            <p:cNvSpPr/>
            <p:nvPr/>
          </p:nvSpPr>
          <p:spPr>
            <a:xfrm>
              <a:off x="7968383" y="4560196"/>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600" dirty="0">
                  <a:solidFill>
                    <a:schemeClr val="lt1"/>
                  </a:solidFill>
                  <a:cs typeface="Arial"/>
                  <a:sym typeface="Arial"/>
                </a:rPr>
                <a:t>Config depot &amp; dload binaries</a:t>
              </a:r>
              <a:endParaRPr lang="en-US" sz="800" dirty="0"/>
            </a:p>
          </p:txBody>
        </p:sp>
        <p:sp>
          <p:nvSpPr>
            <p:cNvPr id="64" name="Oval 63">
              <a:extLst>
                <a:ext uri="{FF2B5EF4-FFF2-40B4-BE49-F238E27FC236}">
                  <a16:creationId xmlns:a16="http://schemas.microsoft.com/office/drawing/2014/main" id="{A0327BC0-F3E5-1A3C-E247-3A6DC5CA42CB}"/>
                </a:ext>
              </a:extLst>
            </p:cNvPr>
            <p:cNvSpPr/>
            <p:nvPr/>
          </p:nvSpPr>
          <p:spPr bwMode="gray">
            <a:xfrm>
              <a:off x="8005446" y="4351633"/>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3</a:t>
              </a:r>
            </a:p>
          </p:txBody>
        </p:sp>
      </p:grpSp>
      <p:grpSp>
        <p:nvGrpSpPr>
          <p:cNvPr id="43" name="Group 42">
            <a:extLst>
              <a:ext uri="{FF2B5EF4-FFF2-40B4-BE49-F238E27FC236}">
                <a16:creationId xmlns:a16="http://schemas.microsoft.com/office/drawing/2014/main" id="{9805F85E-0A96-1D80-2DF0-4C304A8F1AB6}"/>
              </a:ext>
            </a:extLst>
          </p:cNvPr>
          <p:cNvGrpSpPr/>
          <p:nvPr/>
        </p:nvGrpSpPr>
        <p:grpSpPr>
          <a:xfrm>
            <a:off x="9006314" y="4361465"/>
            <a:ext cx="744132" cy="560067"/>
            <a:chOff x="9006314" y="4361465"/>
            <a:chExt cx="744132" cy="560067"/>
          </a:xfrm>
        </p:grpSpPr>
        <p:sp>
          <p:nvSpPr>
            <p:cNvPr id="60" name="Google Shape;1877;g398b2a37679_3_8262">
              <a:extLst>
                <a:ext uri="{FF2B5EF4-FFF2-40B4-BE49-F238E27FC236}">
                  <a16:creationId xmlns:a16="http://schemas.microsoft.com/office/drawing/2014/main" id="{30996805-E71C-37BD-2E17-2128E051E48E}"/>
                </a:ext>
              </a:extLst>
            </p:cNvPr>
            <p:cNvSpPr/>
            <p:nvPr/>
          </p:nvSpPr>
          <p:spPr>
            <a:xfrm>
              <a:off x="9006314" y="4572694"/>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Upgrade NSX, vCenter &amp; ESX</a:t>
              </a:r>
              <a:endParaRPr dirty="0"/>
            </a:p>
          </p:txBody>
        </p:sp>
        <p:sp>
          <p:nvSpPr>
            <p:cNvPr id="67" name="Oval 66">
              <a:extLst>
                <a:ext uri="{FF2B5EF4-FFF2-40B4-BE49-F238E27FC236}">
                  <a16:creationId xmlns:a16="http://schemas.microsoft.com/office/drawing/2014/main" id="{76A47083-ECE3-85FE-AC89-93D3A495E5CD}"/>
                </a:ext>
              </a:extLst>
            </p:cNvPr>
            <p:cNvSpPr/>
            <p:nvPr/>
          </p:nvSpPr>
          <p:spPr bwMode="gray">
            <a:xfrm>
              <a:off x="9040855" y="4361465"/>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4</a:t>
              </a:r>
            </a:p>
          </p:txBody>
        </p:sp>
      </p:grpSp>
      <p:grpSp>
        <p:nvGrpSpPr>
          <p:cNvPr id="44" name="Group 43">
            <a:extLst>
              <a:ext uri="{FF2B5EF4-FFF2-40B4-BE49-F238E27FC236}">
                <a16:creationId xmlns:a16="http://schemas.microsoft.com/office/drawing/2014/main" id="{A51950CB-6684-939C-2B6A-01DBD7CB258E}"/>
              </a:ext>
            </a:extLst>
          </p:cNvPr>
          <p:cNvGrpSpPr/>
          <p:nvPr/>
        </p:nvGrpSpPr>
        <p:grpSpPr>
          <a:xfrm>
            <a:off x="10044245" y="4352500"/>
            <a:ext cx="744132" cy="569032"/>
            <a:chOff x="10044245" y="4352500"/>
            <a:chExt cx="744132" cy="569032"/>
          </a:xfrm>
        </p:grpSpPr>
        <p:sp>
          <p:nvSpPr>
            <p:cNvPr id="61" name="Google Shape;1877;g398b2a37679_3_8262">
              <a:extLst>
                <a:ext uri="{FF2B5EF4-FFF2-40B4-BE49-F238E27FC236}">
                  <a16:creationId xmlns:a16="http://schemas.microsoft.com/office/drawing/2014/main" id="{F3465B56-B98F-1101-E2E5-BC97E296557A}"/>
                </a:ext>
              </a:extLst>
            </p:cNvPr>
            <p:cNvSpPr/>
            <p:nvPr/>
          </p:nvSpPr>
          <p:spPr>
            <a:xfrm>
              <a:off x="10044245" y="4572694"/>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algn="ctr"/>
              <a:r>
                <a:rPr lang="en-US" sz="600" dirty="0">
                  <a:solidFill>
                    <a:schemeClr val="lt1"/>
                  </a:solidFill>
                  <a:ea typeface="Arial"/>
                  <a:cs typeface="Arial"/>
                  <a:sym typeface="Arial"/>
                </a:rPr>
                <a:t>License VCF 9.1</a:t>
              </a:r>
              <a:endParaRPr lang="en-US" sz="800" dirty="0"/>
            </a:p>
          </p:txBody>
        </p:sp>
        <p:sp>
          <p:nvSpPr>
            <p:cNvPr id="68" name="Oval 67">
              <a:extLst>
                <a:ext uri="{FF2B5EF4-FFF2-40B4-BE49-F238E27FC236}">
                  <a16:creationId xmlns:a16="http://schemas.microsoft.com/office/drawing/2014/main" id="{DB63C49C-7755-A9C4-08DD-1489DCF06A30}"/>
                </a:ext>
              </a:extLst>
            </p:cNvPr>
            <p:cNvSpPr/>
            <p:nvPr/>
          </p:nvSpPr>
          <p:spPr bwMode="gray">
            <a:xfrm>
              <a:off x="10058334" y="4352500"/>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5</a:t>
              </a:r>
            </a:p>
          </p:txBody>
        </p:sp>
      </p:grpSp>
      <p:grpSp>
        <p:nvGrpSpPr>
          <p:cNvPr id="75" name="Group 74">
            <a:extLst>
              <a:ext uri="{FF2B5EF4-FFF2-40B4-BE49-F238E27FC236}">
                <a16:creationId xmlns:a16="http://schemas.microsoft.com/office/drawing/2014/main" id="{6BC2D261-3742-7E37-B3A3-0CF03AA0D98D}"/>
              </a:ext>
            </a:extLst>
          </p:cNvPr>
          <p:cNvGrpSpPr/>
          <p:nvPr/>
        </p:nvGrpSpPr>
        <p:grpSpPr>
          <a:xfrm>
            <a:off x="4878672" y="5021582"/>
            <a:ext cx="744132" cy="569498"/>
            <a:chOff x="4878672" y="5021582"/>
            <a:chExt cx="744132" cy="569498"/>
          </a:xfrm>
        </p:grpSpPr>
        <p:sp>
          <p:nvSpPr>
            <p:cNvPr id="56" name="Google Shape;1876;g398b2a37679_3_8262">
              <a:extLst>
                <a:ext uri="{FF2B5EF4-FFF2-40B4-BE49-F238E27FC236}">
                  <a16:creationId xmlns:a16="http://schemas.microsoft.com/office/drawing/2014/main" id="{0B843B55-4422-2BD0-0519-4F51822D95E8}"/>
                </a:ext>
              </a:extLst>
            </p:cNvPr>
            <p:cNvSpPr/>
            <p:nvPr/>
          </p:nvSpPr>
          <p:spPr>
            <a:xfrm>
              <a:off x="4878672" y="5226696"/>
              <a:ext cx="744132" cy="364384"/>
            </a:xfrm>
            <a:prstGeom prst="flowChartProcess">
              <a:avLst/>
            </a:prstGeom>
            <a:solidFill>
              <a:srgbClr val="2380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Upgrade Ops to 9.1</a:t>
              </a:r>
              <a:endParaRPr dirty="0"/>
            </a:p>
          </p:txBody>
        </p:sp>
        <p:sp>
          <p:nvSpPr>
            <p:cNvPr id="71" name="Oval 70">
              <a:extLst>
                <a:ext uri="{FF2B5EF4-FFF2-40B4-BE49-F238E27FC236}">
                  <a16:creationId xmlns:a16="http://schemas.microsoft.com/office/drawing/2014/main" id="{8C6453E4-A07F-1BA8-5DAD-883561C60737}"/>
                </a:ext>
              </a:extLst>
            </p:cNvPr>
            <p:cNvSpPr/>
            <p:nvPr/>
          </p:nvSpPr>
          <p:spPr bwMode="gray">
            <a:xfrm>
              <a:off x="4911586" y="5021582"/>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1</a:t>
              </a:r>
            </a:p>
          </p:txBody>
        </p:sp>
      </p:grpSp>
      <p:grpSp>
        <p:nvGrpSpPr>
          <p:cNvPr id="79" name="Group 78">
            <a:extLst>
              <a:ext uri="{FF2B5EF4-FFF2-40B4-BE49-F238E27FC236}">
                <a16:creationId xmlns:a16="http://schemas.microsoft.com/office/drawing/2014/main" id="{2FD40249-6508-28BB-C584-06962838C666}"/>
              </a:ext>
            </a:extLst>
          </p:cNvPr>
          <p:cNvGrpSpPr/>
          <p:nvPr/>
        </p:nvGrpSpPr>
        <p:grpSpPr>
          <a:xfrm>
            <a:off x="5913120" y="5022129"/>
            <a:ext cx="744132" cy="570146"/>
            <a:chOff x="5913120" y="5022129"/>
            <a:chExt cx="744132" cy="570146"/>
          </a:xfrm>
        </p:grpSpPr>
        <p:sp>
          <p:nvSpPr>
            <p:cNvPr id="16" name="Google Shape;1909;g398b2a37679_3_8262">
              <a:extLst>
                <a:ext uri="{FF2B5EF4-FFF2-40B4-BE49-F238E27FC236}">
                  <a16:creationId xmlns:a16="http://schemas.microsoft.com/office/drawing/2014/main" id="{6376465C-9EC3-670A-63E0-E13BD1659DBB}"/>
                </a:ext>
              </a:extLst>
            </p:cNvPr>
            <p:cNvSpPr/>
            <p:nvPr/>
          </p:nvSpPr>
          <p:spPr>
            <a:xfrm>
              <a:off x="5913120" y="5227891"/>
              <a:ext cx="744132" cy="364384"/>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Deploy VCF Installer &amp; Dload Binaries</a:t>
              </a:r>
              <a:endParaRPr dirty="0"/>
            </a:p>
          </p:txBody>
        </p:sp>
        <p:sp>
          <p:nvSpPr>
            <p:cNvPr id="73" name="Oval 72">
              <a:extLst>
                <a:ext uri="{FF2B5EF4-FFF2-40B4-BE49-F238E27FC236}">
                  <a16:creationId xmlns:a16="http://schemas.microsoft.com/office/drawing/2014/main" id="{2C79CEB2-7509-2E4E-9370-4391BDFE47F5}"/>
                </a:ext>
              </a:extLst>
            </p:cNvPr>
            <p:cNvSpPr/>
            <p:nvPr/>
          </p:nvSpPr>
          <p:spPr bwMode="gray">
            <a:xfrm>
              <a:off x="5938030" y="5022129"/>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2</a:t>
              </a:r>
            </a:p>
          </p:txBody>
        </p:sp>
      </p:grpSp>
      <p:grpSp>
        <p:nvGrpSpPr>
          <p:cNvPr id="80" name="Group 79">
            <a:extLst>
              <a:ext uri="{FF2B5EF4-FFF2-40B4-BE49-F238E27FC236}">
                <a16:creationId xmlns:a16="http://schemas.microsoft.com/office/drawing/2014/main" id="{C9DD9FBD-4A71-9550-1E5B-B4130DB7F4FC}"/>
              </a:ext>
            </a:extLst>
          </p:cNvPr>
          <p:cNvGrpSpPr/>
          <p:nvPr/>
        </p:nvGrpSpPr>
        <p:grpSpPr>
          <a:xfrm>
            <a:off x="6947568" y="5021582"/>
            <a:ext cx="744132" cy="558195"/>
            <a:chOff x="6947568" y="5021582"/>
            <a:chExt cx="744132" cy="558195"/>
          </a:xfrm>
        </p:grpSpPr>
        <p:sp>
          <p:nvSpPr>
            <p:cNvPr id="17" name="Google Shape;1910;g398b2a37679_3_8262">
              <a:extLst>
                <a:ext uri="{FF2B5EF4-FFF2-40B4-BE49-F238E27FC236}">
                  <a16:creationId xmlns:a16="http://schemas.microsoft.com/office/drawing/2014/main" id="{A7780FD5-9329-D3B2-DCBF-93F55CDABEAD}"/>
                </a:ext>
              </a:extLst>
            </p:cNvPr>
            <p:cNvSpPr/>
            <p:nvPr/>
          </p:nvSpPr>
          <p:spPr>
            <a:xfrm>
              <a:off x="6947568" y="5221173"/>
              <a:ext cx="744132" cy="358604"/>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600" b="0" i="0" u="none" strike="noStrike" cap="none" dirty="0">
                  <a:solidFill>
                    <a:schemeClr val="lt1"/>
                  </a:solidFill>
                  <a:latin typeface="Arial"/>
                  <a:ea typeface="Arial"/>
                  <a:cs typeface="Arial"/>
                  <a:sym typeface="Arial"/>
                </a:rPr>
                <a:t>Converge vSphere+NSX+OPS </a:t>
              </a:r>
              <a:r>
                <a:rPr lang="en-US" sz="600" dirty="0">
                  <a:solidFill>
                    <a:schemeClr val="lt1"/>
                  </a:solidFill>
                  <a:ea typeface="Arial"/>
                  <a:cs typeface="Arial"/>
                  <a:sym typeface="Arial"/>
                </a:rPr>
                <a:t>&amp; Deploy VCF</a:t>
              </a:r>
              <a:endParaRPr sz="600" dirty="0"/>
            </a:p>
          </p:txBody>
        </p:sp>
        <p:sp>
          <p:nvSpPr>
            <p:cNvPr id="74" name="Oval 73">
              <a:extLst>
                <a:ext uri="{FF2B5EF4-FFF2-40B4-BE49-F238E27FC236}">
                  <a16:creationId xmlns:a16="http://schemas.microsoft.com/office/drawing/2014/main" id="{88F93973-CBE6-BE9E-0E47-BA8B5B6E97CA}"/>
                </a:ext>
              </a:extLst>
            </p:cNvPr>
            <p:cNvSpPr/>
            <p:nvPr/>
          </p:nvSpPr>
          <p:spPr bwMode="gray">
            <a:xfrm>
              <a:off x="6982404" y="5021582"/>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3</a:t>
              </a:r>
            </a:p>
          </p:txBody>
        </p:sp>
      </p:grpSp>
      <p:grpSp>
        <p:nvGrpSpPr>
          <p:cNvPr id="81" name="Group 80">
            <a:extLst>
              <a:ext uri="{FF2B5EF4-FFF2-40B4-BE49-F238E27FC236}">
                <a16:creationId xmlns:a16="http://schemas.microsoft.com/office/drawing/2014/main" id="{FB1561A2-6AFA-BCB2-AB65-68483C4AB626}"/>
              </a:ext>
            </a:extLst>
          </p:cNvPr>
          <p:cNvGrpSpPr/>
          <p:nvPr/>
        </p:nvGrpSpPr>
        <p:grpSpPr>
          <a:xfrm>
            <a:off x="7982016" y="5021582"/>
            <a:ext cx="744132" cy="558195"/>
            <a:chOff x="7982016" y="5021582"/>
            <a:chExt cx="744132" cy="558195"/>
          </a:xfrm>
        </p:grpSpPr>
        <p:sp>
          <p:nvSpPr>
            <p:cNvPr id="18" name="Google Shape;1877;g398b2a37679_3_8262">
              <a:extLst>
                <a:ext uri="{FF2B5EF4-FFF2-40B4-BE49-F238E27FC236}">
                  <a16:creationId xmlns:a16="http://schemas.microsoft.com/office/drawing/2014/main" id="{A681B4D7-FCE7-ED43-71C7-759BEF11CF7D}"/>
                </a:ext>
              </a:extLst>
            </p:cNvPr>
            <p:cNvSpPr/>
            <p:nvPr/>
          </p:nvSpPr>
          <p:spPr>
            <a:xfrm>
              <a:off x="7982016" y="5230939"/>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600" dirty="0">
                  <a:solidFill>
                    <a:schemeClr val="lt1"/>
                  </a:solidFill>
                  <a:cs typeface="Arial"/>
                  <a:sym typeface="Arial"/>
                </a:rPr>
                <a:t>Config depot &amp; dload binaries</a:t>
              </a:r>
              <a:endParaRPr lang="en-US" sz="800" dirty="0"/>
            </a:p>
          </p:txBody>
        </p:sp>
        <p:sp>
          <p:nvSpPr>
            <p:cNvPr id="76" name="Oval 75">
              <a:extLst>
                <a:ext uri="{FF2B5EF4-FFF2-40B4-BE49-F238E27FC236}">
                  <a16:creationId xmlns:a16="http://schemas.microsoft.com/office/drawing/2014/main" id="{72D0D4B1-E7B4-F729-3104-D072EF642070}"/>
                </a:ext>
              </a:extLst>
            </p:cNvPr>
            <p:cNvSpPr/>
            <p:nvPr/>
          </p:nvSpPr>
          <p:spPr bwMode="gray">
            <a:xfrm>
              <a:off x="8017813" y="5021582"/>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4</a:t>
              </a:r>
            </a:p>
          </p:txBody>
        </p:sp>
      </p:grpSp>
      <p:grpSp>
        <p:nvGrpSpPr>
          <p:cNvPr id="82" name="Group 81">
            <a:extLst>
              <a:ext uri="{FF2B5EF4-FFF2-40B4-BE49-F238E27FC236}">
                <a16:creationId xmlns:a16="http://schemas.microsoft.com/office/drawing/2014/main" id="{B5DBED18-06B9-5482-C7AA-221FB97C504F}"/>
              </a:ext>
            </a:extLst>
          </p:cNvPr>
          <p:cNvGrpSpPr/>
          <p:nvPr/>
        </p:nvGrpSpPr>
        <p:grpSpPr>
          <a:xfrm>
            <a:off x="9019947" y="5022449"/>
            <a:ext cx="744132" cy="568240"/>
            <a:chOff x="9019947" y="5022449"/>
            <a:chExt cx="744132" cy="568240"/>
          </a:xfrm>
        </p:grpSpPr>
        <p:sp>
          <p:nvSpPr>
            <p:cNvPr id="19" name="Google Shape;1877;g398b2a37679_3_8262">
              <a:extLst>
                <a:ext uri="{FF2B5EF4-FFF2-40B4-BE49-F238E27FC236}">
                  <a16:creationId xmlns:a16="http://schemas.microsoft.com/office/drawing/2014/main" id="{FB153FF6-2D7D-3EDD-896B-A444FF8B5392}"/>
                </a:ext>
              </a:extLst>
            </p:cNvPr>
            <p:cNvSpPr/>
            <p:nvPr/>
          </p:nvSpPr>
          <p:spPr>
            <a:xfrm>
              <a:off x="9019947" y="5227891"/>
              <a:ext cx="744132" cy="36279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Upgrade NSX, vCenter &amp; ESX</a:t>
              </a:r>
              <a:endParaRPr dirty="0"/>
            </a:p>
          </p:txBody>
        </p:sp>
        <p:sp>
          <p:nvSpPr>
            <p:cNvPr id="77" name="Oval 76">
              <a:extLst>
                <a:ext uri="{FF2B5EF4-FFF2-40B4-BE49-F238E27FC236}">
                  <a16:creationId xmlns:a16="http://schemas.microsoft.com/office/drawing/2014/main" id="{4556856A-CC90-44C5-7160-EA70F3A02DA5}"/>
                </a:ext>
              </a:extLst>
            </p:cNvPr>
            <p:cNvSpPr/>
            <p:nvPr/>
          </p:nvSpPr>
          <p:spPr bwMode="gray">
            <a:xfrm>
              <a:off x="9035292" y="5022449"/>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5</a:t>
              </a:r>
            </a:p>
          </p:txBody>
        </p:sp>
      </p:grpSp>
      <p:grpSp>
        <p:nvGrpSpPr>
          <p:cNvPr id="83" name="Group 82">
            <a:extLst>
              <a:ext uri="{FF2B5EF4-FFF2-40B4-BE49-F238E27FC236}">
                <a16:creationId xmlns:a16="http://schemas.microsoft.com/office/drawing/2014/main" id="{3F38EA89-360F-B2B1-96B6-ACE885329187}"/>
              </a:ext>
            </a:extLst>
          </p:cNvPr>
          <p:cNvGrpSpPr/>
          <p:nvPr/>
        </p:nvGrpSpPr>
        <p:grpSpPr>
          <a:xfrm>
            <a:off x="10057878" y="5028367"/>
            <a:ext cx="744132" cy="563908"/>
            <a:chOff x="10057878" y="5028367"/>
            <a:chExt cx="744132" cy="563908"/>
          </a:xfrm>
        </p:grpSpPr>
        <p:sp>
          <p:nvSpPr>
            <p:cNvPr id="20" name="Google Shape;1877;g398b2a37679_3_8262">
              <a:extLst>
                <a:ext uri="{FF2B5EF4-FFF2-40B4-BE49-F238E27FC236}">
                  <a16:creationId xmlns:a16="http://schemas.microsoft.com/office/drawing/2014/main" id="{DB1EDCA2-B434-D45A-7ADC-CC7CB0691532}"/>
                </a:ext>
              </a:extLst>
            </p:cNvPr>
            <p:cNvSpPr/>
            <p:nvPr/>
          </p:nvSpPr>
          <p:spPr>
            <a:xfrm>
              <a:off x="10057878" y="5233721"/>
              <a:ext cx="744132" cy="358554"/>
            </a:xfrm>
            <a:prstGeom prst="flowChartProcess">
              <a:avLst/>
            </a:prstGeom>
            <a:solidFill>
              <a:schemeClr val="accent2"/>
            </a:solidFill>
            <a:ln>
              <a:noFill/>
            </a:ln>
          </p:spPr>
          <p:txBody>
            <a:bodyPr spcFirstLastPara="1" wrap="square" lIns="91425" tIns="45700" rIns="91425" bIns="45700" anchor="ctr" anchorCtr="0">
              <a:noAutofit/>
            </a:bodyPr>
            <a:lstStyle/>
            <a:p>
              <a:pPr algn="ctr"/>
              <a:r>
                <a:rPr lang="en-US" sz="600" dirty="0">
                  <a:solidFill>
                    <a:schemeClr val="lt1"/>
                  </a:solidFill>
                  <a:ea typeface="Arial"/>
                  <a:cs typeface="Arial"/>
                  <a:sym typeface="Arial"/>
                </a:rPr>
                <a:t>License VCF 9.1</a:t>
              </a:r>
              <a:endParaRPr lang="en-US" sz="800" dirty="0"/>
            </a:p>
          </p:txBody>
        </p:sp>
        <p:sp>
          <p:nvSpPr>
            <p:cNvPr id="78" name="Oval 77">
              <a:extLst>
                <a:ext uri="{FF2B5EF4-FFF2-40B4-BE49-F238E27FC236}">
                  <a16:creationId xmlns:a16="http://schemas.microsoft.com/office/drawing/2014/main" id="{37BCFE96-CEDB-744C-0B33-342B420C99F5}"/>
                </a:ext>
              </a:extLst>
            </p:cNvPr>
            <p:cNvSpPr/>
            <p:nvPr/>
          </p:nvSpPr>
          <p:spPr bwMode="gray">
            <a:xfrm>
              <a:off x="10079666" y="5028367"/>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6</a:t>
              </a:r>
            </a:p>
          </p:txBody>
        </p:sp>
      </p:grpSp>
      <p:grpSp>
        <p:nvGrpSpPr>
          <p:cNvPr id="10" name="Group 9">
            <a:extLst>
              <a:ext uri="{FF2B5EF4-FFF2-40B4-BE49-F238E27FC236}">
                <a16:creationId xmlns:a16="http://schemas.microsoft.com/office/drawing/2014/main" id="{E3C4FC93-B1FD-7399-C138-C883E88EA5D2}"/>
              </a:ext>
            </a:extLst>
          </p:cNvPr>
          <p:cNvGrpSpPr/>
          <p:nvPr/>
        </p:nvGrpSpPr>
        <p:grpSpPr>
          <a:xfrm>
            <a:off x="5913120" y="1918142"/>
            <a:ext cx="744132" cy="560000"/>
            <a:chOff x="5913120" y="1918142"/>
            <a:chExt cx="744132" cy="560000"/>
          </a:xfrm>
        </p:grpSpPr>
        <p:sp>
          <p:nvSpPr>
            <p:cNvPr id="12" name="Google Shape;1876;g398b2a37679_3_8262">
              <a:extLst>
                <a:ext uri="{FF2B5EF4-FFF2-40B4-BE49-F238E27FC236}">
                  <a16:creationId xmlns:a16="http://schemas.microsoft.com/office/drawing/2014/main" id="{8705DB2F-599E-405D-C908-F4B756AB60D9}"/>
                </a:ext>
              </a:extLst>
            </p:cNvPr>
            <p:cNvSpPr/>
            <p:nvPr/>
          </p:nvSpPr>
          <p:spPr>
            <a:xfrm>
              <a:off x="5913120" y="2129304"/>
              <a:ext cx="744132" cy="348838"/>
            </a:xfrm>
            <a:prstGeom prst="flowChartProcess">
              <a:avLst/>
            </a:prstGeom>
            <a:solidFill>
              <a:srgbClr val="2380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Upgrade vCenter to 9.1</a:t>
              </a:r>
              <a:endParaRPr dirty="0"/>
            </a:p>
          </p:txBody>
        </p:sp>
        <p:sp>
          <p:nvSpPr>
            <p:cNvPr id="89" name="Oval 88">
              <a:extLst>
                <a:ext uri="{FF2B5EF4-FFF2-40B4-BE49-F238E27FC236}">
                  <a16:creationId xmlns:a16="http://schemas.microsoft.com/office/drawing/2014/main" id="{861926C5-64B2-AB52-5838-7A2E681739CC}"/>
                </a:ext>
              </a:extLst>
            </p:cNvPr>
            <p:cNvSpPr/>
            <p:nvPr/>
          </p:nvSpPr>
          <p:spPr bwMode="gray">
            <a:xfrm>
              <a:off x="5939546" y="1918142"/>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1</a:t>
              </a:r>
            </a:p>
          </p:txBody>
        </p:sp>
      </p:grpSp>
      <p:grpSp>
        <p:nvGrpSpPr>
          <p:cNvPr id="21" name="Group 20">
            <a:extLst>
              <a:ext uri="{FF2B5EF4-FFF2-40B4-BE49-F238E27FC236}">
                <a16:creationId xmlns:a16="http://schemas.microsoft.com/office/drawing/2014/main" id="{C1B21118-C8C7-F010-C452-60742A53FB50}"/>
              </a:ext>
            </a:extLst>
          </p:cNvPr>
          <p:cNvGrpSpPr/>
          <p:nvPr/>
        </p:nvGrpSpPr>
        <p:grpSpPr>
          <a:xfrm>
            <a:off x="6947568" y="1918689"/>
            <a:ext cx="744132" cy="560572"/>
            <a:chOff x="6947568" y="1918689"/>
            <a:chExt cx="744132" cy="560572"/>
          </a:xfrm>
        </p:grpSpPr>
        <p:sp>
          <p:nvSpPr>
            <p:cNvPr id="13" name="Google Shape;1909;g398b2a37679_3_8262">
              <a:extLst>
                <a:ext uri="{FF2B5EF4-FFF2-40B4-BE49-F238E27FC236}">
                  <a16:creationId xmlns:a16="http://schemas.microsoft.com/office/drawing/2014/main" id="{FD3FB652-E3A8-F861-1F85-5623732E00D9}"/>
                </a:ext>
              </a:extLst>
            </p:cNvPr>
            <p:cNvSpPr/>
            <p:nvPr/>
          </p:nvSpPr>
          <p:spPr>
            <a:xfrm>
              <a:off x="6947568" y="2130423"/>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Deploy VCF Installer &amp; Dload Binaries</a:t>
              </a:r>
              <a:endParaRPr dirty="0"/>
            </a:p>
          </p:txBody>
        </p:sp>
        <p:sp>
          <p:nvSpPr>
            <p:cNvPr id="90" name="Oval 89">
              <a:extLst>
                <a:ext uri="{FF2B5EF4-FFF2-40B4-BE49-F238E27FC236}">
                  <a16:creationId xmlns:a16="http://schemas.microsoft.com/office/drawing/2014/main" id="{0D0BBCB0-7E07-64EA-6861-86EAA982E36B}"/>
                </a:ext>
              </a:extLst>
            </p:cNvPr>
            <p:cNvSpPr/>
            <p:nvPr/>
          </p:nvSpPr>
          <p:spPr bwMode="gray">
            <a:xfrm>
              <a:off x="6965990" y="1918689"/>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2</a:t>
              </a:r>
            </a:p>
          </p:txBody>
        </p:sp>
      </p:grpSp>
      <p:grpSp>
        <p:nvGrpSpPr>
          <p:cNvPr id="22" name="Group 21">
            <a:extLst>
              <a:ext uri="{FF2B5EF4-FFF2-40B4-BE49-F238E27FC236}">
                <a16:creationId xmlns:a16="http://schemas.microsoft.com/office/drawing/2014/main" id="{FF8738BC-DD7F-3DAE-F78E-3515D4FA31E9}"/>
              </a:ext>
            </a:extLst>
          </p:cNvPr>
          <p:cNvGrpSpPr/>
          <p:nvPr/>
        </p:nvGrpSpPr>
        <p:grpSpPr>
          <a:xfrm>
            <a:off x="7982016" y="1918142"/>
            <a:ext cx="744132" cy="567885"/>
            <a:chOff x="7982016" y="1918142"/>
            <a:chExt cx="744132" cy="567885"/>
          </a:xfrm>
        </p:grpSpPr>
        <p:sp>
          <p:nvSpPr>
            <p:cNvPr id="14" name="Google Shape;1910;g398b2a37679_3_8262">
              <a:extLst>
                <a:ext uri="{FF2B5EF4-FFF2-40B4-BE49-F238E27FC236}">
                  <a16:creationId xmlns:a16="http://schemas.microsoft.com/office/drawing/2014/main" id="{35E028BA-7542-674C-DD9B-63B24F8D1CD5}"/>
                </a:ext>
              </a:extLst>
            </p:cNvPr>
            <p:cNvSpPr/>
            <p:nvPr/>
          </p:nvSpPr>
          <p:spPr>
            <a:xfrm>
              <a:off x="7982016" y="2137189"/>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Converge vSphere &amp; Deploy VCF</a:t>
              </a:r>
              <a:endParaRPr dirty="0"/>
            </a:p>
          </p:txBody>
        </p:sp>
        <p:sp>
          <p:nvSpPr>
            <p:cNvPr id="91" name="Oval 90">
              <a:extLst>
                <a:ext uri="{FF2B5EF4-FFF2-40B4-BE49-F238E27FC236}">
                  <a16:creationId xmlns:a16="http://schemas.microsoft.com/office/drawing/2014/main" id="{F85217F2-B91A-0051-503C-5CF5DF1E8C59}"/>
                </a:ext>
              </a:extLst>
            </p:cNvPr>
            <p:cNvSpPr/>
            <p:nvPr/>
          </p:nvSpPr>
          <p:spPr bwMode="gray">
            <a:xfrm>
              <a:off x="8010364" y="1918142"/>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3</a:t>
              </a:r>
            </a:p>
          </p:txBody>
        </p:sp>
      </p:grpSp>
      <p:grpSp>
        <p:nvGrpSpPr>
          <p:cNvPr id="23" name="Group 22">
            <a:extLst>
              <a:ext uri="{FF2B5EF4-FFF2-40B4-BE49-F238E27FC236}">
                <a16:creationId xmlns:a16="http://schemas.microsoft.com/office/drawing/2014/main" id="{363928B5-3B08-74BB-6362-1227413E7C42}"/>
              </a:ext>
            </a:extLst>
          </p:cNvPr>
          <p:cNvGrpSpPr/>
          <p:nvPr/>
        </p:nvGrpSpPr>
        <p:grpSpPr>
          <a:xfrm>
            <a:off x="9006314" y="1918142"/>
            <a:ext cx="744132" cy="566725"/>
            <a:chOff x="9006314" y="1918142"/>
            <a:chExt cx="744132" cy="566725"/>
          </a:xfrm>
        </p:grpSpPr>
        <p:sp>
          <p:nvSpPr>
            <p:cNvPr id="15" name="Google Shape;1877;g398b2a37679_3_8262">
              <a:extLst>
                <a:ext uri="{FF2B5EF4-FFF2-40B4-BE49-F238E27FC236}">
                  <a16:creationId xmlns:a16="http://schemas.microsoft.com/office/drawing/2014/main" id="{9D4213C4-09A9-3774-BD4A-055337BA0648}"/>
                </a:ext>
              </a:extLst>
            </p:cNvPr>
            <p:cNvSpPr/>
            <p:nvPr/>
          </p:nvSpPr>
          <p:spPr>
            <a:xfrm>
              <a:off x="9006314" y="2130423"/>
              <a:ext cx="744132" cy="354444"/>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dirty="0">
                  <a:solidFill>
                    <a:schemeClr val="lt1"/>
                  </a:solidFill>
                  <a:latin typeface="Arial"/>
                  <a:cs typeface="Arial"/>
                  <a:sym typeface="Arial"/>
                </a:rPr>
                <a:t>Config depot &amp; dload binaries</a:t>
              </a:r>
              <a:endParaRPr dirty="0"/>
            </a:p>
          </p:txBody>
        </p:sp>
        <p:sp>
          <p:nvSpPr>
            <p:cNvPr id="92" name="Oval 91">
              <a:extLst>
                <a:ext uri="{FF2B5EF4-FFF2-40B4-BE49-F238E27FC236}">
                  <a16:creationId xmlns:a16="http://schemas.microsoft.com/office/drawing/2014/main" id="{2B1B02A7-7148-89F8-3C6F-A1D06C71B33C}"/>
                </a:ext>
              </a:extLst>
            </p:cNvPr>
            <p:cNvSpPr/>
            <p:nvPr/>
          </p:nvSpPr>
          <p:spPr bwMode="gray">
            <a:xfrm>
              <a:off x="9045773" y="1918142"/>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4</a:t>
              </a:r>
            </a:p>
          </p:txBody>
        </p:sp>
      </p:grpSp>
      <p:grpSp>
        <p:nvGrpSpPr>
          <p:cNvPr id="24" name="Group 23">
            <a:extLst>
              <a:ext uri="{FF2B5EF4-FFF2-40B4-BE49-F238E27FC236}">
                <a16:creationId xmlns:a16="http://schemas.microsoft.com/office/drawing/2014/main" id="{F6112D3D-8A2A-7B55-1405-5910D5EE3559}"/>
              </a:ext>
            </a:extLst>
          </p:cNvPr>
          <p:cNvGrpSpPr/>
          <p:nvPr/>
        </p:nvGrpSpPr>
        <p:grpSpPr>
          <a:xfrm>
            <a:off x="10050912" y="1909177"/>
            <a:ext cx="744132" cy="575690"/>
            <a:chOff x="10050912" y="1909177"/>
            <a:chExt cx="744132" cy="575690"/>
          </a:xfrm>
        </p:grpSpPr>
        <p:sp>
          <p:nvSpPr>
            <p:cNvPr id="31" name="Google Shape;1877;g398b2a37679_3_8262">
              <a:extLst>
                <a:ext uri="{FF2B5EF4-FFF2-40B4-BE49-F238E27FC236}">
                  <a16:creationId xmlns:a16="http://schemas.microsoft.com/office/drawing/2014/main" id="{FE284D43-A3DA-C955-FA48-BA820A7A7261}"/>
                </a:ext>
              </a:extLst>
            </p:cNvPr>
            <p:cNvSpPr/>
            <p:nvPr/>
          </p:nvSpPr>
          <p:spPr>
            <a:xfrm>
              <a:off x="10050912" y="2136029"/>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Upgrade ESX</a:t>
              </a:r>
              <a:endParaRPr dirty="0"/>
            </a:p>
          </p:txBody>
        </p:sp>
        <p:sp>
          <p:nvSpPr>
            <p:cNvPr id="93" name="Oval 92">
              <a:extLst>
                <a:ext uri="{FF2B5EF4-FFF2-40B4-BE49-F238E27FC236}">
                  <a16:creationId xmlns:a16="http://schemas.microsoft.com/office/drawing/2014/main" id="{250FE4BA-E2AB-D93C-2591-684B4AB16DD5}"/>
                </a:ext>
              </a:extLst>
            </p:cNvPr>
            <p:cNvSpPr/>
            <p:nvPr/>
          </p:nvSpPr>
          <p:spPr bwMode="gray">
            <a:xfrm>
              <a:off x="10063252" y="1909177"/>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5</a:t>
              </a:r>
            </a:p>
          </p:txBody>
        </p:sp>
      </p:grpSp>
      <p:grpSp>
        <p:nvGrpSpPr>
          <p:cNvPr id="27" name="Group 26">
            <a:extLst>
              <a:ext uri="{FF2B5EF4-FFF2-40B4-BE49-F238E27FC236}">
                <a16:creationId xmlns:a16="http://schemas.microsoft.com/office/drawing/2014/main" id="{48877800-B5CA-7BA8-8DAD-1C6E855385E4}"/>
              </a:ext>
            </a:extLst>
          </p:cNvPr>
          <p:cNvGrpSpPr/>
          <p:nvPr/>
        </p:nvGrpSpPr>
        <p:grpSpPr>
          <a:xfrm>
            <a:off x="4878672" y="2578259"/>
            <a:ext cx="744132" cy="567128"/>
            <a:chOff x="4878672" y="2578259"/>
            <a:chExt cx="744132" cy="567128"/>
          </a:xfrm>
        </p:grpSpPr>
        <p:sp>
          <p:nvSpPr>
            <p:cNvPr id="53" name="Google Shape;1876;g398b2a37679_3_8262">
              <a:extLst>
                <a:ext uri="{FF2B5EF4-FFF2-40B4-BE49-F238E27FC236}">
                  <a16:creationId xmlns:a16="http://schemas.microsoft.com/office/drawing/2014/main" id="{FE362C41-C625-8D75-3089-29F37A77E1BA}"/>
                </a:ext>
              </a:extLst>
            </p:cNvPr>
            <p:cNvSpPr/>
            <p:nvPr/>
          </p:nvSpPr>
          <p:spPr>
            <a:xfrm>
              <a:off x="4878672" y="2786905"/>
              <a:ext cx="744132" cy="358482"/>
            </a:xfrm>
            <a:prstGeom prst="flowChartProcess">
              <a:avLst/>
            </a:prstGeom>
            <a:solidFill>
              <a:srgbClr val="2380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Upgrade Ops to 9.1</a:t>
              </a:r>
              <a:endParaRPr dirty="0"/>
            </a:p>
          </p:txBody>
        </p:sp>
        <p:sp>
          <p:nvSpPr>
            <p:cNvPr id="94" name="Oval 93">
              <a:extLst>
                <a:ext uri="{FF2B5EF4-FFF2-40B4-BE49-F238E27FC236}">
                  <a16:creationId xmlns:a16="http://schemas.microsoft.com/office/drawing/2014/main" id="{799F7610-1B93-E8A8-AD0D-ABFAE753E7B2}"/>
                </a:ext>
              </a:extLst>
            </p:cNvPr>
            <p:cNvSpPr/>
            <p:nvPr/>
          </p:nvSpPr>
          <p:spPr bwMode="gray">
            <a:xfrm>
              <a:off x="4916504" y="2578259"/>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1</a:t>
              </a:r>
            </a:p>
          </p:txBody>
        </p:sp>
      </p:grpSp>
      <p:grpSp>
        <p:nvGrpSpPr>
          <p:cNvPr id="28" name="Group 27">
            <a:extLst>
              <a:ext uri="{FF2B5EF4-FFF2-40B4-BE49-F238E27FC236}">
                <a16:creationId xmlns:a16="http://schemas.microsoft.com/office/drawing/2014/main" id="{3E8F841F-B9B9-4CB9-D3EB-49DDDC6B2E25}"/>
              </a:ext>
            </a:extLst>
          </p:cNvPr>
          <p:cNvGrpSpPr/>
          <p:nvPr/>
        </p:nvGrpSpPr>
        <p:grpSpPr>
          <a:xfrm>
            <a:off x="5913120" y="2568974"/>
            <a:ext cx="744132" cy="576413"/>
            <a:chOff x="5913120" y="2568974"/>
            <a:chExt cx="744132" cy="576413"/>
          </a:xfrm>
        </p:grpSpPr>
        <p:sp>
          <p:nvSpPr>
            <p:cNvPr id="47" name="Google Shape;1876;g398b2a37679_3_8262">
              <a:extLst>
                <a:ext uri="{FF2B5EF4-FFF2-40B4-BE49-F238E27FC236}">
                  <a16:creationId xmlns:a16="http://schemas.microsoft.com/office/drawing/2014/main" id="{CC355A5A-2032-3891-2426-84ABFCD7609F}"/>
                </a:ext>
              </a:extLst>
            </p:cNvPr>
            <p:cNvSpPr/>
            <p:nvPr/>
          </p:nvSpPr>
          <p:spPr>
            <a:xfrm>
              <a:off x="5913120" y="2783334"/>
              <a:ext cx="744132" cy="362053"/>
            </a:xfrm>
            <a:prstGeom prst="flowChartProcess">
              <a:avLst/>
            </a:prstGeom>
            <a:solidFill>
              <a:srgbClr val="2380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Upgrade vCenter to 9.1</a:t>
              </a:r>
              <a:endParaRPr dirty="0"/>
            </a:p>
          </p:txBody>
        </p:sp>
        <p:sp>
          <p:nvSpPr>
            <p:cNvPr id="95" name="Oval 94">
              <a:extLst>
                <a:ext uri="{FF2B5EF4-FFF2-40B4-BE49-F238E27FC236}">
                  <a16:creationId xmlns:a16="http://schemas.microsoft.com/office/drawing/2014/main" id="{F867D5FA-D550-144B-6BDB-2A33594EE3E5}"/>
                </a:ext>
              </a:extLst>
            </p:cNvPr>
            <p:cNvSpPr/>
            <p:nvPr/>
          </p:nvSpPr>
          <p:spPr bwMode="gray">
            <a:xfrm>
              <a:off x="5942948" y="2568974"/>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2</a:t>
              </a:r>
            </a:p>
          </p:txBody>
        </p:sp>
      </p:grpSp>
      <p:grpSp>
        <p:nvGrpSpPr>
          <p:cNvPr id="30" name="Group 29">
            <a:extLst>
              <a:ext uri="{FF2B5EF4-FFF2-40B4-BE49-F238E27FC236}">
                <a16:creationId xmlns:a16="http://schemas.microsoft.com/office/drawing/2014/main" id="{ED17F25D-C812-0DED-7629-209556F69400}"/>
              </a:ext>
            </a:extLst>
          </p:cNvPr>
          <p:cNvGrpSpPr/>
          <p:nvPr/>
        </p:nvGrpSpPr>
        <p:grpSpPr>
          <a:xfrm>
            <a:off x="6947568" y="2578259"/>
            <a:ext cx="744132" cy="568247"/>
            <a:chOff x="6947568" y="2578259"/>
            <a:chExt cx="744132" cy="568247"/>
          </a:xfrm>
        </p:grpSpPr>
        <p:sp>
          <p:nvSpPr>
            <p:cNvPr id="48" name="Google Shape;1909;g398b2a37679_3_8262">
              <a:extLst>
                <a:ext uri="{FF2B5EF4-FFF2-40B4-BE49-F238E27FC236}">
                  <a16:creationId xmlns:a16="http://schemas.microsoft.com/office/drawing/2014/main" id="{E5DD9FAB-CA12-34F1-0171-353D07D134AE}"/>
                </a:ext>
              </a:extLst>
            </p:cNvPr>
            <p:cNvSpPr/>
            <p:nvPr/>
          </p:nvSpPr>
          <p:spPr>
            <a:xfrm>
              <a:off x="6947568" y="2784453"/>
              <a:ext cx="744132" cy="362053"/>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Deploy VCF Installer &amp; Dload Binaries</a:t>
              </a:r>
              <a:endParaRPr dirty="0"/>
            </a:p>
          </p:txBody>
        </p:sp>
        <p:sp>
          <p:nvSpPr>
            <p:cNvPr id="96" name="Oval 95">
              <a:extLst>
                <a:ext uri="{FF2B5EF4-FFF2-40B4-BE49-F238E27FC236}">
                  <a16:creationId xmlns:a16="http://schemas.microsoft.com/office/drawing/2014/main" id="{8F5999F9-8369-7EBB-ED30-A212BD88DA73}"/>
                </a:ext>
              </a:extLst>
            </p:cNvPr>
            <p:cNvSpPr/>
            <p:nvPr/>
          </p:nvSpPr>
          <p:spPr bwMode="gray">
            <a:xfrm>
              <a:off x="6987322" y="2578259"/>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3</a:t>
              </a:r>
            </a:p>
          </p:txBody>
        </p:sp>
      </p:grpSp>
      <p:grpSp>
        <p:nvGrpSpPr>
          <p:cNvPr id="33" name="Group 32">
            <a:extLst>
              <a:ext uri="{FF2B5EF4-FFF2-40B4-BE49-F238E27FC236}">
                <a16:creationId xmlns:a16="http://schemas.microsoft.com/office/drawing/2014/main" id="{236074D7-B8E1-0157-003F-454082F9AED8}"/>
              </a:ext>
            </a:extLst>
          </p:cNvPr>
          <p:cNvGrpSpPr/>
          <p:nvPr/>
        </p:nvGrpSpPr>
        <p:grpSpPr>
          <a:xfrm>
            <a:off x="7982016" y="2578259"/>
            <a:ext cx="744132" cy="575013"/>
            <a:chOff x="7982016" y="2578259"/>
            <a:chExt cx="744132" cy="575013"/>
          </a:xfrm>
        </p:grpSpPr>
        <p:sp>
          <p:nvSpPr>
            <p:cNvPr id="49" name="Google Shape;1910;g398b2a37679_3_8262">
              <a:extLst>
                <a:ext uri="{FF2B5EF4-FFF2-40B4-BE49-F238E27FC236}">
                  <a16:creationId xmlns:a16="http://schemas.microsoft.com/office/drawing/2014/main" id="{38ECF0B0-24B4-8828-F45C-F65A1FFDADC9}"/>
                </a:ext>
              </a:extLst>
            </p:cNvPr>
            <p:cNvSpPr/>
            <p:nvPr/>
          </p:nvSpPr>
          <p:spPr>
            <a:xfrm>
              <a:off x="7982016" y="2784453"/>
              <a:ext cx="744132" cy="368819"/>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Converge vSphere + OPS</a:t>
              </a:r>
              <a:endParaRPr dirty="0"/>
            </a:p>
          </p:txBody>
        </p:sp>
        <p:sp>
          <p:nvSpPr>
            <p:cNvPr id="97" name="Oval 96">
              <a:extLst>
                <a:ext uri="{FF2B5EF4-FFF2-40B4-BE49-F238E27FC236}">
                  <a16:creationId xmlns:a16="http://schemas.microsoft.com/office/drawing/2014/main" id="{F73F5EEB-F922-8E29-39DA-386CF8BCEB0F}"/>
                </a:ext>
              </a:extLst>
            </p:cNvPr>
            <p:cNvSpPr/>
            <p:nvPr/>
          </p:nvSpPr>
          <p:spPr bwMode="gray">
            <a:xfrm>
              <a:off x="8022731" y="2578259"/>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4</a:t>
              </a:r>
            </a:p>
          </p:txBody>
        </p:sp>
      </p:grpSp>
      <p:grpSp>
        <p:nvGrpSpPr>
          <p:cNvPr id="34" name="Group 33">
            <a:extLst>
              <a:ext uri="{FF2B5EF4-FFF2-40B4-BE49-F238E27FC236}">
                <a16:creationId xmlns:a16="http://schemas.microsoft.com/office/drawing/2014/main" id="{1F9351A6-CF73-F6A1-6AC6-DBD82641F02B}"/>
              </a:ext>
            </a:extLst>
          </p:cNvPr>
          <p:cNvGrpSpPr/>
          <p:nvPr/>
        </p:nvGrpSpPr>
        <p:grpSpPr>
          <a:xfrm>
            <a:off x="9016464" y="2579126"/>
            <a:ext cx="744132" cy="554882"/>
            <a:chOff x="9016464" y="2579126"/>
            <a:chExt cx="744132" cy="554882"/>
          </a:xfrm>
        </p:grpSpPr>
        <p:sp>
          <p:nvSpPr>
            <p:cNvPr id="50" name="Google Shape;1877;g398b2a37679_3_8262">
              <a:extLst>
                <a:ext uri="{FF2B5EF4-FFF2-40B4-BE49-F238E27FC236}">
                  <a16:creationId xmlns:a16="http://schemas.microsoft.com/office/drawing/2014/main" id="{F01BDEDF-BBA9-12C2-6B1E-CE3D32E96E99}"/>
                </a:ext>
              </a:extLst>
            </p:cNvPr>
            <p:cNvSpPr/>
            <p:nvPr/>
          </p:nvSpPr>
          <p:spPr>
            <a:xfrm>
              <a:off x="9016464" y="2785170"/>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dirty="0">
                  <a:solidFill>
                    <a:schemeClr val="lt1"/>
                  </a:solidFill>
                  <a:latin typeface="Arial"/>
                  <a:cs typeface="Arial"/>
                  <a:sym typeface="Arial"/>
                </a:rPr>
                <a:t>Config depot &amp; dload binaries</a:t>
              </a:r>
              <a:endParaRPr dirty="0"/>
            </a:p>
          </p:txBody>
        </p:sp>
        <p:sp>
          <p:nvSpPr>
            <p:cNvPr id="98" name="Oval 97">
              <a:extLst>
                <a:ext uri="{FF2B5EF4-FFF2-40B4-BE49-F238E27FC236}">
                  <a16:creationId xmlns:a16="http://schemas.microsoft.com/office/drawing/2014/main" id="{B55631D9-0C58-4C92-58DF-0A02C2217668}"/>
                </a:ext>
              </a:extLst>
            </p:cNvPr>
            <p:cNvSpPr/>
            <p:nvPr/>
          </p:nvSpPr>
          <p:spPr bwMode="gray">
            <a:xfrm>
              <a:off x="9040210" y="2579126"/>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5</a:t>
              </a:r>
            </a:p>
          </p:txBody>
        </p:sp>
      </p:grpSp>
      <p:grpSp>
        <p:nvGrpSpPr>
          <p:cNvPr id="37" name="Group 36">
            <a:extLst>
              <a:ext uri="{FF2B5EF4-FFF2-40B4-BE49-F238E27FC236}">
                <a16:creationId xmlns:a16="http://schemas.microsoft.com/office/drawing/2014/main" id="{D354F5D8-18E3-852C-A12B-8C62B487182B}"/>
              </a:ext>
            </a:extLst>
          </p:cNvPr>
          <p:cNvGrpSpPr/>
          <p:nvPr/>
        </p:nvGrpSpPr>
        <p:grpSpPr>
          <a:xfrm>
            <a:off x="10050912" y="2575212"/>
            <a:ext cx="744132" cy="576900"/>
            <a:chOff x="10050912" y="2575212"/>
            <a:chExt cx="744132" cy="576900"/>
          </a:xfrm>
        </p:grpSpPr>
        <p:sp>
          <p:nvSpPr>
            <p:cNvPr id="51" name="Google Shape;1877;g398b2a37679_3_8262">
              <a:extLst>
                <a:ext uri="{FF2B5EF4-FFF2-40B4-BE49-F238E27FC236}">
                  <a16:creationId xmlns:a16="http://schemas.microsoft.com/office/drawing/2014/main" id="{718C8CE0-41BB-7E34-C8AE-E928E4A10EE9}"/>
                </a:ext>
              </a:extLst>
            </p:cNvPr>
            <p:cNvSpPr/>
            <p:nvPr/>
          </p:nvSpPr>
          <p:spPr>
            <a:xfrm>
              <a:off x="10050912" y="2785170"/>
              <a:ext cx="744132" cy="366942"/>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Upgrade ESX</a:t>
              </a:r>
              <a:endParaRPr dirty="0"/>
            </a:p>
          </p:txBody>
        </p:sp>
        <p:sp>
          <p:nvSpPr>
            <p:cNvPr id="99" name="Oval 98">
              <a:extLst>
                <a:ext uri="{FF2B5EF4-FFF2-40B4-BE49-F238E27FC236}">
                  <a16:creationId xmlns:a16="http://schemas.microsoft.com/office/drawing/2014/main" id="{9A23A3B3-4F8B-3182-4D65-183E6106784C}"/>
                </a:ext>
              </a:extLst>
            </p:cNvPr>
            <p:cNvSpPr/>
            <p:nvPr/>
          </p:nvSpPr>
          <p:spPr bwMode="gray">
            <a:xfrm>
              <a:off x="10084584" y="2575212"/>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6</a:t>
              </a:r>
            </a:p>
          </p:txBody>
        </p:sp>
      </p:grpSp>
      <p:grpSp>
        <p:nvGrpSpPr>
          <p:cNvPr id="26" name="Group 25">
            <a:extLst>
              <a:ext uri="{FF2B5EF4-FFF2-40B4-BE49-F238E27FC236}">
                <a16:creationId xmlns:a16="http://schemas.microsoft.com/office/drawing/2014/main" id="{C696028F-C972-68A7-03F4-1C476880E252}"/>
              </a:ext>
            </a:extLst>
          </p:cNvPr>
          <p:cNvGrpSpPr/>
          <p:nvPr/>
        </p:nvGrpSpPr>
        <p:grpSpPr>
          <a:xfrm>
            <a:off x="11085360" y="1931198"/>
            <a:ext cx="744132" cy="557281"/>
            <a:chOff x="11085360" y="1931198"/>
            <a:chExt cx="744132" cy="557281"/>
          </a:xfrm>
        </p:grpSpPr>
        <p:sp>
          <p:nvSpPr>
            <p:cNvPr id="32" name="Google Shape;1877;g398b2a37679_3_8262">
              <a:extLst>
                <a:ext uri="{FF2B5EF4-FFF2-40B4-BE49-F238E27FC236}">
                  <a16:creationId xmlns:a16="http://schemas.microsoft.com/office/drawing/2014/main" id="{956A2B57-CEF7-A074-C7B1-C7D056D59032}"/>
                </a:ext>
              </a:extLst>
            </p:cNvPr>
            <p:cNvSpPr/>
            <p:nvPr/>
          </p:nvSpPr>
          <p:spPr>
            <a:xfrm>
              <a:off x="11085360" y="2139641"/>
              <a:ext cx="744132" cy="348838"/>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License VCF 9.1</a:t>
              </a:r>
              <a:endParaRPr dirty="0"/>
            </a:p>
          </p:txBody>
        </p:sp>
        <p:sp>
          <p:nvSpPr>
            <p:cNvPr id="100" name="Oval 99">
              <a:extLst>
                <a:ext uri="{FF2B5EF4-FFF2-40B4-BE49-F238E27FC236}">
                  <a16:creationId xmlns:a16="http://schemas.microsoft.com/office/drawing/2014/main" id="{116E096F-C56F-C5BC-68CB-1BDE142DB4A1}"/>
                </a:ext>
              </a:extLst>
            </p:cNvPr>
            <p:cNvSpPr/>
            <p:nvPr/>
          </p:nvSpPr>
          <p:spPr bwMode="gray">
            <a:xfrm>
              <a:off x="11131720" y="1931198"/>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6</a:t>
              </a:r>
            </a:p>
          </p:txBody>
        </p:sp>
      </p:grpSp>
      <p:grpSp>
        <p:nvGrpSpPr>
          <p:cNvPr id="38" name="Group 37">
            <a:extLst>
              <a:ext uri="{FF2B5EF4-FFF2-40B4-BE49-F238E27FC236}">
                <a16:creationId xmlns:a16="http://schemas.microsoft.com/office/drawing/2014/main" id="{0759FAE1-85BF-BD56-C3BD-F682F189384B}"/>
              </a:ext>
            </a:extLst>
          </p:cNvPr>
          <p:cNvGrpSpPr/>
          <p:nvPr/>
        </p:nvGrpSpPr>
        <p:grpSpPr>
          <a:xfrm>
            <a:off x="11085360" y="2580127"/>
            <a:ext cx="744132" cy="575597"/>
            <a:chOff x="11085360" y="2580127"/>
            <a:chExt cx="744132" cy="575597"/>
          </a:xfrm>
        </p:grpSpPr>
        <p:sp>
          <p:nvSpPr>
            <p:cNvPr id="52" name="Google Shape;1877;g398b2a37679_3_8262">
              <a:extLst>
                <a:ext uri="{FF2B5EF4-FFF2-40B4-BE49-F238E27FC236}">
                  <a16:creationId xmlns:a16="http://schemas.microsoft.com/office/drawing/2014/main" id="{5091F92F-6D50-0ACC-A93D-D8955E9F1044}"/>
                </a:ext>
              </a:extLst>
            </p:cNvPr>
            <p:cNvSpPr/>
            <p:nvPr/>
          </p:nvSpPr>
          <p:spPr>
            <a:xfrm>
              <a:off x="11085360" y="2785170"/>
              <a:ext cx="744132" cy="370554"/>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600" b="0" i="0" u="none" strike="noStrike" cap="none" dirty="0">
                  <a:solidFill>
                    <a:schemeClr val="lt1"/>
                  </a:solidFill>
                  <a:latin typeface="Arial"/>
                  <a:ea typeface="Arial"/>
                  <a:cs typeface="Arial"/>
                  <a:sym typeface="Arial"/>
                </a:rPr>
                <a:t>License VCF 9.1</a:t>
              </a:r>
              <a:endParaRPr dirty="0"/>
            </a:p>
          </p:txBody>
        </p:sp>
        <p:sp>
          <p:nvSpPr>
            <p:cNvPr id="101" name="Oval 100">
              <a:extLst>
                <a:ext uri="{FF2B5EF4-FFF2-40B4-BE49-F238E27FC236}">
                  <a16:creationId xmlns:a16="http://schemas.microsoft.com/office/drawing/2014/main" id="{A524AA98-161B-B8F0-DF19-B98E04BF17BD}"/>
                </a:ext>
              </a:extLst>
            </p:cNvPr>
            <p:cNvSpPr/>
            <p:nvPr/>
          </p:nvSpPr>
          <p:spPr bwMode="gray">
            <a:xfrm>
              <a:off x="11131722" y="2580127"/>
              <a:ext cx="200068" cy="197223"/>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7</a:t>
              </a:r>
            </a:p>
          </p:txBody>
        </p:sp>
      </p:grpSp>
    </p:spTree>
    <p:extLst>
      <p:ext uri="{BB962C8B-B14F-4D97-AF65-F5344CB8AC3E}">
        <p14:creationId xmlns:p14="http://schemas.microsoft.com/office/powerpoint/2010/main" val="555767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dissolve">
                                      <p:cBhvr>
                                        <p:cTn id="7" dur="5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dissolve">
                                      <p:cBhvr>
                                        <p:cTn id="12" dur="500"/>
                                        <p:tgtEl>
                                          <p:spTgt spid="45"/>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dissolve">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dissolv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ppt_x"/>
                                          </p:val>
                                        </p:tav>
                                        <p:tav tm="100000">
                                          <p:val>
                                            <p:strVal val="#ppt_x"/>
                                          </p:val>
                                        </p:tav>
                                      </p:tavLst>
                                    </p:anim>
                                    <p:anim calcmode="lin" valueType="num">
                                      <p:cBhvr additive="base">
                                        <p:cTn id="5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dissolve">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27"/>
                                        </p:tgtEl>
                                        <p:attrNameLst>
                                          <p:attrName>style.visibility</p:attrName>
                                        </p:attrNameLst>
                                      </p:cBhvr>
                                      <p:to>
                                        <p:strVal val="visible"/>
                                      </p:to>
                                    </p:set>
                                    <p:anim calcmode="lin" valueType="num">
                                      <p:cBhvr additive="base">
                                        <p:cTn id="66" dur="500" fill="hold"/>
                                        <p:tgtEl>
                                          <p:spTgt spid="27"/>
                                        </p:tgtEl>
                                        <p:attrNameLst>
                                          <p:attrName>ppt_x</p:attrName>
                                        </p:attrNameLst>
                                      </p:cBhvr>
                                      <p:tavLst>
                                        <p:tav tm="0">
                                          <p:val>
                                            <p:strVal val="#ppt_x"/>
                                          </p:val>
                                        </p:tav>
                                        <p:tav tm="100000">
                                          <p:val>
                                            <p:strVal val="#ppt_x"/>
                                          </p:val>
                                        </p:tav>
                                      </p:tavLst>
                                    </p:anim>
                                    <p:anim calcmode="lin" valueType="num">
                                      <p:cBhvr additive="base">
                                        <p:cTn id="67"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28"/>
                                        </p:tgtEl>
                                        <p:attrNameLst>
                                          <p:attrName>style.visibility</p:attrName>
                                        </p:attrNameLst>
                                      </p:cBhvr>
                                      <p:to>
                                        <p:strVal val="visible"/>
                                      </p:to>
                                    </p:set>
                                    <p:anim calcmode="lin" valueType="num">
                                      <p:cBhvr additive="base">
                                        <p:cTn id="72" dur="500" fill="hold"/>
                                        <p:tgtEl>
                                          <p:spTgt spid="28"/>
                                        </p:tgtEl>
                                        <p:attrNameLst>
                                          <p:attrName>ppt_x</p:attrName>
                                        </p:attrNameLst>
                                      </p:cBhvr>
                                      <p:tavLst>
                                        <p:tav tm="0">
                                          <p:val>
                                            <p:strVal val="#ppt_x"/>
                                          </p:val>
                                        </p:tav>
                                        <p:tav tm="100000">
                                          <p:val>
                                            <p:strVal val="#ppt_x"/>
                                          </p:val>
                                        </p:tav>
                                      </p:tavLst>
                                    </p:anim>
                                    <p:anim calcmode="lin" valueType="num">
                                      <p:cBhvr additive="base">
                                        <p:cTn id="7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30"/>
                                        </p:tgtEl>
                                        <p:attrNameLst>
                                          <p:attrName>style.visibility</p:attrName>
                                        </p:attrNameLst>
                                      </p:cBhvr>
                                      <p:to>
                                        <p:strVal val="visible"/>
                                      </p:to>
                                    </p:set>
                                    <p:anim calcmode="lin" valueType="num">
                                      <p:cBhvr additive="base">
                                        <p:cTn id="78" dur="500" fill="hold"/>
                                        <p:tgtEl>
                                          <p:spTgt spid="30"/>
                                        </p:tgtEl>
                                        <p:attrNameLst>
                                          <p:attrName>ppt_x</p:attrName>
                                        </p:attrNameLst>
                                      </p:cBhvr>
                                      <p:tavLst>
                                        <p:tav tm="0">
                                          <p:val>
                                            <p:strVal val="#ppt_x"/>
                                          </p:val>
                                        </p:tav>
                                        <p:tav tm="100000">
                                          <p:val>
                                            <p:strVal val="#ppt_x"/>
                                          </p:val>
                                        </p:tav>
                                      </p:tavLst>
                                    </p:anim>
                                    <p:anim calcmode="lin" valueType="num">
                                      <p:cBhvr additive="base">
                                        <p:cTn id="79"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33"/>
                                        </p:tgtEl>
                                        <p:attrNameLst>
                                          <p:attrName>style.visibility</p:attrName>
                                        </p:attrNameLst>
                                      </p:cBhvr>
                                      <p:to>
                                        <p:strVal val="visible"/>
                                      </p:to>
                                    </p:set>
                                    <p:anim calcmode="lin" valueType="num">
                                      <p:cBhvr additive="base">
                                        <p:cTn id="84" dur="500" fill="hold"/>
                                        <p:tgtEl>
                                          <p:spTgt spid="33"/>
                                        </p:tgtEl>
                                        <p:attrNameLst>
                                          <p:attrName>ppt_x</p:attrName>
                                        </p:attrNameLst>
                                      </p:cBhvr>
                                      <p:tavLst>
                                        <p:tav tm="0">
                                          <p:val>
                                            <p:strVal val="#ppt_x"/>
                                          </p:val>
                                        </p:tav>
                                        <p:tav tm="100000">
                                          <p:val>
                                            <p:strVal val="#ppt_x"/>
                                          </p:val>
                                        </p:tav>
                                      </p:tavLst>
                                    </p:anim>
                                    <p:anim calcmode="lin" valueType="num">
                                      <p:cBhvr additive="base">
                                        <p:cTn id="8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nodeType="clickEffect">
                                  <p:stCondLst>
                                    <p:cond delay="0"/>
                                  </p:stCondLst>
                                  <p:childTnLst>
                                    <p:set>
                                      <p:cBhvr>
                                        <p:cTn id="89" dur="1" fill="hold">
                                          <p:stCondLst>
                                            <p:cond delay="0"/>
                                          </p:stCondLst>
                                        </p:cTn>
                                        <p:tgtEl>
                                          <p:spTgt spid="34"/>
                                        </p:tgtEl>
                                        <p:attrNameLst>
                                          <p:attrName>style.visibility</p:attrName>
                                        </p:attrNameLst>
                                      </p:cBhvr>
                                      <p:to>
                                        <p:strVal val="visible"/>
                                      </p:to>
                                    </p:set>
                                    <p:anim calcmode="lin" valueType="num">
                                      <p:cBhvr additive="base">
                                        <p:cTn id="90" dur="500" fill="hold"/>
                                        <p:tgtEl>
                                          <p:spTgt spid="34"/>
                                        </p:tgtEl>
                                        <p:attrNameLst>
                                          <p:attrName>ppt_x</p:attrName>
                                        </p:attrNameLst>
                                      </p:cBhvr>
                                      <p:tavLst>
                                        <p:tav tm="0">
                                          <p:val>
                                            <p:strVal val="#ppt_x"/>
                                          </p:val>
                                        </p:tav>
                                        <p:tav tm="100000">
                                          <p:val>
                                            <p:strVal val="#ppt_x"/>
                                          </p:val>
                                        </p:tav>
                                      </p:tavLst>
                                    </p:anim>
                                    <p:anim calcmode="lin" valueType="num">
                                      <p:cBhvr additive="base">
                                        <p:cTn id="91"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37"/>
                                        </p:tgtEl>
                                        <p:attrNameLst>
                                          <p:attrName>style.visibility</p:attrName>
                                        </p:attrNameLst>
                                      </p:cBhvr>
                                      <p:to>
                                        <p:strVal val="visible"/>
                                      </p:to>
                                    </p:set>
                                    <p:anim calcmode="lin" valueType="num">
                                      <p:cBhvr additive="base">
                                        <p:cTn id="96" dur="500" fill="hold"/>
                                        <p:tgtEl>
                                          <p:spTgt spid="37"/>
                                        </p:tgtEl>
                                        <p:attrNameLst>
                                          <p:attrName>ppt_x</p:attrName>
                                        </p:attrNameLst>
                                      </p:cBhvr>
                                      <p:tavLst>
                                        <p:tav tm="0">
                                          <p:val>
                                            <p:strVal val="#ppt_x"/>
                                          </p:val>
                                        </p:tav>
                                        <p:tav tm="100000">
                                          <p:val>
                                            <p:strVal val="#ppt_x"/>
                                          </p:val>
                                        </p:tav>
                                      </p:tavLst>
                                    </p:anim>
                                    <p:anim calcmode="lin" valueType="num">
                                      <p:cBhvr additive="base">
                                        <p:cTn id="97"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38"/>
                                        </p:tgtEl>
                                        <p:attrNameLst>
                                          <p:attrName>style.visibility</p:attrName>
                                        </p:attrNameLst>
                                      </p:cBhvr>
                                      <p:to>
                                        <p:strVal val="visible"/>
                                      </p:to>
                                    </p:set>
                                    <p:anim calcmode="lin" valueType="num">
                                      <p:cBhvr additive="base">
                                        <p:cTn id="102" dur="500" fill="hold"/>
                                        <p:tgtEl>
                                          <p:spTgt spid="38"/>
                                        </p:tgtEl>
                                        <p:attrNameLst>
                                          <p:attrName>ppt_x</p:attrName>
                                        </p:attrNameLst>
                                      </p:cBhvr>
                                      <p:tavLst>
                                        <p:tav tm="0">
                                          <p:val>
                                            <p:strVal val="#ppt_x"/>
                                          </p:val>
                                        </p:tav>
                                        <p:tav tm="100000">
                                          <p:val>
                                            <p:strVal val="#ppt_x"/>
                                          </p:val>
                                        </p:tav>
                                      </p:tavLst>
                                    </p:anim>
                                    <p:anim calcmode="lin" valueType="num">
                                      <p:cBhvr additive="base">
                                        <p:cTn id="103"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dissolve">
                                      <p:cBhvr>
                                        <p:cTn id="108" dur="500"/>
                                        <p:tgtEl>
                                          <p:spTgt spid="54"/>
                                        </p:tgtEl>
                                      </p:cBhvr>
                                    </p:animEffect>
                                  </p:childTnLst>
                                </p:cTn>
                              </p:par>
                              <p:par>
                                <p:cTn id="109" presetID="9" presetClass="entr" presetSubtype="0" fill="hold" grpId="0"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dissolve">
                                      <p:cBhvr>
                                        <p:cTn id="111" dur="500"/>
                                        <p:tgtEl>
                                          <p:spTgt spid="55"/>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ntr" presetSubtype="0" fill="hold" nodeType="clickEffect">
                                  <p:stCondLst>
                                    <p:cond delay="0"/>
                                  </p:stCondLst>
                                  <p:childTnLst>
                                    <p:set>
                                      <p:cBhvr>
                                        <p:cTn id="115" dur="1" fill="hold">
                                          <p:stCondLst>
                                            <p:cond delay="0"/>
                                          </p:stCondLst>
                                        </p:cTn>
                                        <p:tgtEl>
                                          <p:spTgt spid="35"/>
                                        </p:tgtEl>
                                        <p:attrNameLst>
                                          <p:attrName>style.visibility</p:attrName>
                                        </p:attrNameLst>
                                      </p:cBhvr>
                                      <p:to>
                                        <p:strVal val="visible"/>
                                      </p:to>
                                    </p:set>
                                    <p:animEffect transition="in" filter="dissolve">
                                      <p:cBhvr>
                                        <p:cTn id="116" dur="500"/>
                                        <p:tgtEl>
                                          <p:spTgt spid="35"/>
                                        </p:tgtEl>
                                      </p:cBhvr>
                                    </p:animEffect>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40"/>
                                        </p:tgtEl>
                                        <p:attrNameLst>
                                          <p:attrName>style.visibility</p:attrName>
                                        </p:attrNameLst>
                                      </p:cBhvr>
                                      <p:to>
                                        <p:strVal val="visible"/>
                                      </p:to>
                                    </p:set>
                                    <p:anim calcmode="lin" valueType="num">
                                      <p:cBhvr additive="base">
                                        <p:cTn id="121" dur="500" fill="hold"/>
                                        <p:tgtEl>
                                          <p:spTgt spid="40"/>
                                        </p:tgtEl>
                                        <p:attrNameLst>
                                          <p:attrName>ppt_x</p:attrName>
                                        </p:attrNameLst>
                                      </p:cBhvr>
                                      <p:tavLst>
                                        <p:tav tm="0">
                                          <p:val>
                                            <p:strVal val="#ppt_x"/>
                                          </p:val>
                                        </p:tav>
                                        <p:tav tm="100000">
                                          <p:val>
                                            <p:strVal val="#ppt_x"/>
                                          </p:val>
                                        </p:tav>
                                      </p:tavLst>
                                    </p:anim>
                                    <p:anim calcmode="lin" valueType="num">
                                      <p:cBhvr additive="base">
                                        <p:cTn id="12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41"/>
                                        </p:tgtEl>
                                        <p:attrNameLst>
                                          <p:attrName>style.visibility</p:attrName>
                                        </p:attrNameLst>
                                      </p:cBhvr>
                                      <p:to>
                                        <p:strVal val="visible"/>
                                      </p:to>
                                    </p:set>
                                    <p:anim calcmode="lin" valueType="num">
                                      <p:cBhvr additive="base">
                                        <p:cTn id="127" dur="500" fill="hold"/>
                                        <p:tgtEl>
                                          <p:spTgt spid="41"/>
                                        </p:tgtEl>
                                        <p:attrNameLst>
                                          <p:attrName>ppt_x</p:attrName>
                                        </p:attrNameLst>
                                      </p:cBhvr>
                                      <p:tavLst>
                                        <p:tav tm="0">
                                          <p:val>
                                            <p:strVal val="#ppt_x"/>
                                          </p:val>
                                        </p:tav>
                                        <p:tav tm="100000">
                                          <p:val>
                                            <p:strVal val="#ppt_x"/>
                                          </p:val>
                                        </p:tav>
                                      </p:tavLst>
                                    </p:anim>
                                    <p:anim calcmode="lin" valueType="num">
                                      <p:cBhvr additive="base">
                                        <p:cTn id="12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42"/>
                                        </p:tgtEl>
                                        <p:attrNameLst>
                                          <p:attrName>style.visibility</p:attrName>
                                        </p:attrNameLst>
                                      </p:cBhvr>
                                      <p:to>
                                        <p:strVal val="visible"/>
                                      </p:to>
                                    </p:set>
                                    <p:anim calcmode="lin" valueType="num">
                                      <p:cBhvr additive="base">
                                        <p:cTn id="133" dur="500" fill="hold"/>
                                        <p:tgtEl>
                                          <p:spTgt spid="42"/>
                                        </p:tgtEl>
                                        <p:attrNameLst>
                                          <p:attrName>ppt_x</p:attrName>
                                        </p:attrNameLst>
                                      </p:cBhvr>
                                      <p:tavLst>
                                        <p:tav tm="0">
                                          <p:val>
                                            <p:strVal val="#ppt_x"/>
                                          </p:val>
                                        </p:tav>
                                        <p:tav tm="100000">
                                          <p:val>
                                            <p:strVal val="#ppt_x"/>
                                          </p:val>
                                        </p:tav>
                                      </p:tavLst>
                                    </p:anim>
                                    <p:anim calcmode="lin" valueType="num">
                                      <p:cBhvr additive="base">
                                        <p:cTn id="13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43"/>
                                        </p:tgtEl>
                                        <p:attrNameLst>
                                          <p:attrName>style.visibility</p:attrName>
                                        </p:attrNameLst>
                                      </p:cBhvr>
                                      <p:to>
                                        <p:strVal val="visible"/>
                                      </p:to>
                                    </p:set>
                                    <p:anim calcmode="lin" valueType="num">
                                      <p:cBhvr additive="base">
                                        <p:cTn id="139" dur="500" fill="hold"/>
                                        <p:tgtEl>
                                          <p:spTgt spid="43"/>
                                        </p:tgtEl>
                                        <p:attrNameLst>
                                          <p:attrName>ppt_x</p:attrName>
                                        </p:attrNameLst>
                                      </p:cBhvr>
                                      <p:tavLst>
                                        <p:tav tm="0">
                                          <p:val>
                                            <p:strVal val="#ppt_x"/>
                                          </p:val>
                                        </p:tav>
                                        <p:tav tm="100000">
                                          <p:val>
                                            <p:strVal val="#ppt_x"/>
                                          </p:val>
                                        </p:tav>
                                      </p:tavLst>
                                    </p:anim>
                                    <p:anim calcmode="lin" valueType="num">
                                      <p:cBhvr additive="base">
                                        <p:cTn id="14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44"/>
                                        </p:tgtEl>
                                        <p:attrNameLst>
                                          <p:attrName>style.visibility</p:attrName>
                                        </p:attrNameLst>
                                      </p:cBhvr>
                                      <p:to>
                                        <p:strVal val="visible"/>
                                      </p:to>
                                    </p:set>
                                    <p:anim calcmode="lin" valueType="num">
                                      <p:cBhvr additive="base">
                                        <p:cTn id="145" dur="500" fill="hold"/>
                                        <p:tgtEl>
                                          <p:spTgt spid="44"/>
                                        </p:tgtEl>
                                        <p:attrNameLst>
                                          <p:attrName>ppt_x</p:attrName>
                                        </p:attrNameLst>
                                      </p:cBhvr>
                                      <p:tavLst>
                                        <p:tav tm="0">
                                          <p:val>
                                            <p:strVal val="#ppt_x"/>
                                          </p:val>
                                        </p:tav>
                                        <p:tav tm="100000">
                                          <p:val>
                                            <p:strVal val="#ppt_x"/>
                                          </p:val>
                                        </p:tav>
                                      </p:tavLst>
                                    </p:anim>
                                    <p:anim calcmode="lin" valueType="num">
                                      <p:cBhvr additive="base">
                                        <p:cTn id="14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9" presetClass="entr" presetSubtype="0" fill="hold" nodeType="clickEffect">
                                  <p:stCondLst>
                                    <p:cond delay="0"/>
                                  </p:stCondLst>
                                  <p:childTnLst>
                                    <p:set>
                                      <p:cBhvr>
                                        <p:cTn id="150" dur="1" fill="hold">
                                          <p:stCondLst>
                                            <p:cond delay="0"/>
                                          </p:stCondLst>
                                        </p:cTn>
                                        <p:tgtEl>
                                          <p:spTgt spid="36"/>
                                        </p:tgtEl>
                                        <p:attrNameLst>
                                          <p:attrName>style.visibility</p:attrName>
                                        </p:attrNameLst>
                                      </p:cBhvr>
                                      <p:to>
                                        <p:strVal val="visible"/>
                                      </p:to>
                                    </p:set>
                                    <p:animEffect transition="in" filter="dissolve">
                                      <p:cBhvr>
                                        <p:cTn id="151" dur="500"/>
                                        <p:tgtEl>
                                          <p:spTgt spid="36"/>
                                        </p:tgtEl>
                                      </p:cBhvr>
                                    </p:animEffect>
                                  </p:childTnLst>
                                </p:cTn>
                              </p:par>
                            </p:childTnLst>
                          </p:cTn>
                        </p:par>
                      </p:childTnLst>
                    </p:cTn>
                  </p:par>
                  <p:par>
                    <p:cTn id="152" fill="hold">
                      <p:stCondLst>
                        <p:cond delay="indefinite"/>
                      </p:stCondLst>
                      <p:childTnLst>
                        <p:par>
                          <p:cTn id="153" fill="hold">
                            <p:stCondLst>
                              <p:cond delay="0"/>
                            </p:stCondLst>
                            <p:childTnLst>
                              <p:par>
                                <p:cTn id="154" presetID="2" presetClass="entr" presetSubtype="4" fill="hold" nodeType="clickEffect">
                                  <p:stCondLst>
                                    <p:cond delay="0"/>
                                  </p:stCondLst>
                                  <p:childTnLst>
                                    <p:set>
                                      <p:cBhvr>
                                        <p:cTn id="155" dur="1" fill="hold">
                                          <p:stCondLst>
                                            <p:cond delay="0"/>
                                          </p:stCondLst>
                                        </p:cTn>
                                        <p:tgtEl>
                                          <p:spTgt spid="75"/>
                                        </p:tgtEl>
                                        <p:attrNameLst>
                                          <p:attrName>style.visibility</p:attrName>
                                        </p:attrNameLst>
                                      </p:cBhvr>
                                      <p:to>
                                        <p:strVal val="visible"/>
                                      </p:to>
                                    </p:set>
                                    <p:anim calcmode="lin" valueType="num">
                                      <p:cBhvr additive="base">
                                        <p:cTn id="156" dur="500" fill="hold"/>
                                        <p:tgtEl>
                                          <p:spTgt spid="75"/>
                                        </p:tgtEl>
                                        <p:attrNameLst>
                                          <p:attrName>ppt_x</p:attrName>
                                        </p:attrNameLst>
                                      </p:cBhvr>
                                      <p:tavLst>
                                        <p:tav tm="0">
                                          <p:val>
                                            <p:strVal val="#ppt_x"/>
                                          </p:val>
                                        </p:tav>
                                        <p:tav tm="100000">
                                          <p:val>
                                            <p:strVal val="#ppt_x"/>
                                          </p:val>
                                        </p:tav>
                                      </p:tavLst>
                                    </p:anim>
                                    <p:anim calcmode="lin" valueType="num">
                                      <p:cBhvr additive="base">
                                        <p:cTn id="157"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2" presetClass="entr" presetSubtype="4" fill="hold" nodeType="clickEffect">
                                  <p:stCondLst>
                                    <p:cond delay="0"/>
                                  </p:stCondLst>
                                  <p:childTnLst>
                                    <p:set>
                                      <p:cBhvr>
                                        <p:cTn id="161" dur="1" fill="hold">
                                          <p:stCondLst>
                                            <p:cond delay="0"/>
                                          </p:stCondLst>
                                        </p:cTn>
                                        <p:tgtEl>
                                          <p:spTgt spid="79"/>
                                        </p:tgtEl>
                                        <p:attrNameLst>
                                          <p:attrName>style.visibility</p:attrName>
                                        </p:attrNameLst>
                                      </p:cBhvr>
                                      <p:to>
                                        <p:strVal val="visible"/>
                                      </p:to>
                                    </p:set>
                                    <p:anim calcmode="lin" valueType="num">
                                      <p:cBhvr additive="base">
                                        <p:cTn id="162" dur="500" fill="hold"/>
                                        <p:tgtEl>
                                          <p:spTgt spid="79"/>
                                        </p:tgtEl>
                                        <p:attrNameLst>
                                          <p:attrName>ppt_x</p:attrName>
                                        </p:attrNameLst>
                                      </p:cBhvr>
                                      <p:tavLst>
                                        <p:tav tm="0">
                                          <p:val>
                                            <p:strVal val="#ppt_x"/>
                                          </p:val>
                                        </p:tav>
                                        <p:tav tm="100000">
                                          <p:val>
                                            <p:strVal val="#ppt_x"/>
                                          </p:val>
                                        </p:tav>
                                      </p:tavLst>
                                    </p:anim>
                                    <p:anim calcmode="lin" valueType="num">
                                      <p:cBhvr additive="base">
                                        <p:cTn id="163"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2" presetClass="entr" presetSubtype="4" fill="hold" nodeType="clickEffect">
                                  <p:stCondLst>
                                    <p:cond delay="0"/>
                                  </p:stCondLst>
                                  <p:childTnLst>
                                    <p:set>
                                      <p:cBhvr>
                                        <p:cTn id="167" dur="1" fill="hold">
                                          <p:stCondLst>
                                            <p:cond delay="0"/>
                                          </p:stCondLst>
                                        </p:cTn>
                                        <p:tgtEl>
                                          <p:spTgt spid="80"/>
                                        </p:tgtEl>
                                        <p:attrNameLst>
                                          <p:attrName>style.visibility</p:attrName>
                                        </p:attrNameLst>
                                      </p:cBhvr>
                                      <p:to>
                                        <p:strVal val="visible"/>
                                      </p:to>
                                    </p:set>
                                    <p:anim calcmode="lin" valueType="num">
                                      <p:cBhvr additive="base">
                                        <p:cTn id="168" dur="500" fill="hold"/>
                                        <p:tgtEl>
                                          <p:spTgt spid="80"/>
                                        </p:tgtEl>
                                        <p:attrNameLst>
                                          <p:attrName>ppt_x</p:attrName>
                                        </p:attrNameLst>
                                      </p:cBhvr>
                                      <p:tavLst>
                                        <p:tav tm="0">
                                          <p:val>
                                            <p:strVal val="#ppt_x"/>
                                          </p:val>
                                        </p:tav>
                                        <p:tav tm="100000">
                                          <p:val>
                                            <p:strVal val="#ppt_x"/>
                                          </p:val>
                                        </p:tav>
                                      </p:tavLst>
                                    </p:anim>
                                    <p:anim calcmode="lin" valueType="num">
                                      <p:cBhvr additive="base">
                                        <p:cTn id="169"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ID="2" presetClass="entr" presetSubtype="4" fill="hold" nodeType="clickEffect">
                                  <p:stCondLst>
                                    <p:cond delay="0"/>
                                  </p:stCondLst>
                                  <p:childTnLst>
                                    <p:set>
                                      <p:cBhvr>
                                        <p:cTn id="173" dur="1" fill="hold">
                                          <p:stCondLst>
                                            <p:cond delay="0"/>
                                          </p:stCondLst>
                                        </p:cTn>
                                        <p:tgtEl>
                                          <p:spTgt spid="81"/>
                                        </p:tgtEl>
                                        <p:attrNameLst>
                                          <p:attrName>style.visibility</p:attrName>
                                        </p:attrNameLst>
                                      </p:cBhvr>
                                      <p:to>
                                        <p:strVal val="visible"/>
                                      </p:to>
                                    </p:set>
                                    <p:anim calcmode="lin" valueType="num">
                                      <p:cBhvr additive="base">
                                        <p:cTn id="174" dur="500" fill="hold"/>
                                        <p:tgtEl>
                                          <p:spTgt spid="81"/>
                                        </p:tgtEl>
                                        <p:attrNameLst>
                                          <p:attrName>ppt_x</p:attrName>
                                        </p:attrNameLst>
                                      </p:cBhvr>
                                      <p:tavLst>
                                        <p:tav tm="0">
                                          <p:val>
                                            <p:strVal val="#ppt_x"/>
                                          </p:val>
                                        </p:tav>
                                        <p:tav tm="100000">
                                          <p:val>
                                            <p:strVal val="#ppt_x"/>
                                          </p:val>
                                        </p:tav>
                                      </p:tavLst>
                                    </p:anim>
                                    <p:anim calcmode="lin" valueType="num">
                                      <p:cBhvr additive="base">
                                        <p:cTn id="175"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176" fill="hold">
                      <p:stCondLst>
                        <p:cond delay="indefinite"/>
                      </p:stCondLst>
                      <p:childTnLst>
                        <p:par>
                          <p:cTn id="177" fill="hold">
                            <p:stCondLst>
                              <p:cond delay="0"/>
                            </p:stCondLst>
                            <p:childTnLst>
                              <p:par>
                                <p:cTn id="178" presetID="2" presetClass="entr" presetSubtype="4" fill="hold" nodeType="clickEffect">
                                  <p:stCondLst>
                                    <p:cond delay="0"/>
                                  </p:stCondLst>
                                  <p:childTnLst>
                                    <p:set>
                                      <p:cBhvr>
                                        <p:cTn id="179" dur="1" fill="hold">
                                          <p:stCondLst>
                                            <p:cond delay="0"/>
                                          </p:stCondLst>
                                        </p:cTn>
                                        <p:tgtEl>
                                          <p:spTgt spid="82"/>
                                        </p:tgtEl>
                                        <p:attrNameLst>
                                          <p:attrName>style.visibility</p:attrName>
                                        </p:attrNameLst>
                                      </p:cBhvr>
                                      <p:to>
                                        <p:strVal val="visible"/>
                                      </p:to>
                                    </p:set>
                                    <p:anim calcmode="lin" valueType="num">
                                      <p:cBhvr additive="base">
                                        <p:cTn id="180" dur="500" fill="hold"/>
                                        <p:tgtEl>
                                          <p:spTgt spid="82"/>
                                        </p:tgtEl>
                                        <p:attrNameLst>
                                          <p:attrName>ppt_x</p:attrName>
                                        </p:attrNameLst>
                                      </p:cBhvr>
                                      <p:tavLst>
                                        <p:tav tm="0">
                                          <p:val>
                                            <p:strVal val="#ppt_x"/>
                                          </p:val>
                                        </p:tav>
                                        <p:tav tm="100000">
                                          <p:val>
                                            <p:strVal val="#ppt_x"/>
                                          </p:val>
                                        </p:tav>
                                      </p:tavLst>
                                    </p:anim>
                                    <p:anim calcmode="lin" valueType="num">
                                      <p:cBhvr additive="base">
                                        <p:cTn id="181"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2" presetClass="entr" presetSubtype="4" fill="hold" nodeType="clickEffect">
                                  <p:stCondLst>
                                    <p:cond delay="0"/>
                                  </p:stCondLst>
                                  <p:childTnLst>
                                    <p:set>
                                      <p:cBhvr>
                                        <p:cTn id="185" dur="1" fill="hold">
                                          <p:stCondLst>
                                            <p:cond delay="0"/>
                                          </p:stCondLst>
                                        </p:cTn>
                                        <p:tgtEl>
                                          <p:spTgt spid="83"/>
                                        </p:tgtEl>
                                        <p:attrNameLst>
                                          <p:attrName>style.visibility</p:attrName>
                                        </p:attrNameLst>
                                      </p:cBhvr>
                                      <p:to>
                                        <p:strVal val="visible"/>
                                      </p:to>
                                    </p:set>
                                    <p:anim calcmode="lin" valueType="num">
                                      <p:cBhvr additive="base">
                                        <p:cTn id="186" dur="500" fill="hold"/>
                                        <p:tgtEl>
                                          <p:spTgt spid="83"/>
                                        </p:tgtEl>
                                        <p:attrNameLst>
                                          <p:attrName>ppt_x</p:attrName>
                                        </p:attrNameLst>
                                      </p:cBhvr>
                                      <p:tavLst>
                                        <p:tav tm="0">
                                          <p:val>
                                            <p:strVal val="#ppt_x"/>
                                          </p:val>
                                        </p:tav>
                                        <p:tav tm="100000">
                                          <p:val>
                                            <p:strVal val="#ppt_x"/>
                                          </p:val>
                                        </p:tav>
                                      </p:tavLst>
                                    </p:anim>
                                    <p:anim calcmode="lin" valueType="num">
                                      <p:cBhvr additive="base">
                                        <p:cTn id="187"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54" grpId="0" animBg="1"/>
      <p:bldP spid="5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B2BB3-CE5E-2039-2532-A289BD3A9215}"/>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6061B4DC-0449-08A1-A12F-870A4D3DEABF}"/>
              </a:ext>
            </a:extLst>
          </p:cNvPr>
          <p:cNvSpPr>
            <a:spLocks noGrp="1"/>
          </p:cNvSpPr>
          <p:nvPr>
            <p:ph type="title"/>
          </p:nvPr>
        </p:nvSpPr>
        <p:spPr>
          <a:xfrm>
            <a:off x="589107" y="1413356"/>
            <a:ext cx="6587869" cy="1229360"/>
          </a:xfrm>
        </p:spPr>
        <p:txBody>
          <a:bodyPr/>
          <a:lstStyle/>
          <a:p>
            <a:r>
              <a:rPr lang="en-US" dirty="0"/>
              <a:t>VCF 5.2 to VCF 9.1</a:t>
            </a:r>
            <a:br>
              <a:rPr lang="en-US" dirty="0"/>
            </a:br>
            <a:r>
              <a:rPr lang="en-US" dirty="0"/>
              <a:t>Upgrade Overview…</a:t>
            </a:r>
          </a:p>
        </p:txBody>
      </p:sp>
    </p:spTree>
    <p:extLst>
      <p:ext uri="{BB962C8B-B14F-4D97-AF65-F5344CB8AC3E}">
        <p14:creationId xmlns:p14="http://schemas.microsoft.com/office/powerpoint/2010/main" val="88373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418D3-D0D3-D027-3BF2-F83B8D54F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CBBEF5-818A-4C3E-E5DF-9FF588ABA427}"/>
              </a:ext>
            </a:extLst>
          </p:cNvPr>
          <p:cNvSpPr>
            <a:spLocks noGrp="1"/>
          </p:cNvSpPr>
          <p:nvPr>
            <p:ph type="title"/>
          </p:nvPr>
        </p:nvSpPr>
        <p:spPr/>
        <p:txBody>
          <a:bodyPr/>
          <a:lstStyle/>
          <a:p>
            <a:r>
              <a:rPr lang="en-US" dirty="0"/>
              <a:t>VCF 5.2 </a:t>
            </a:r>
            <a:r>
              <a:rPr lang="en-US" dirty="0">
                <a:sym typeface="Wingdings" pitchFamily="2" charset="2"/>
              </a:rPr>
              <a:t></a:t>
            </a:r>
            <a:r>
              <a:rPr lang="en-US" dirty="0"/>
              <a:t> VCF 9.1 Upgrade Considerations</a:t>
            </a:r>
          </a:p>
        </p:txBody>
      </p:sp>
      <p:sp>
        <p:nvSpPr>
          <p:cNvPr id="4" name="Content Placeholder 3">
            <a:extLst>
              <a:ext uri="{FF2B5EF4-FFF2-40B4-BE49-F238E27FC236}">
                <a16:creationId xmlns:a16="http://schemas.microsoft.com/office/drawing/2014/main" id="{85E0789B-70CA-BB1D-036E-5ADEC055B5FB}"/>
              </a:ext>
            </a:extLst>
          </p:cNvPr>
          <p:cNvSpPr>
            <a:spLocks noGrp="1"/>
          </p:cNvSpPr>
          <p:nvPr>
            <p:ph sz="quarter" idx="14"/>
          </p:nvPr>
        </p:nvSpPr>
        <p:spPr/>
        <p:txBody>
          <a:bodyPr/>
          <a:lstStyle/>
          <a:p>
            <a:r>
              <a:rPr lang="en-US" sz="1800" dirty="0">
                <a:solidFill>
                  <a:schemeClr val="accent2"/>
                </a:solidFill>
              </a:rPr>
              <a:t>Sequential or skip-level upgrade from VCF 5.2.x.</a:t>
            </a:r>
          </a:p>
          <a:p>
            <a:r>
              <a:rPr lang="en-US" sz="1800" dirty="0">
                <a:solidFill>
                  <a:schemeClr val="accent2"/>
                </a:solidFill>
              </a:rPr>
              <a:t>Upgrade path varies depending if Aria Operations is deployed.</a:t>
            </a:r>
          </a:p>
          <a:p>
            <a:pPr lvl="1"/>
            <a:r>
              <a:rPr lang="en-US" sz="1600" dirty="0">
                <a:solidFill>
                  <a:schemeClr val="accent2"/>
                </a:solidFill>
              </a:rPr>
              <a:t>If deployed, start by upgrading to VCF Ops 9.1 &amp; deploying Ops Proxy.</a:t>
            </a:r>
          </a:p>
          <a:p>
            <a:pPr lvl="1"/>
            <a:r>
              <a:rPr lang="en-US" sz="1600" dirty="0">
                <a:solidFill>
                  <a:schemeClr val="accent2"/>
                </a:solidFill>
              </a:rPr>
              <a:t>If not deployed, start by deploying VCF Ops 9.1 &amp; deploying Ops Proxy.</a:t>
            </a:r>
          </a:p>
          <a:p>
            <a:r>
              <a:rPr lang="en-US" sz="1800" dirty="0">
                <a:solidFill>
                  <a:schemeClr val="accent2"/>
                </a:solidFill>
              </a:rPr>
              <a:t>Perform the upgrade from VCF Operations 9.1.</a:t>
            </a:r>
          </a:p>
          <a:p>
            <a:r>
              <a:rPr lang="en-US" sz="1800" dirty="0">
                <a:solidFill>
                  <a:schemeClr val="accent2"/>
                </a:solidFill>
              </a:rPr>
              <a:t>Upgrade VCF Management Domain first.</a:t>
            </a:r>
          </a:p>
          <a:p>
            <a:pPr lvl="1"/>
            <a:r>
              <a:rPr lang="en-US" sz="1600" dirty="0">
                <a:solidFill>
                  <a:schemeClr val="accent2"/>
                </a:solidFill>
              </a:rPr>
              <a:t>Other workload domains upgraded at any time after the management domain upgrade.</a:t>
            </a:r>
          </a:p>
          <a:p>
            <a:r>
              <a:rPr lang="en-US" sz="1800" dirty="0">
                <a:solidFill>
                  <a:schemeClr val="accent2"/>
                </a:solidFill>
              </a:rPr>
              <a:t>Notes:</a:t>
            </a:r>
          </a:p>
          <a:p>
            <a:pPr lvl="1"/>
            <a:r>
              <a:rPr lang="en-US" sz="1600" dirty="0">
                <a:solidFill>
                  <a:schemeClr val="accent2"/>
                </a:solidFill>
              </a:rPr>
              <a:t>SDDC Manager UI is being deprecated, replaced by VCF Operations UI.</a:t>
            </a:r>
          </a:p>
          <a:p>
            <a:pPr lvl="1"/>
            <a:r>
              <a:rPr lang="en-US" sz="1600" dirty="0">
                <a:solidFill>
                  <a:schemeClr val="accent2"/>
                </a:solidFill>
              </a:rPr>
              <a:t>Concept of ”VCF aware” Aria LCM goes away in VCF 9.x (Aria LCM deprecated).</a:t>
            </a:r>
          </a:p>
        </p:txBody>
      </p:sp>
    </p:spTree>
    <p:extLst>
      <p:ext uri="{BB962C8B-B14F-4D97-AF65-F5344CB8AC3E}">
        <p14:creationId xmlns:p14="http://schemas.microsoft.com/office/powerpoint/2010/main" val="4192587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2517A-15FE-1FAB-F2CC-CBA89341EC9F}"/>
              </a:ext>
            </a:extLst>
          </p:cNvPr>
          <p:cNvSpPr>
            <a:spLocks noGrp="1"/>
          </p:cNvSpPr>
          <p:nvPr>
            <p:ph type="title"/>
          </p:nvPr>
        </p:nvSpPr>
        <p:spPr>
          <a:xfrm>
            <a:off x="579809" y="412751"/>
            <a:ext cx="11001004" cy="381000"/>
          </a:xfrm>
        </p:spPr>
        <p:txBody>
          <a:bodyPr wrap="none" anchor="b">
            <a:normAutofit/>
          </a:bodyPr>
          <a:lstStyle/>
          <a:p>
            <a:r>
              <a:rPr lang="en-US" sz="2600" dirty="0"/>
              <a:t>Notable Changes between VCF 5.2 and VCF 9.1</a:t>
            </a:r>
          </a:p>
        </p:txBody>
      </p:sp>
      <p:sp>
        <p:nvSpPr>
          <p:cNvPr id="3" name="Subtitle 2">
            <a:extLst>
              <a:ext uri="{FF2B5EF4-FFF2-40B4-BE49-F238E27FC236}">
                <a16:creationId xmlns:a16="http://schemas.microsoft.com/office/drawing/2014/main" id="{90057382-16DE-A991-9E46-1206373FC8CC}"/>
              </a:ext>
            </a:extLst>
          </p:cNvPr>
          <p:cNvSpPr>
            <a:spLocks noGrp="1"/>
          </p:cNvSpPr>
          <p:nvPr>
            <p:ph type="subTitle" idx="10"/>
          </p:nvPr>
        </p:nvSpPr>
        <p:spPr>
          <a:xfrm>
            <a:off x="592866" y="811830"/>
            <a:ext cx="10962687" cy="247743"/>
          </a:xfrm>
        </p:spPr>
        <p:txBody>
          <a:bodyPr>
            <a:normAutofit/>
          </a:bodyPr>
          <a:lstStyle/>
          <a:p>
            <a:pPr>
              <a:lnSpc>
                <a:spcPct val="90000"/>
              </a:lnSpc>
            </a:pPr>
            <a:r>
              <a:rPr lang="en-US" sz="1700" dirty="0"/>
              <a:t>What’s New in VCF 9.1</a:t>
            </a:r>
          </a:p>
        </p:txBody>
      </p:sp>
      <p:sp>
        <p:nvSpPr>
          <p:cNvPr id="4" name="Content Placeholder 3">
            <a:extLst>
              <a:ext uri="{FF2B5EF4-FFF2-40B4-BE49-F238E27FC236}">
                <a16:creationId xmlns:a16="http://schemas.microsoft.com/office/drawing/2014/main" id="{826F6CB4-7C1E-5DF7-2E8A-C225F2FB118B}"/>
              </a:ext>
            </a:extLst>
          </p:cNvPr>
          <p:cNvSpPr>
            <a:spLocks noGrp="1"/>
          </p:cNvSpPr>
          <p:nvPr>
            <p:ph sz="quarter" idx="17"/>
          </p:nvPr>
        </p:nvSpPr>
        <p:spPr>
          <a:xfrm>
            <a:off x="608013" y="1600200"/>
            <a:ext cx="5313783" cy="4572000"/>
          </a:xfrm>
        </p:spPr>
        <p:txBody>
          <a:bodyPr>
            <a:normAutofit/>
          </a:bodyPr>
          <a:lstStyle/>
          <a:p>
            <a:pPr>
              <a:lnSpc>
                <a:spcPct val="90000"/>
              </a:lnSpc>
            </a:pPr>
            <a:r>
              <a:rPr lang="en-US" dirty="0">
                <a:solidFill>
                  <a:schemeClr val="accent2"/>
                </a:solidFill>
              </a:rPr>
              <a:t>VCF 9.1 introduces a single software depot</a:t>
            </a:r>
          </a:p>
          <a:p>
            <a:pPr lvl="1">
              <a:lnSpc>
                <a:spcPct val="90000"/>
              </a:lnSpc>
            </a:pPr>
            <a:r>
              <a:rPr lang="en-US" dirty="0">
                <a:solidFill>
                  <a:schemeClr val="accent2"/>
                </a:solidFill>
              </a:rPr>
              <a:t>Verify/reconfigure following upgrade.</a:t>
            </a:r>
          </a:p>
          <a:p>
            <a:pPr>
              <a:lnSpc>
                <a:spcPct val="90000"/>
              </a:lnSpc>
            </a:pPr>
            <a:r>
              <a:rPr lang="en-US" dirty="0">
                <a:solidFill>
                  <a:schemeClr val="accent2"/>
                </a:solidFill>
              </a:rPr>
              <a:t>VCF 9.1 Introduces two new components: </a:t>
            </a:r>
          </a:p>
          <a:p>
            <a:pPr lvl="1">
              <a:lnSpc>
                <a:spcPct val="90000"/>
              </a:lnSpc>
            </a:pPr>
            <a:r>
              <a:rPr lang="en-US" b="1" dirty="0">
                <a:solidFill>
                  <a:schemeClr val="accent2"/>
                </a:solidFill>
              </a:rPr>
              <a:t>VCF Management Services</a:t>
            </a:r>
          </a:p>
          <a:p>
            <a:pPr lvl="2">
              <a:lnSpc>
                <a:spcPct val="90000"/>
              </a:lnSpc>
            </a:pPr>
            <a:r>
              <a:rPr lang="en-US" dirty="0">
                <a:solidFill>
                  <a:schemeClr val="accent2"/>
                </a:solidFill>
              </a:rPr>
              <a:t>Deployed from VCF Operations</a:t>
            </a:r>
          </a:p>
          <a:p>
            <a:pPr lvl="1">
              <a:lnSpc>
                <a:spcPct val="90000"/>
              </a:lnSpc>
            </a:pPr>
            <a:r>
              <a:rPr lang="en-US" b="1" dirty="0">
                <a:solidFill>
                  <a:schemeClr val="accent2"/>
                </a:solidFill>
              </a:rPr>
              <a:t>VCF License Server</a:t>
            </a:r>
          </a:p>
          <a:p>
            <a:pPr lvl="2">
              <a:lnSpc>
                <a:spcPct val="90000"/>
              </a:lnSpc>
            </a:pPr>
            <a:r>
              <a:rPr lang="en-US" dirty="0">
                <a:solidFill>
                  <a:schemeClr val="accent2"/>
                </a:solidFill>
              </a:rPr>
              <a:t>Connected mode: license server automatically registered.</a:t>
            </a:r>
          </a:p>
          <a:p>
            <a:pPr lvl="2">
              <a:lnSpc>
                <a:spcPct val="90000"/>
              </a:lnSpc>
            </a:pPr>
            <a:r>
              <a:rPr lang="en-US" dirty="0">
                <a:solidFill>
                  <a:schemeClr val="accent2"/>
                </a:solidFill>
              </a:rPr>
              <a:t>Disconnected mode: will need to manually register.</a:t>
            </a:r>
          </a:p>
          <a:p>
            <a:pPr lvl="2">
              <a:lnSpc>
                <a:spcPct val="90000"/>
              </a:lnSpc>
            </a:pPr>
            <a:r>
              <a:rPr lang="en-US" dirty="0">
                <a:solidFill>
                  <a:schemeClr val="accent2"/>
                </a:solidFill>
              </a:rPr>
              <a:t>Note, you won’t be able to upgrade ESX until after you complete the new license registration.</a:t>
            </a:r>
          </a:p>
        </p:txBody>
      </p:sp>
      <p:pic>
        <p:nvPicPr>
          <p:cNvPr id="5" name="Picture 4">
            <a:extLst>
              <a:ext uri="{FF2B5EF4-FFF2-40B4-BE49-F238E27FC236}">
                <a16:creationId xmlns:a16="http://schemas.microsoft.com/office/drawing/2014/main" id="{928EEFDE-2142-6454-43B7-64001BA93B96}"/>
              </a:ext>
            </a:extLst>
          </p:cNvPr>
          <p:cNvPicPr>
            <a:picLocks noChangeAspect="1"/>
          </p:cNvPicPr>
          <p:nvPr/>
        </p:nvPicPr>
        <p:blipFill>
          <a:blip r:embed="rId2"/>
          <a:stretch>
            <a:fillRect/>
          </a:stretch>
        </p:blipFill>
        <p:spPr>
          <a:xfrm>
            <a:off x="6321287" y="2172505"/>
            <a:ext cx="5313783" cy="3427389"/>
          </a:xfrm>
          <a:prstGeom prst="rect">
            <a:avLst/>
          </a:prstGeom>
          <a:noFill/>
        </p:spPr>
      </p:pic>
    </p:spTree>
    <p:extLst>
      <p:ext uri="{BB962C8B-B14F-4D97-AF65-F5344CB8AC3E}">
        <p14:creationId xmlns:p14="http://schemas.microsoft.com/office/powerpoint/2010/main" val="1758943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40FD7-9DAD-4E26-3AA0-D859AD28F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5FC8A-A71C-E7C7-2A4C-742682158A56}"/>
              </a:ext>
            </a:extLst>
          </p:cNvPr>
          <p:cNvSpPr>
            <a:spLocks noGrp="1"/>
          </p:cNvSpPr>
          <p:nvPr>
            <p:ph type="title"/>
          </p:nvPr>
        </p:nvSpPr>
        <p:spPr/>
        <p:txBody>
          <a:bodyPr/>
          <a:lstStyle/>
          <a:p>
            <a:r>
              <a:rPr lang="en-US" dirty="0"/>
              <a:t>5.2.x Upgrade Path</a:t>
            </a:r>
          </a:p>
        </p:txBody>
      </p:sp>
      <p:sp>
        <p:nvSpPr>
          <p:cNvPr id="4" name="Subtitle 3">
            <a:extLst>
              <a:ext uri="{FF2B5EF4-FFF2-40B4-BE49-F238E27FC236}">
                <a16:creationId xmlns:a16="http://schemas.microsoft.com/office/drawing/2014/main" id="{7F118B9A-4034-AA1C-8B27-F08BB7905BF4}"/>
              </a:ext>
            </a:extLst>
          </p:cNvPr>
          <p:cNvSpPr>
            <a:spLocks noGrp="1"/>
          </p:cNvSpPr>
          <p:nvPr>
            <p:ph type="subTitle" idx="10"/>
          </p:nvPr>
        </p:nvSpPr>
        <p:spPr/>
        <p:txBody>
          <a:bodyPr/>
          <a:lstStyle/>
          <a:p>
            <a:r>
              <a:rPr lang="en-US" dirty="0"/>
              <a:t>VMware Cloud Foundation</a:t>
            </a:r>
          </a:p>
        </p:txBody>
      </p:sp>
      <p:sp>
        <p:nvSpPr>
          <p:cNvPr id="78" name="Rounded Rectangle 77">
            <a:extLst>
              <a:ext uri="{FF2B5EF4-FFF2-40B4-BE49-F238E27FC236}">
                <a16:creationId xmlns:a16="http://schemas.microsoft.com/office/drawing/2014/main" id="{F6828759-1EEF-F54C-B0F8-107C556630B9}"/>
              </a:ext>
            </a:extLst>
          </p:cNvPr>
          <p:cNvSpPr/>
          <p:nvPr/>
        </p:nvSpPr>
        <p:spPr bwMode="gray">
          <a:xfrm>
            <a:off x="1013804" y="1969216"/>
            <a:ext cx="10248973" cy="3449808"/>
          </a:xfrm>
          <a:prstGeom prst="roundRect">
            <a:avLst/>
          </a:prstGeom>
          <a:solidFill>
            <a:schemeClr val="accent4">
              <a:lumMod val="20000"/>
              <a:lumOff val="8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1"/>
              </a:solidFill>
            </a:endParaRPr>
          </a:p>
        </p:txBody>
      </p:sp>
      <p:sp>
        <p:nvSpPr>
          <p:cNvPr id="50" name="Rounded Rectangle 49">
            <a:extLst>
              <a:ext uri="{FF2B5EF4-FFF2-40B4-BE49-F238E27FC236}">
                <a16:creationId xmlns:a16="http://schemas.microsoft.com/office/drawing/2014/main" id="{ADE16D20-7059-26FA-3148-F25EB57A8C53}"/>
              </a:ext>
            </a:extLst>
          </p:cNvPr>
          <p:cNvSpPr/>
          <p:nvPr/>
        </p:nvSpPr>
        <p:spPr bwMode="gray">
          <a:xfrm>
            <a:off x="183913" y="2527800"/>
            <a:ext cx="791791" cy="537882"/>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Start</a:t>
            </a:r>
          </a:p>
        </p:txBody>
      </p:sp>
      <p:sp>
        <p:nvSpPr>
          <p:cNvPr id="51" name="Rounded Rectangle 50">
            <a:extLst>
              <a:ext uri="{FF2B5EF4-FFF2-40B4-BE49-F238E27FC236}">
                <a16:creationId xmlns:a16="http://schemas.microsoft.com/office/drawing/2014/main" id="{683A5D78-B84D-553F-CC3A-7AF5C14FC48D}"/>
              </a:ext>
            </a:extLst>
          </p:cNvPr>
          <p:cNvSpPr/>
          <p:nvPr/>
        </p:nvSpPr>
        <p:spPr bwMode="gray">
          <a:xfrm>
            <a:off x="11308266" y="4422553"/>
            <a:ext cx="791791" cy="537882"/>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End</a:t>
            </a:r>
          </a:p>
        </p:txBody>
      </p:sp>
      <p:grpSp>
        <p:nvGrpSpPr>
          <p:cNvPr id="93" name="Group 92">
            <a:extLst>
              <a:ext uri="{FF2B5EF4-FFF2-40B4-BE49-F238E27FC236}">
                <a16:creationId xmlns:a16="http://schemas.microsoft.com/office/drawing/2014/main" id="{FEE7FB80-75ED-2986-9C0E-BC4381E1E55D}"/>
              </a:ext>
            </a:extLst>
          </p:cNvPr>
          <p:cNvGrpSpPr/>
          <p:nvPr/>
        </p:nvGrpSpPr>
        <p:grpSpPr>
          <a:xfrm>
            <a:off x="1201976" y="2157627"/>
            <a:ext cx="1560730" cy="1339155"/>
            <a:chOff x="1201976" y="2157627"/>
            <a:chExt cx="1560730" cy="1339155"/>
          </a:xfrm>
        </p:grpSpPr>
        <p:sp>
          <p:nvSpPr>
            <p:cNvPr id="18" name="Google Shape;1876;g398b2a37679_3_8262">
              <a:extLst>
                <a:ext uri="{FF2B5EF4-FFF2-40B4-BE49-F238E27FC236}">
                  <a16:creationId xmlns:a16="http://schemas.microsoft.com/office/drawing/2014/main" id="{44D69806-04D9-AB71-E37A-108E88D28EF3}"/>
                </a:ext>
              </a:extLst>
            </p:cNvPr>
            <p:cNvSpPr/>
            <p:nvPr/>
          </p:nvSpPr>
          <p:spPr>
            <a:xfrm>
              <a:off x="1201976" y="2289835"/>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000" dirty="0">
                  <a:solidFill>
                    <a:schemeClr val="lt1"/>
                  </a:solidFill>
                  <a:latin typeface="Arial"/>
                  <a:ea typeface="Arial"/>
                  <a:cs typeface="Arial"/>
                  <a:sym typeface="Arial"/>
                </a:rPr>
                <a:t>Deploy/Upgrade </a:t>
              </a:r>
              <a:r>
                <a:rPr lang="en-US" sz="1000" b="0" i="0" u="none" strike="noStrike" cap="none" dirty="0">
                  <a:solidFill>
                    <a:schemeClr val="lt1"/>
                  </a:solidFill>
                  <a:latin typeface="Arial"/>
                  <a:ea typeface="Arial"/>
                  <a:cs typeface="Arial"/>
                  <a:sym typeface="Arial"/>
                </a:rPr>
                <a:t> Ops  9.1</a:t>
              </a:r>
            </a:p>
            <a:p>
              <a:pPr marL="0" marR="0" lvl="0" indent="0" algn="ctr" rtl="0">
                <a:lnSpc>
                  <a:spcPct val="100000"/>
                </a:lnSpc>
                <a:spcBef>
                  <a:spcPts val="0"/>
                </a:spcBef>
                <a:spcAft>
                  <a:spcPts val="0"/>
                </a:spcAft>
                <a:buNone/>
              </a:pPr>
              <a:endParaRPr sz="1000" dirty="0"/>
            </a:p>
          </p:txBody>
        </p:sp>
        <p:sp>
          <p:nvSpPr>
            <p:cNvPr id="53" name="Oval 52">
              <a:extLst>
                <a:ext uri="{FF2B5EF4-FFF2-40B4-BE49-F238E27FC236}">
                  <a16:creationId xmlns:a16="http://schemas.microsoft.com/office/drawing/2014/main" id="{BEFA90AB-6832-C84E-CE69-DB31F8D15378}"/>
                </a:ext>
              </a:extLst>
            </p:cNvPr>
            <p:cNvSpPr/>
            <p:nvPr/>
          </p:nvSpPr>
          <p:spPr bwMode="gray">
            <a:xfrm>
              <a:off x="1213104" y="2157627"/>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1</a:t>
              </a:r>
            </a:p>
          </p:txBody>
        </p:sp>
      </p:grpSp>
      <p:grpSp>
        <p:nvGrpSpPr>
          <p:cNvPr id="94" name="Group 93">
            <a:extLst>
              <a:ext uri="{FF2B5EF4-FFF2-40B4-BE49-F238E27FC236}">
                <a16:creationId xmlns:a16="http://schemas.microsoft.com/office/drawing/2014/main" id="{6D2B0991-D540-3F4E-97C8-75FFBEC237F8}"/>
              </a:ext>
            </a:extLst>
          </p:cNvPr>
          <p:cNvGrpSpPr/>
          <p:nvPr/>
        </p:nvGrpSpPr>
        <p:grpSpPr>
          <a:xfrm>
            <a:off x="2862066" y="2134319"/>
            <a:ext cx="1560730" cy="1362463"/>
            <a:chOff x="2862066" y="2134319"/>
            <a:chExt cx="1560730" cy="1362463"/>
          </a:xfrm>
        </p:grpSpPr>
        <p:sp>
          <p:nvSpPr>
            <p:cNvPr id="13" name="Google Shape;1876;g398b2a37679_3_8262">
              <a:extLst>
                <a:ext uri="{FF2B5EF4-FFF2-40B4-BE49-F238E27FC236}">
                  <a16:creationId xmlns:a16="http://schemas.microsoft.com/office/drawing/2014/main" id="{E2F3E03A-E8EF-ED4C-D306-1A7BBF5AC6D8}"/>
                </a:ext>
              </a:extLst>
            </p:cNvPr>
            <p:cNvSpPr/>
            <p:nvPr/>
          </p:nvSpPr>
          <p:spPr>
            <a:xfrm>
              <a:off x="2862066" y="2289835"/>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000" b="0" i="0" u="none" strike="noStrike" cap="none" dirty="0">
                  <a:solidFill>
                    <a:schemeClr val="lt1"/>
                  </a:solidFill>
                  <a:latin typeface="Arial"/>
                  <a:ea typeface="Arial"/>
                  <a:cs typeface="Arial"/>
                  <a:sym typeface="Arial"/>
                </a:rPr>
                <a:t>Deploy/Upgrade Ops Proxy</a:t>
              </a:r>
            </a:p>
            <a:p>
              <a:pPr marL="0" marR="0" lvl="0" indent="0" algn="ctr" rtl="0">
                <a:lnSpc>
                  <a:spcPct val="100000"/>
                </a:lnSpc>
                <a:spcBef>
                  <a:spcPts val="0"/>
                </a:spcBef>
                <a:spcAft>
                  <a:spcPts val="0"/>
                </a:spcAft>
                <a:buNone/>
              </a:pPr>
              <a:endParaRPr sz="1000" dirty="0"/>
            </a:p>
          </p:txBody>
        </p:sp>
        <p:sp>
          <p:nvSpPr>
            <p:cNvPr id="61" name="Oval 60">
              <a:extLst>
                <a:ext uri="{FF2B5EF4-FFF2-40B4-BE49-F238E27FC236}">
                  <a16:creationId xmlns:a16="http://schemas.microsoft.com/office/drawing/2014/main" id="{FAAF8D65-ED5B-4429-3837-FCAF259E9C6F}"/>
                </a:ext>
              </a:extLst>
            </p:cNvPr>
            <p:cNvSpPr/>
            <p:nvPr/>
          </p:nvSpPr>
          <p:spPr bwMode="gray">
            <a:xfrm>
              <a:off x="2874706" y="2134319"/>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2</a:t>
              </a:r>
            </a:p>
          </p:txBody>
        </p:sp>
      </p:grpSp>
      <p:grpSp>
        <p:nvGrpSpPr>
          <p:cNvPr id="95" name="Group 94">
            <a:extLst>
              <a:ext uri="{FF2B5EF4-FFF2-40B4-BE49-F238E27FC236}">
                <a16:creationId xmlns:a16="http://schemas.microsoft.com/office/drawing/2014/main" id="{D34F9336-32A3-2C24-EC29-8ED799C3C7F2}"/>
              </a:ext>
            </a:extLst>
          </p:cNvPr>
          <p:cNvGrpSpPr/>
          <p:nvPr/>
        </p:nvGrpSpPr>
        <p:grpSpPr>
          <a:xfrm>
            <a:off x="4512531" y="2157627"/>
            <a:ext cx="1560730" cy="1340274"/>
            <a:chOff x="4512531" y="2157627"/>
            <a:chExt cx="1560730" cy="1340274"/>
          </a:xfrm>
        </p:grpSpPr>
        <p:sp>
          <p:nvSpPr>
            <p:cNvPr id="14" name="Google Shape;1909;g398b2a37679_3_8262">
              <a:extLst>
                <a:ext uri="{FF2B5EF4-FFF2-40B4-BE49-F238E27FC236}">
                  <a16:creationId xmlns:a16="http://schemas.microsoft.com/office/drawing/2014/main" id="{93DC9686-50D2-9669-18B3-651D29FFA34B}"/>
                </a:ext>
              </a:extLst>
            </p:cNvPr>
            <p:cNvSpPr/>
            <p:nvPr/>
          </p:nvSpPr>
          <p:spPr>
            <a:xfrm>
              <a:off x="4512531" y="2290954"/>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000" b="0" i="0" u="none" strike="noStrike" cap="none" dirty="0">
                  <a:solidFill>
                    <a:schemeClr val="lt1"/>
                  </a:solidFill>
                  <a:latin typeface="Arial"/>
                  <a:ea typeface="Arial"/>
                  <a:cs typeface="Arial"/>
                  <a:sym typeface="Arial"/>
                </a:rPr>
                <a:t>Upgrade SDDC Manager</a:t>
              </a:r>
            </a:p>
            <a:p>
              <a:pPr marL="0" marR="0" lvl="0" indent="0" algn="ctr" rtl="0">
                <a:lnSpc>
                  <a:spcPct val="100000"/>
                </a:lnSpc>
                <a:spcBef>
                  <a:spcPts val="0"/>
                </a:spcBef>
                <a:spcAft>
                  <a:spcPts val="0"/>
                </a:spcAft>
                <a:buNone/>
              </a:pPr>
              <a:endParaRPr sz="1000" dirty="0"/>
            </a:p>
          </p:txBody>
        </p:sp>
        <p:sp>
          <p:nvSpPr>
            <p:cNvPr id="69" name="Oval 68">
              <a:extLst>
                <a:ext uri="{FF2B5EF4-FFF2-40B4-BE49-F238E27FC236}">
                  <a16:creationId xmlns:a16="http://schemas.microsoft.com/office/drawing/2014/main" id="{F5FC3A03-7A05-E49C-410A-BE271B82FB14}"/>
                </a:ext>
              </a:extLst>
            </p:cNvPr>
            <p:cNvSpPr/>
            <p:nvPr/>
          </p:nvSpPr>
          <p:spPr bwMode="gray">
            <a:xfrm>
              <a:off x="4535571" y="2157627"/>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3</a:t>
              </a:r>
            </a:p>
          </p:txBody>
        </p:sp>
      </p:grpSp>
      <p:grpSp>
        <p:nvGrpSpPr>
          <p:cNvPr id="96" name="Group 95">
            <a:extLst>
              <a:ext uri="{FF2B5EF4-FFF2-40B4-BE49-F238E27FC236}">
                <a16:creationId xmlns:a16="http://schemas.microsoft.com/office/drawing/2014/main" id="{01792BDB-06F2-DFFE-0FB7-DB02D0A80490}"/>
              </a:ext>
            </a:extLst>
          </p:cNvPr>
          <p:cNvGrpSpPr/>
          <p:nvPr/>
        </p:nvGrpSpPr>
        <p:grpSpPr>
          <a:xfrm>
            <a:off x="6172620" y="2177993"/>
            <a:ext cx="1560730" cy="1317049"/>
            <a:chOff x="6172620" y="2177993"/>
            <a:chExt cx="1560730" cy="1317049"/>
          </a:xfrm>
        </p:grpSpPr>
        <p:sp>
          <p:nvSpPr>
            <p:cNvPr id="15" name="Google Shape;1910;g398b2a37679_3_8262">
              <a:extLst>
                <a:ext uri="{FF2B5EF4-FFF2-40B4-BE49-F238E27FC236}">
                  <a16:creationId xmlns:a16="http://schemas.microsoft.com/office/drawing/2014/main" id="{D50BBAA1-176F-E670-BCE9-C8BE553BC727}"/>
                </a:ext>
              </a:extLst>
            </p:cNvPr>
            <p:cNvSpPr/>
            <p:nvPr/>
          </p:nvSpPr>
          <p:spPr>
            <a:xfrm>
              <a:off x="6172620" y="2288095"/>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1000" dirty="0">
                  <a:solidFill>
                    <a:schemeClr val="lt1"/>
                  </a:solidFill>
                  <a:cs typeface="Arial"/>
                  <a:sym typeface="Arial"/>
                </a:rPr>
                <a:t>Config Software Depot</a:t>
              </a:r>
            </a:p>
            <a:p>
              <a:pPr lvl="0" algn="ctr"/>
              <a:endParaRPr lang="en-US" sz="1000" dirty="0"/>
            </a:p>
          </p:txBody>
        </p:sp>
        <p:sp>
          <p:nvSpPr>
            <p:cNvPr id="72" name="Oval 71">
              <a:extLst>
                <a:ext uri="{FF2B5EF4-FFF2-40B4-BE49-F238E27FC236}">
                  <a16:creationId xmlns:a16="http://schemas.microsoft.com/office/drawing/2014/main" id="{C58ECCCB-CA36-D4BD-C3EC-0537C1227F41}"/>
                </a:ext>
              </a:extLst>
            </p:cNvPr>
            <p:cNvSpPr/>
            <p:nvPr/>
          </p:nvSpPr>
          <p:spPr bwMode="gray">
            <a:xfrm>
              <a:off x="6199766" y="2177993"/>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4</a:t>
              </a:r>
            </a:p>
          </p:txBody>
        </p:sp>
      </p:grpSp>
      <p:grpSp>
        <p:nvGrpSpPr>
          <p:cNvPr id="97" name="Group 96">
            <a:extLst>
              <a:ext uri="{FF2B5EF4-FFF2-40B4-BE49-F238E27FC236}">
                <a16:creationId xmlns:a16="http://schemas.microsoft.com/office/drawing/2014/main" id="{1732BAEE-A146-CE13-776C-EBFF9C87BB8B}"/>
              </a:ext>
            </a:extLst>
          </p:cNvPr>
          <p:cNvGrpSpPr/>
          <p:nvPr/>
        </p:nvGrpSpPr>
        <p:grpSpPr>
          <a:xfrm>
            <a:off x="7823086" y="2178571"/>
            <a:ext cx="1560730" cy="1316457"/>
            <a:chOff x="7823086" y="2178571"/>
            <a:chExt cx="1560730" cy="1316457"/>
          </a:xfrm>
        </p:grpSpPr>
        <p:sp>
          <p:nvSpPr>
            <p:cNvPr id="16" name="Google Shape;1877;g398b2a37679_3_8262">
              <a:extLst>
                <a:ext uri="{FF2B5EF4-FFF2-40B4-BE49-F238E27FC236}">
                  <a16:creationId xmlns:a16="http://schemas.microsoft.com/office/drawing/2014/main" id="{883F2C15-368F-4E61-4F22-7ADB3A33E9BD}"/>
                </a:ext>
              </a:extLst>
            </p:cNvPr>
            <p:cNvSpPr/>
            <p:nvPr/>
          </p:nvSpPr>
          <p:spPr>
            <a:xfrm>
              <a:off x="7823086" y="2288081"/>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1000" dirty="0">
                  <a:solidFill>
                    <a:schemeClr val="lt1"/>
                  </a:solidFill>
                  <a:ea typeface="Arial"/>
                  <a:cs typeface="Arial"/>
                  <a:sym typeface="Arial"/>
                </a:rPr>
                <a:t>Deploy Mgmt Services</a:t>
              </a:r>
            </a:p>
            <a:p>
              <a:pPr lvl="0" algn="ctr"/>
              <a:endParaRPr lang="en-US" sz="1000" dirty="0"/>
            </a:p>
          </p:txBody>
        </p:sp>
        <p:sp>
          <p:nvSpPr>
            <p:cNvPr id="73" name="Oval 72">
              <a:extLst>
                <a:ext uri="{FF2B5EF4-FFF2-40B4-BE49-F238E27FC236}">
                  <a16:creationId xmlns:a16="http://schemas.microsoft.com/office/drawing/2014/main" id="{25477260-51DD-0824-EC4A-192A75EBC630}"/>
                </a:ext>
              </a:extLst>
            </p:cNvPr>
            <p:cNvSpPr/>
            <p:nvPr/>
          </p:nvSpPr>
          <p:spPr bwMode="gray">
            <a:xfrm>
              <a:off x="7867101" y="2178571"/>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5</a:t>
              </a:r>
            </a:p>
          </p:txBody>
        </p:sp>
      </p:grpSp>
      <p:grpSp>
        <p:nvGrpSpPr>
          <p:cNvPr id="100" name="Group 99">
            <a:extLst>
              <a:ext uri="{FF2B5EF4-FFF2-40B4-BE49-F238E27FC236}">
                <a16:creationId xmlns:a16="http://schemas.microsoft.com/office/drawing/2014/main" id="{3B7AD991-901C-1470-FA4D-08A001675FBD}"/>
              </a:ext>
            </a:extLst>
          </p:cNvPr>
          <p:cNvGrpSpPr/>
          <p:nvPr/>
        </p:nvGrpSpPr>
        <p:grpSpPr>
          <a:xfrm>
            <a:off x="2886391" y="3696120"/>
            <a:ext cx="1560730" cy="1331511"/>
            <a:chOff x="2886391" y="3696120"/>
            <a:chExt cx="1560730" cy="1331511"/>
          </a:xfrm>
        </p:grpSpPr>
        <p:sp>
          <p:nvSpPr>
            <p:cNvPr id="19" name="Google Shape;1877;g398b2a37679_3_8262">
              <a:extLst>
                <a:ext uri="{FF2B5EF4-FFF2-40B4-BE49-F238E27FC236}">
                  <a16:creationId xmlns:a16="http://schemas.microsoft.com/office/drawing/2014/main" id="{27B2F04F-D470-6A60-B298-8BED8FFA3A04}"/>
                </a:ext>
              </a:extLst>
            </p:cNvPr>
            <p:cNvSpPr/>
            <p:nvPr/>
          </p:nvSpPr>
          <p:spPr>
            <a:xfrm>
              <a:off x="2886391" y="3820684"/>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1000" dirty="0">
                  <a:solidFill>
                    <a:schemeClr val="lt1"/>
                  </a:solidFill>
                  <a:ea typeface="Arial"/>
                  <a:cs typeface="Arial"/>
                  <a:sym typeface="Arial"/>
                </a:rPr>
                <a:t>Upgrade Domain Core Components</a:t>
              </a:r>
            </a:p>
            <a:p>
              <a:pPr lvl="0" algn="ctr"/>
              <a:endParaRPr lang="en-US" sz="1000" dirty="0">
                <a:solidFill>
                  <a:schemeClr val="lt1"/>
                </a:solidFill>
                <a:ea typeface="Arial"/>
                <a:cs typeface="Arial"/>
                <a:sym typeface="Arial"/>
              </a:endParaRPr>
            </a:p>
            <a:p>
              <a:pPr algn="ctr"/>
              <a:r>
                <a:rPr lang="en-US" sz="1200" dirty="0">
                  <a:solidFill>
                    <a:schemeClr val="lt1"/>
                  </a:solidFill>
                  <a:ea typeface="Arial"/>
                  <a:cs typeface="Arial"/>
                  <a:sym typeface="Arial"/>
                </a:rPr>
                <a:t> </a:t>
              </a:r>
              <a:r>
                <a:rPr lang="en-US" sz="1000" dirty="0">
                  <a:solidFill>
                    <a:schemeClr val="lt1"/>
                  </a:solidFill>
                  <a:ea typeface="Arial"/>
                  <a:cs typeface="Arial"/>
                  <a:sym typeface="Arial"/>
                </a:rPr>
                <a:t>(NSX, vCenter, </a:t>
              </a:r>
              <a:r>
                <a:rPr lang="en-US" sz="1000" baseline="30000" dirty="0">
                  <a:solidFill>
                    <a:schemeClr val="lt1"/>
                  </a:solidFill>
                  <a:ea typeface="Arial"/>
                  <a:cs typeface="Arial"/>
                  <a:sym typeface="Arial"/>
                </a:rPr>
                <a:t>1</a:t>
              </a:r>
              <a:r>
                <a:rPr lang="en-US" sz="1000" dirty="0">
                  <a:solidFill>
                    <a:schemeClr val="lt1"/>
                  </a:solidFill>
                  <a:ea typeface="Arial"/>
                  <a:cs typeface="Arial"/>
                  <a:sym typeface="Arial"/>
                </a:rPr>
                <a:t>ESX)</a:t>
              </a:r>
              <a:endParaRPr lang="en-US" sz="1000" dirty="0"/>
            </a:p>
          </p:txBody>
        </p:sp>
        <p:sp>
          <p:nvSpPr>
            <p:cNvPr id="74" name="Oval 73">
              <a:extLst>
                <a:ext uri="{FF2B5EF4-FFF2-40B4-BE49-F238E27FC236}">
                  <a16:creationId xmlns:a16="http://schemas.microsoft.com/office/drawing/2014/main" id="{115A8E3A-FE90-3744-49B4-FB66E25A0AEB}"/>
                </a:ext>
              </a:extLst>
            </p:cNvPr>
            <p:cNvSpPr/>
            <p:nvPr/>
          </p:nvSpPr>
          <p:spPr bwMode="gray">
            <a:xfrm>
              <a:off x="2925587" y="3696120"/>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8</a:t>
              </a:r>
            </a:p>
          </p:txBody>
        </p:sp>
      </p:grpSp>
      <p:grpSp>
        <p:nvGrpSpPr>
          <p:cNvPr id="101" name="Group 100">
            <a:extLst>
              <a:ext uri="{FF2B5EF4-FFF2-40B4-BE49-F238E27FC236}">
                <a16:creationId xmlns:a16="http://schemas.microsoft.com/office/drawing/2014/main" id="{F89B0BBF-D571-DE28-9A10-4465612AFB84}"/>
              </a:ext>
            </a:extLst>
          </p:cNvPr>
          <p:cNvGrpSpPr/>
          <p:nvPr/>
        </p:nvGrpSpPr>
        <p:grpSpPr>
          <a:xfrm>
            <a:off x="4543041" y="3703705"/>
            <a:ext cx="1560730" cy="1323926"/>
            <a:chOff x="4543041" y="3703705"/>
            <a:chExt cx="1560730" cy="1323926"/>
          </a:xfrm>
        </p:grpSpPr>
        <p:sp>
          <p:nvSpPr>
            <p:cNvPr id="20" name="Google Shape;1877;g398b2a37679_3_8262">
              <a:extLst>
                <a:ext uri="{FF2B5EF4-FFF2-40B4-BE49-F238E27FC236}">
                  <a16:creationId xmlns:a16="http://schemas.microsoft.com/office/drawing/2014/main" id="{DB8B7228-6505-1A25-DE48-DA1926221534}"/>
                </a:ext>
              </a:extLst>
            </p:cNvPr>
            <p:cNvSpPr/>
            <p:nvPr/>
          </p:nvSpPr>
          <p:spPr>
            <a:xfrm>
              <a:off x="4543041" y="3820684"/>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000" b="0" i="0" u="none" strike="noStrike" cap="none" dirty="0">
                  <a:solidFill>
                    <a:schemeClr val="lt1"/>
                  </a:solidFill>
                  <a:latin typeface="Arial"/>
                  <a:ea typeface="Arial"/>
                  <a:cs typeface="Arial"/>
                  <a:sym typeface="Arial"/>
                </a:rPr>
                <a:t>Upgrade VDS Version</a:t>
              </a:r>
            </a:p>
            <a:p>
              <a:pPr marL="0" marR="0" lvl="0" indent="0" algn="ctr" rtl="0">
                <a:lnSpc>
                  <a:spcPct val="100000"/>
                </a:lnSpc>
                <a:spcBef>
                  <a:spcPts val="0"/>
                </a:spcBef>
                <a:spcAft>
                  <a:spcPts val="0"/>
                </a:spcAft>
                <a:buNone/>
              </a:pPr>
              <a:endParaRPr lang="en-US" sz="1000" b="0" i="0" u="none" strike="noStrike" cap="none" dirty="0">
                <a:solidFill>
                  <a:schemeClr val="lt1"/>
                </a:solidFill>
                <a:latin typeface="Arial"/>
                <a:ea typeface="Arial"/>
                <a:cs typeface="Arial"/>
                <a:sym typeface="Arial"/>
              </a:endParaRPr>
            </a:p>
            <a:p>
              <a:pPr marL="0" marR="0" lvl="0" indent="0" algn="ctr" rtl="0">
                <a:lnSpc>
                  <a:spcPct val="100000"/>
                </a:lnSpc>
                <a:spcBef>
                  <a:spcPts val="0"/>
                </a:spcBef>
                <a:spcAft>
                  <a:spcPts val="0"/>
                </a:spcAft>
                <a:buNone/>
              </a:pPr>
              <a:endParaRPr sz="1000" dirty="0"/>
            </a:p>
          </p:txBody>
        </p:sp>
        <p:sp>
          <p:nvSpPr>
            <p:cNvPr id="75" name="Oval 74">
              <a:extLst>
                <a:ext uri="{FF2B5EF4-FFF2-40B4-BE49-F238E27FC236}">
                  <a16:creationId xmlns:a16="http://schemas.microsoft.com/office/drawing/2014/main" id="{92F3A931-2032-2988-B0C0-E2E0AFE212B9}"/>
                </a:ext>
              </a:extLst>
            </p:cNvPr>
            <p:cNvSpPr/>
            <p:nvPr/>
          </p:nvSpPr>
          <p:spPr bwMode="gray">
            <a:xfrm>
              <a:off x="4586846" y="3703705"/>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9</a:t>
              </a:r>
            </a:p>
          </p:txBody>
        </p:sp>
      </p:grpSp>
      <p:grpSp>
        <p:nvGrpSpPr>
          <p:cNvPr id="98" name="Group 97">
            <a:extLst>
              <a:ext uri="{FF2B5EF4-FFF2-40B4-BE49-F238E27FC236}">
                <a16:creationId xmlns:a16="http://schemas.microsoft.com/office/drawing/2014/main" id="{FD38E82B-CB07-5052-D751-A4ED7FCA6DD4}"/>
              </a:ext>
            </a:extLst>
          </p:cNvPr>
          <p:cNvGrpSpPr/>
          <p:nvPr/>
        </p:nvGrpSpPr>
        <p:grpSpPr>
          <a:xfrm>
            <a:off x="9463925" y="2189241"/>
            <a:ext cx="1560730" cy="1305793"/>
            <a:chOff x="9463925" y="2189241"/>
            <a:chExt cx="1560730" cy="1305793"/>
          </a:xfrm>
        </p:grpSpPr>
        <p:sp>
          <p:nvSpPr>
            <p:cNvPr id="60" name="Google Shape;1877;g398b2a37679_3_8262">
              <a:extLst>
                <a:ext uri="{FF2B5EF4-FFF2-40B4-BE49-F238E27FC236}">
                  <a16:creationId xmlns:a16="http://schemas.microsoft.com/office/drawing/2014/main" id="{B35A0341-9D2F-4A11-1E0F-E77CE741C8F7}"/>
                </a:ext>
              </a:extLst>
            </p:cNvPr>
            <p:cNvSpPr/>
            <p:nvPr/>
          </p:nvSpPr>
          <p:spPr>
            <a:xfrm>
              <a:off x="9463925" y="2288087"/>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1000" dirty="0">
                  <a:solidFill>
                    <a:schemeClr val="lt1"/>
                  </a:solidFill>
                  <a:cs typeface="Arial"/>
                  <a:sym typeface="Arial"/>
                </a:rPr>
                <a:t>Deploy other VMS components</a:t>
              </a:r>
              <a:endParaRPr lang="en-US" sz="1000" dirty="0"/>
            </a:p>
          </p:txBody>
        </p:sp>
        <p:sp>
          <p:nvSpPr>
            <p:cNvPr id="79" name="Oval 78">
              <a:extLst>
                <a:ext uri="{FF2B5EF4-FFF2-40B4-BE49-F238E27FC236}">
                  <a16:creationId xmlns:a16="http://schemas.microsoft.com/office/drawing/2014/main" id="{511632DF-753F-69E9-8451-DB46975766E8}"/>
                </a:ext>
              </a:extLst>
            </p:cNvPr>
            <p:cNvSpPr/>
            <p:nvPr/>
          </p:nvSpPr>
          <p:spPr bwMode="gray">
            <a:xfrm>
              <a:off x="9471832" y="2189241"/>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6</a:t>
              </a:r>
            </a:p>
          </p:txBody>
        </p:sp>
      </p:grpSp>
      <p:grpSp>
        <p:nvGrpSpPr>
          <p:cNvPr id="99" name="Group 98">
            <a:extLst>
              <a:ext uri="{FF2B5EF4-FFF2-40B4-BE49-F238E27FC236}">
                <a16:creationId xmlns:a16="http://schemas.microsoft.com/office/drawing/2014/main" id="{675DBC90-EDFD-4878-8E0E-8ABCF0220A38}"/>
              </a:ext>
            </a:extLst>
          </p:cNvPr>
          <p:cNvGrpSpPr/>
          <p:nvPr/>
        </p:nvGrpSpPr>
        <p:grpSpPr>
          <a:xfrm>
            <a:off x="1201976" y="3671122"/>
            <a:ext cx="1560730" cy="1354905"/>
            <a:chOff x="1201976" y="3671122"/>
            <a:chExt cx="1560730" cy="1354905"/>
          </a:xfrm>
        </p:grpSpPr>
        <p:sp>
          <p:nvSpPr>
            <p:cNvPr id="17" name="Google Shape;1877;g398b2a37679_3_8262">
              <a:extLst>
                <a:ext uri="{FF2B5EF4-FFF2-40B4-BE49-F238E27FC236}">
                  <a16:creationId xmlns:a16="http://schemas.microsoft.com/office/drawing/2014/main" id="{23AB1F7F-7258-FB78-16B6-80108D4EFEC0}"/>
                </a:ext>
              </a:extLst>
            </p:cNvPr>
            <p:cNvSpPr/>
            <p:nvPr/>
          </p:nvSpPr>
          <p:spPr>
            <a:xfrm>
              <a:off x="1201976" y="3819080"/>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000" b="0" i="0" u="none" strike="noStrike" cap="none" dirty="0">
                  <a:solidFill>
                    <a:schemeClr val="lt1"/>
                  </a:solidFill>
                  <a:latin typeface="Arial"/>
                  <a:ea typeface="Arial"/>
                  <a:cs typeface="Arial"/>
                  <a:sym typeface="Arial"/>
                </a:rPr>
                <a:t>Deploy/import/ Upgrade Auto / Ops for Net / </a:t>
              </a:r>
            </a:p>
            <a:p>
              <a:pPr marL="0" marR="0" lvl="0" indent="0" algn="ctr" rtl="0">
                <a:lnSpc>
                  <a:spcPct val="100000"/>
                </a:lnSpc>
                <a:spcBef>
                  <a:spcPts val="0"/>
                </a:spcBef>
                <a:spcAft>
                  <a:spcPts val="0"/>
                </a:spcAft>
                <a:buNone/>
              </a:pPr>
              <a:endParaRPr sz="1000" dirty="0"/>
            </a:p>
          </p:txBody>
        </p:sp>
        <p:sp>
          <p:nvSpPr>
            <p:cNvPr id="80" name="Oval 79">
              <a:extLst>
                <a:ext uri="{FF2B5EF4-FFF2-40B4-BE49-F238E27FC236}">
                  <a16:creationId xmlns:a16="http://schemas.microsoft.com/office/drawing/2014/main" id="{98A4195C-2FF0-720B-91B5-D9B08E7CFE22}"/>
                </a:ext>
              </a:extLst>
            </p:cNvPr>
            <p:cNvSpPr/>
            <p:nvPr/>
          </p:nvSpPr>
          <p:spPr bwMode="gray">
            <a:xfrm>
              <a:off x="1232442" y="3671122"/>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7</a:t>
              </a:r>
            </a:p>
          </p:txBody>
        </p:sp>
      </p:grpSp>
      <p:grpSp>
        <p:nvGrpSpPr>
          <p:cNvPr id="102" name="Group 101">
            <a:extLst>
              <a:ext uri="{FF2B5EF4-FFF2-40B4-BE49-F238E27FC236}">
                <a16:creationId xmlns:a16="http://schemas.microsoft.com/office/drawing/2014/main" id="{5678C7FD-A23E-02CF-67B7-68AEE290ED1A}"/>
              </a:ext>
            </a:extLst>
          </p:cNvPr>
          <p:cNvGrpSpPr/>
          <p:nvPr/>
        </p:nvGrpSpPr>
        <p:grpSpPr>
          <a:xfrm>
            <a:off x="6190061" y="3703705"/>
            <a:ext cx="1560730" cy="1323926"/>
            <a:chOff x="6190061" y="3703705"/>
            <a:chExt cx="1560730" cy="1323926"/>
          </a:xfrm>
        </p:grpSpPr>
        <p:sp>
          <p:nvSpPr>
            <p:cNvPr id="21" name="Google Shape;1877;g398b2a37679_3_8262">
              <a:extLst>
                <a:ext uri="{FF2B5EF4-FFF2-40B4-BE49-F238E27FC236}">
                  <a16:creationId xmlns:a16="http://schemas.microsoft.com/office/drawing/2014/main" id="{3E98DA0D-4381-8E44-28FB-7FDC438EF488}"/>
                </a:ext>
              </a:extLst>
            </p:cNvPr>
            <p:cNvSpPr/>
            <p:nvPr/>
          </p:nvSpPr>
          <p:spPr>
            <a:xfrm>
              <a:off x="6190061" y="3820684"/>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000" b="0" i="0" u="none" strike="noStrike" cap="none" dirty="0">
                  <a:solidFill>
                    <a:schemeClr val="lt1"/>
                  </a:solidFill>
                  <a:latin typeface="Arial"/>
                  <a:ea typeface="Arial"/>
                  <a:cs typeface="Arial"/>
                  <a:sym typeface="Arial"/>
                </a:rPr>
                <a:t>Upgrade vSAN Disk Version</a:t>
              </a:r>
            </a:p>
            <a:p>
              <a:pPr marL="0" marR="0" lvl="0" indent="0" algn="ctr" rtl="0">
                <a:lnSpc>
                  <a:spcPct val="100000"/>
                </a:lnSpc>
                <a:spcBef>
                  <a:spcPts val="0"/>
                </a:spcBef>
                <a:spcAft>
                  <a:spcPts val="0"/>
                </a:spcAft>
                <a:buNone/>
              </a:pPr>
              <a:endParaRPr sz="1000" dirty="0"/>
            </a:p>
          </p:txBody>
        </p:sp>
        <p:grpSp>
          <p:nvGrpSpPr>
            <p:cNvPr id="81" name="Group 80">
              <a:extLst>
                <a:ext uri="{FF2B5EF4-FFF2-40B4-BE49-F238E27FC236}">
                  <a16:creationId xmlns:a16="http://schemas.microsoft.com/office/drawing/2014/main" id="{0DF7B8AF-3EBD-9970-7769-10525EF5EA8B}"/>
                </a:ext>
              </a:extLst>
            </p:cNvPr>
            <p:cNvGrpSpPr/>
            <p:nvPr/>
          </p:nvGrpSpPr>
          <p:grpSpPr>
            <a:xfrm>
              <a:off x="6234677" y="3703705"/>
              <a:ext cx="294816" cy="291442"/>
              <a:chOff x="8893001" y="4258841"/>
              <a:chExt cx="294816" cy="291442"/>
            </a:xfrm>
          </p:grpSpPr>
          <p:sp>
            <p:nvSpPr>
              <p:cNvPr id="82" name="Oval 81">
                <a:extLst>
                  <a:ext uri="{FF2B5EF4-FFF2-40B4-BE49-F238E27FC236}">
                    <a16:creationId xmlns:a16="http://schemas.microsoft.com/office/drawing/2014/main" id="{AC376479-4C4B-3D59-B767-7B0FBDB7B84B}"/>
                  </a:ext>
                </a:extLst>
              </p:cNvPr>
              <p:cNvSpPr/>
              <p:nvPr/>
            </p:nvSpPr>
            <p:spPr bwMode="gray">
              <a:xfrm>
                <a:off x="8893001" y="4258841"/>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600" dirty="0">
                  <a:solidFill>
                    <a:schemeClr val="bg1"/>
                  </a:solidFill>
                </a:endParaRPr>
              </a:p>
            </p:txBody>
          </p:sp>
          <p:sp>
            <p:nvSpPr>
              <p:cNvPr id="84" name="TextBox 83">
                <a:extLst>
                  <a:ext uri="{FF2B5EF4-FFF2-40B4-BE49-F238E27FC236}">
                    <a16:creationId xmlns:a16="http://schemas.microsoft.com/office/drawing/2014/main" id="{CFEEB2A5-38A8-8387-7CD2-310DC6EA22CC}"/>
                  </a:ext>
                </a:extLst>
              </p:cNvPr>
              <p:cNvSpPr txBox="1"/>
              <p:nvPr/>
            </p:nvSpPr>
            <p:spPr>
              <a:xfrm>
                <a:off x="8929672" y="4313189"/>
                <a:ext cx="207869" cy="184666"/>
              </a:xfrm>
              <a:prstGeom prst="rect">
                <a:avLst/>
              </a:prstGeom>
              <a:noFill/>
            </p:spPr>
            <p:txBody>
              <a:bodyPr wrap="square" lIns="0" tIns="0" rIns="0" bIns="0" rtlCol="0">
                <a:spAutoFit/>
              </a:bodyPr>
              <a:lstStyle/>
              <a:p>
                <a:pPr algn="ctr"/>
                <a:r>
                  <a:rPr lang="en-US" sz="1200" dirty="0">
                    <a:solidFill>
                      <a:schemeClr val="bg1"/>
                    </a:solidFill>
                  </a:rPr>
                  <a:t>10</a:t>
                </a:r>
              </a:p>
            </p:txBody>
          </p:sp>
        </p:grpSp>
      </p:grpSp>
      <p:grpSp>
        <p:nvGrpSpPr>
          <p:cNvPr id="103" name="Group 102">
            <a:extLst>
              <a:ext uri="{FF2B5EF4-FFF2-40B4-BE49-F238E27FC236}">
                <a16:creationId xmlns:a16="http://schemas.microsoft.com/office/drawing/2014/main" id="{F63DB681-FB8B-27CF-1154-108796D8EB31}"/>
              </a:ext>
            </a:extLst>
          </p:cNvPr>
          <p:cNvGrpSpPr/>
          <p:nvPr/>
        </p:nvGrpSpPr>
        <p:grpSpPr>
          <a:xfrm>
            <a:off x="7837790" y="3703705"/>
            <a:ext cx="1560730" cy="1323926"/>
            <a:chOff x="7837790" y="3703705"/>
            <a:chExt cx="1560730" cy="1323926"/>
          </a:xfrm>
        </p:grpSpPr>
        <p:sp>
          <p:nvSpPr>
            <p:cNvPr id="31" name="Google Shape;1877;g398b2a37679_3_8262">
              <a:extLst>
                <a:ext uri="{FF2B5EF4-FFF2-40B4-BE49-F238E27FC236}">
                  <a16:creationId xmlns:a16="http://schemas.microsoft.com/office/drawing/2014/main" id="{47C68112-99F9-859A-337B-0980CBF6B9F8}"/>
                </a:ext>
              </a:extLst>
            </p:cNvPr>
            <p:cNvSpPr/>
            <p:nvPr/>
          </p:nvSpPr>
          <p:spPr>
            <a:xfrm>
              <a:off x="7837790" y="3820684"/>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algn="ctr"/>
              <a:r>
                <a:rPr lang="en-US" sz="1000" dirty="0">
                  <a:solidFill>
                    <a:schemeClr val="lt1"/>
                  </a:solidFill>
                  <a:latin typeface="Arial"/>
                  <a:cs typeface="Arial"/>
                  <a:sym typeface="Arial"/>
                </a:rPr>
                <a:t>Apply Config Drift Updates</a:t>
              </a:r>
            </a:p>
            <a:p>
              <a:pPr algn="ctr"/>
              <a:endParaRPr lang="en-US" sz="1000" dirty="0">
                <a:solidFill>
                  <a:schemeClr val="lt1"/>
                </a:solidFill>
                <a:latin typeface="Arial"/>
                <a:cs typeface="Arial"/>
              </a:endParaRPr>
            </a:p>
          </p:txBody>
        </p:sp>
        <p:grpSp>
          <p:nvGrpSpPr>
            <p:cNvPr id="85" name="Group 84">
              <a:extLst>
                <a:ext uri="{FF2B5EF4-FFF2-40B4-BE49-F238E27FC236}">
                  <a16:creationId xmlns:a16="http://schemas.microsoft.com/office/drawing/2014/main" id="{16935C18-21A7-6F76-035A-4C436166FDFE}"/>
                </a:ext>
              </a:extLst>
            </p:cNvPr>
            <p:cNvGrpSpPr/>
            <p:nvPr/>
          </p:nvGrpSpPr>
          <p:grpSpPr>
            <a:xfrm>
              <a:off x="7867101" y="3703705"/>
              <a:ext cx="294816" cy="291442"/>
              <a:chOff x="8893001" y="4258841"/>
              <a:chExt cx="294816" cy="291442"/>
            </a:xfrm>
          </p:grpSpPr>
          <p:sp>
            <p:nvSpPr>
              <p:cNvPr id="88" name="Oval 87">
                <a:extLst>
                  <a:ext uri="{FF2B5EF4-FFF2-40B4-BE49-F238E27FC236}">
                    <a16:creationId xmlns:a16="http://schemas.microsoft.com/office/drawing/2014/main" id="{5128A166-9A80-83DC-E4B0-3808A69DA81B}"/>
                  </a:ext>
                </a:extLst>
              </p:cNvPr>
              <p:cNvSpPr/>
              <p:nvPr/>
            </p:nvSpPr>
            <p:spPr bwMode="gray">
              <a:xfrm>
                <a:off x="8893001" y="4258841"/>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600" dirty="0">
                  <a:solidFill>
                    <a:schemeClr val="bg1"/>
                  </a:solidFill>
                </a:endParaRPr>
              </a:p>
            </p:txBody>
          </p:sp>
          <p:sp>
            <p:nvSpPr>
              <p:cNvPr id="89" name="TextBox 88">
                <a:extLst>
                  <a:ext uri="{FF2B5EF4-FFF2-40B4-BE49-F238E27FC236}">
                    <a16:creationId xmlns:a16="http://schemas.microsoft.com/office/drawing/2014/main" id="{A44B1DAE-FA6F-B11C-19D5-05352B3BC437}"/>
                  </a:ext>
                </a:extLst>
              </p:cNvPr>
              <p:cNvSpPr txBox="1"/>
              <p:nvPr/>
            </p:nvSpPr>
            <p:spPr>
              <a:xfrm>
                <a:off x="8929672" y="4313189"/>
                <a:ext cx="207869" cy="184666"/>
              </a:xfrm>
              <a:prstGeom prst="rect">
                <a:avLst/>
              </a:prstGeom>
              <a:noFill/>
            </p:spPr>
            <p:txBody>
              <a:bodyPr wrap="square" lIns="0" tIns="0" rIns="0" bIns="0" rtlCol="0">
                <a:spAutoFit/>
              </a:bodyPr>
              <a:lstStyle/>
              <a:p>
                <a:pPr algn="ctr"/>
                <a:r>
                  <a:rPr lang="en-US" sz="1200" dirty="0">
                    <a:solidFill>
                      <a:schemeClr val="bg1"/>
                    </a:solidFill>
                  </a:rPr>
                  <a:t>11</a:t>
                </a:r>
              </a:p>
            </p:txBody>
          </p:sp>
        </p:grpSp>
      </p:grpSp>
      <p:grpSp>
        <p:nvGrpSpPr>
          <p:cNvPr id="104" name="Group 103">
            <a:extLst>
              <a:ext uri="{FF2B5EF4-FFF2-40B4-BE49-F238E27FC236}">
                <a16:creationId xmlns:a16="http://schemas.microsoft.com/office/drawing/2014/main" id="{61A28842-F4AA-3724-C3FC-1BFE456C1BEB}"/>
              </a:ext>
            </a:extLst>
          </p:cNvPr>
          <p:cNvGrpSpPr/>
          <p:nvPr/>
        </p:nvGrpSpPr>
        <p:grpSpPr>
          <a:xfrm>
            <a:off x="9482109" y="3706562"/>
            <a:ext cx="1560730" cy="1319465"/>
            <a:chOff x="9482109" y="3706562"/>
            <a:chExt cx="1560730" cy="1319465"/>
          </a:xfrm>
        </p:grpSpPr>
        <p:sp>
          <p:nvSpPr>
            <p:cNvPr id="28" name="Google Shape;1877;g398b2a37679_3_8262">
              <a:extLst>
                <a:ext uri="{FF2B5EF4-FFF2-40B4-BE49-F238E27FC236}">
                  <a16:creationId xmlns:a16="http://schemas.microsoft.com/office/drawing/2014/main" id="{1AAF2DD8-7F1A-42BC-3FFF-DFECD9E89797}"/>
                </a:ext>
              </a:extLst>
            </p:cNvPr>
            <p:cNvSpPr/>
            <p:nvPr/>
          </p:nvSpPr>
          <p:spPr>
            <a:xfrm>
              <a:off x="9482109" y="3819080"/>
              <a:ext cx="1560730" cy="1206947"/>
            </a:xfrm>
            <a:prstGeom prst="flowChartProcess">
              <a:avLst/>
            </a:prstGeom>
            <a:solidFill>
              <a:schemeClr val="accent2"/>
            </a:solidFill>
            <a:ln>
              <a:noFill/>
            </a:ln>
          </p:spPr>
          <p:txBody>
            <a:bodyPr spcFirstLastPara="1" wrap="square" lIns="91425" tIns="45700" rIns="91425" bIns="45700" anchor="ctr" anchorCtr="0">
              <a:noAutofit/>
            </a:bodyPr>
            <a:lstStyle/>
            <a:p>
              <a:pPr algn="ctr"/>
              <a:r>
                <a:rPr lang="en-US" sz="1000" dirty="0">
                  <a:solidFill>
                    <a:schemeClr val="lt1"/>
                  </a:solidFill>
                  <a:latin typeface="Arial"/>
                  <a:cs typeface="Arial"/>
                  <a:sym typeface="Arial"/>
                </a:rPr>
                <a:t>License VCF 9.1</a:t>
              </a:r>
            </a:p>
            <a:p>
              <a:pPr algn="ctr"/>
              <a:endParaRPr lang="en-US" sz="1000" dirty="0">
                <a:solidFill>
                  <a:schemeClr val="lt1"/>
                </a:solidFill>
                <a:latin typeface="Arial"/>
                <a:cs typeface="Arial"/>
              </a:endParaRPr>
            </a:p>
          </p:txBody>
        </p:sp>
        <p:grpSp>
          <p:nvGrpSpPr>
            <p:cNvPr id="90" name="Group 89">
              <a:extLst>
                <a:ext uri="{FF2B5EF4-FFF2-40B4-BE49-F238E27FC236}">
                  <a16:creationId xmlns:a16="http://schemas.microsoft.com/office/drawing/2014/main" id="{3CC2156A-CC62-9C6F-57F9-5A7267F0E62E}"/>
                </a:ext>
              </a:extLst>
            </p:cNvPr>
            <p:cNvGrpSpPr/>
            <p:nvPr/>
          </p:nvGrpSpPr>
          <p:grpSpPr>
            <a:xfrm>
              <a:off x="9541192" y="3706562"/>
              <a:ext cx="294816" cy="291442"/>
              <a:chOff x="8893001" y="4258841"/>
              <a:chExt cx="294816" cy="291442"/>
            </a:xfrm>
          </p:grpSpPr>
          <p:sp>
            <p:nvSpPr>
              <p:cNvPr id="91" name="Oval 90">
                <a:extLst>
                  <a:ext uri="{FF2B5EF4-FFF2-40B4-BE49-F238E27FC236}">
                    <a16:creationId xmlns:a16="http://schemas.microsoft.com/office/drawing/2014/main" id="{9039ACA9-7259-6397-BE95-AA7EC0B0B585}"/>
                  </a:ext>
                </a:extLst>
              </p:cNvPr>
              <p:cNvSpPr/>
              <p:nvPr/>
            </p:nvSpPr>
            <p:spPr bwMode="gray">
              <a:xfrm>
                <a:off x="8893001" y="4258841"/>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600" dirty="0">
                  <a:solidFill>
                    <a:schemeClr val="bg1"/>
                  </a:solidFill>
                </a:endParaRPr>
              </a:p>
            </p:txBody>
          </p:sp>
          <p:sp>
            <p:nvSpPr>
              <p:cNvPr id="92" name="TextBox 91">
                <a:extLst>
                  <a:ext uri="{FF2B5EF4-FFF2-40B4-BE49-F238E27FC236}">
                    <a16:creationId xmlns:a16="http://schemas.microsoft.com/office/drawing/2014/main" id="{E56E35C4-54EB-C433-2B8A-DBFA458B6AA5}"/>
                  </a:ext>
                </a:extLst>
              </p:cNvPr>
              <p:cNvSpPr txBox="1"/>
              <p:nvPr/>
            </p:nvSpPr>
            <p:spPr>
              <a:xfrm>
                <a:off x="8929672" y="4313189"/>
                <a:ext cx="207869" cy="184666"/>
              </a:xfrm>
              <a:prstGeom prst="rect">
                <a:avLst/>
              </a:prstGeom>
              <a:noFill/>
            </p:spPr>
            <p:txBody>
              <a:bodyPr wrap="square" lIns="0" tIns="0" rIns="0" bIns="0" rtlCol="0">
                <a:spAutoFit/>
              </a:bodyPr>
              <a:lstStyle/>
              <a:p>
                <a:pPr algn="ctr"/>
                <a:r>
                  <a:rPr lang="en-US" sz="1200" dirty="0">
                    <a:solidFill>
                      <a:schemeClr val="bg1"/>
                    </a:solidFill>
                  </a:rPr>
                  <a:t>12</a:t>
                </a:r>
              </a:p>
            </p:txBody>
          </p:sp>
        </p:grpSp>
      </p:grpSp>
      <p:sp>
        <p:nvSpPr>
          <p:cNvPr id="105" name="TextBox 104">
            <a:extLst>
              <a:ext uri="{FF2B5EF4-FFF2-40B4-BE49-F238E27FC236}">
                <a16:creationId xmlns:a16="http://schemas.microsoft.com/office/drawing/2014/main" id="{E89CC385-5C90-7186-4DA7-D0CC982345D4}"/>
              </a:ext>
            </a:extLst>
          </p:cNvPr>
          <p:cNvSpPr txBox="1"/>
          <p:nvPr/>
        </p:nvSpPr>
        <p:spPr>
          <a:xfrm>
            <a:off x="2943149" y="5152195"/>
            <a:ext cx="2669000" cy="153888"/>
          </a:xfrm>
          <a:prstGeom prst="rect">
            <a:avLst/>
          </a:prstGeom>
          <a:noFill/>
        </p:spPr>
        <p:txBody>
          <a:bodyPr wrap="none" lIns="0" tIns="0" rIns="0" bIns="0" rtlCol="0">
            <a:spAutoFit/>
          </a:bodyPr>
          <a:lstStyle/>
          <a:p>
            <a:r>
              <a:rPr lang="en-US" sz="1000" baseline="30000" dirty="0">
                <a:ea typeface="Arial"/>
                <a:cs typeface="Arial"/>
                <a:sym typeface="Arial"/>
              </a:rPr>
              <a:t>1</a:t>
            </a:r>
            <a:r>
              <a:rPr lang="en-US" sz="1000" dirty="0">
                <a:solidFill>
                  <a:schemeClr val="tx2"/>
                </a:solidFill>
              </a:rPr>
              <a:t>Create 9.1 ESX Image and Import to VCF Ops</a:t>
            </a:r>
          </a:p>
        </p:txBody>
      </p:sp>
    </p:spTree>
    <p:extLst>
      <p:ext uri="{BB962C8B-B14F-4D97-AF65-F5344CB8AC3E}">
        <p14:creationId xmlns:p14="http://schemas.microsoft.com/office/powerpoint/2010/main" val="3034748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500" fill="hold"/>
                                        <p:tgtEl>
                                          <p:spTgt spid="93"/>
                                        </p:tgtEl>
                                        <p:attrNameLst>
                                          <p:attrName>ppt_x</p:attrName>
                                        </p:attrNameLst>
                                      </p:cBhvr>
                                      <p:tavLst>
                                        <p:tav tm="0">
                                          <p:val>
                                            <p:strVal val="#ppt_x"/>
                                          </p:val>
                                        </p:tav>
                                        <p:tav tm="100000">
                                          <p:val>
                                            <p:strVal val="#ppt_x"/>
                                          </p:val>
                                        </p:tav>
                                      </p:tavLst>
                                    </p:anim>
                                    <p:anim calcmode="lin" valueType="num">
                                      <p:cBhvr additive="base">
                                        <p:cTn id="8"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4"/>
                                        </p:tgtEl>
                                        <p:attrNameLst>
                                          <p:attrName>style.visibility</p:attrName>
                                        </p:attrNameLst>
                                      </p:cBhvr>
                                      <p:to>
                                        <p:strVal val="visible"/>
                                      </p:to>
                                    </p:set>
                                    <p:anim calcmode="lin" valueType="num">
                                      <p:cBhvr additive="base">
                                        <p:cTn id="13" dur="500" fill="hold"/>
                                        <p:tgtEl>
                                          <p:spTgt spid="94"/>
                                        </p:tgtEl>
                                        <p:attrNameLst>
                                          <p:attrName>ppt_x</p:attrName>
                                        </p:attrNameLst>
                                      </p:cBhvr>
                                      <p:tavLst>
                                        <p:tav tm="0">
                                          <p:val>
                                            <p:strVal val="#ppt_x"/>
                                          </p:val>
                                        </p:tav>
                                        <p:tav tm="100000">
                                          <p:val>
                                            <p:strVal val="#ppt_x"/>
                                          </p:val>
                                        </p:tav>
                                      </p:tavLst>
                                    </p:anim>
                                    <p:anim calcmode="lin" valueType="num">
                                      <p:cBhvr additive="base">
                                        <p:cTn id="14"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5"/>
                                        </p:tgtEl>
                                        <p:attrNameLst>
                                          <p:attrName>style.visibility</p:attrName>
                                        </p:attrNameLst>
                                      </p:cBhvr>
                                      <p:to>
                                        <p:strVal val="visible"/>
                                      </p:to>
                                    </p:set>
                                    <p:anim calcmode="lin" valueType="num">
                                      <p:cBhvr additive="base">
                                        <p:cTn id="19" dur="500" fill="hold"/>
                                        <p:tgtEl>
                                          <p:spTgt spid="95"/>
                                        </p:tgtEl>
                                        <p:attrNameLst>
                                          <p:attrName>ppt_x</p:attrName>
                                        </p:attrNameLst>
                                      </p:cBhvr>
                                      <p:tavLst>
                                        <p:tav tm="0">
                                          <p:val>
                                            <p:strVal val="#ppt_x"/>
                                          </p:val>
                                        </p:tav>
                                        <p:tav tm="100000">
                                          <p:val>
                                            <p:strVal val="#ppt_x"/>
                                          </p:val>
                                        </p:tav>
                                      </p:tavLst>
                                    </p:anim>
                                    <p:anim calcmode="lin" valueType="num">
                                      <p:cBhvr additive="base">
                                        <p:cTn id="20"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6"/>
                                        </p:tgtEl>
                                        <p:attrNameLst>
                                          <p:attrName>style.visibility</p:attrName>
                                        </p:attrNameLst>
                                      </p:cBhvr>
                                      <p:to>
                                        <p:strVal val="visible"/>
                                      </p:to>
                                    </p:set>
                                    <p:anim calcmode="lin" valueType="num">
                                      <p:cBhvr additive="base">
                                        <p:cTn id="25" dur="500" fill="hold"/>
                                        <p:tgtEl>
                                          <p:spTgt spid="96"/>
                                        </p:tgtEl>
                                        <p:attrNameLst>
                                          <p:attrName>ppt_x</p:attrName>
                                        </p:attrNameLst>
                                      </p:cBhvr>
                                      <p:tavLst>
                                        <p:tav tm="0">
                                          <p:val>
                                            <p:strVal val="#ppt_x"/>
                                          </p:val>
                                        </p:tav>
                                        <p:tav tm="100000">
                                          <p:val>
                                            <p:strVal val="#ppt_x"/>
                                          </p:val>
                                        </p:tav>
                                      </p:tavLst>
                                    </p:anim>
                                    <p:anim calcmode="lin" valueType="num">
                                      <p:cBhvr additive="base">
                                        <p:cTn id="26"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7"/>
                                        </p:tgtEl>
                                        <p:attrNameLst>
                                          <p:attrName>style.visibility</p:attrName>
                                        </p:attrNameLst>
                                      </p:cBhvr>
                                      <p:to>
                                        <p:strVal val="visible"/>
                                      </p:to>
                                    </p:set>
                                    <p:anim calcmode="lin" valueType="num">
                                      <p:cBhvr additive="base">
                                        <p:cTn id="31" dur="500" fill="hold"/>
                                        <p:tgtEl>
                                          <p:spTgt spid="97"/>
                                        </p:tgtEl>
                                        <p:attrNameLst>
                                          <p:attrName>ppt_x</p:attrName>
                                        </p:attrNameLst>
                                      </p:cBhvr>
                                      <p:tavLst>
                                        <p:tav tm="0">
                                          <p:val>
                                            <p:strVal val="#ppt_x"/>
                                          </p:val>
                                        </p:tav>
                                        <p:tav tm="100000">
                                          <p:val>
                                            <p:strVal val="#ppt_x"/>
                                          </p:val>
                                        </p:tav>
                                      </p:tavLst>
                                    </p:anim>
                                    <p:anim calcmode="lin" valueType="num">
                                      <p:cBhvr additive="base">
                                        <p:cTn id="32"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gtEl>
                                        <p:attrNameLst>
                                          <p:attrName>style.visibility</p:attrName>
                                        </p:attrNameLst>
                                      </p:cBhvr>
                                      <p:to>
                                        <p:strVal val="visible"/>
                                      </p:to>
                                    </p:set>
                                    <p:anim calcmode="lin" valueType="num">
                                      <p:cBhvr additive="base">
                                        <p:cTn id="37" dur="500" fill="hold"/>
                                        <p:tgtEl>
                                          <p:spTgt spid="98"/>
                                        </p:tgtEl>
                                        <p:attrNameLst>
                                          <p:attrName>ppt_x</p:attrName>
                                        </p:attrNameLst>
                                      </p:cBhvr>
                                      <p:tavLst>
                                        <p:tav tm="0">
                                          <p:val>
                                            <p:strVal val="#ppt_x"/>
                                          </p:val>
                                        </p:tav>
                                        <p:tav tm="100000">
                                          <p:val>
                                            <p:strVal val="#ppt_x"/>
                                          </p:val>
                                        </p:tav>
                                      </p:tavLst>
                                    </p:anim>
                                    <p:anim calcmode="lin" valueType="num">
                                      <p:cBhvr additive="base">
                                        <p:cTn id="38" dur="500" fill="hold"/>
                                        <p:tgtEl>
                                          <p:spTgt spid="9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9"/>
                                        </p:tgtEl>
                                        <p:attrNameLst>
                                          <p:attrName>style.visibility</p:attrName>
                                        </p:attrNameLst>
                                      </p:cBhvr>
                                      <p:to>
                                        <p:strVal val="visible"/>
                                      </p:to>
                                    </p:set>
                                    <p:anim calcmode="lin" valueType="num">
                                      <p:cBhvr additive="base">
                                        <p:cTn id="43" dur="500" fill="hold"/>
                                        <p:tgtEl>
                                          <p:spTgt spid="99"/>
                                        </p:tgtEl>
                                        <p:attrNameLst>
                                          <p:attrName>ppt_x</p:attrName>
                                        </p:attrNameLst>
                                      </p:cBhvr>
                                      <p:tavLst>
                                        <p:tav tm="0">
                                          <p:val>
                                            <p:strVal val="#ppt_x"/>
                                          </p:val>
                                        </p:tav>
                                        <p:tav tm="100000">
                                          <p:val>
                                            <p:strVal val="#ppt_x"/>
                                          </p:val>
                                        </p:tav>
                                      </p:tavLst>
                                    </p:anim>
                                    <p:anim calcmode="lin" valueType="num">
                                      <p:cBhvr additive="base">
                                        <p:cTn id="44"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0"/>
                                        </p:tgtEl>
                                        <p:attrNameLst>
                                          <p:attrName>style.visibility</p:attrName>
                                        </p:attrNameLst>
                                      </p:cBhvr>
                                      <p:to>
                                        <p:strVal val="visible"/>
                                      </p:to>
                                    </p:set>
                                    <p:anim calcmode="lin" valueType="num">
                                      <p:cBhvr additive="base">
                                        <p:cTn id="49" dur="500" fill="hold"/>
                                        <p:tgtEl>
                                          <p:spTgt spid="100"/>
                                        </p:tgtEl>
                                        <p:attrNameLst>
                                          <p:attrName>ppt_x</p:attrName>
                                        </p:attrNameLst>
                                      </p:cBhvr>
                                      <p:tavLst>
                                        <p:tav tm="0">
                                          <p:val>
                                            <p:strVal val="#ppt_x"/>
                                          </p:val>
                                        </p:tav>
                                        <p:tav tm="100000">
                                          <p:val>
                                            <p:strVal val="#ppt_x"/>
                                          </p:val>
                                        </p:tav>
                                      </p:tavLst>
                                    </p:anim>
                                    <p:anim calcmode="lin" valueType="num">
                                      <p:cBhvr additive="base">
                                        <p:cTn id="50" dur="500" fill="hold"/>
                                        <p:tgtEl>
                                          <p:spTgt spid="100"/>
                                        </p:tgtEl>
                                        <p:attrNameLst>
                                          <p:attrName>ppt_y</p:attrName>
                                        </p:attrNameLst>
                                      </p:cBhvr>
                                      <p:tavLst>
                                        <p:tav tm="0">
                                          <p:val>
                                            <p:strVal val="1+#ppt_h/2"/>
                                          </p:val>
                                        </p:tav>
                                        <p:tav tm="100000">
                                          <p:val>
                                            <p:strVal val="#ppt_y"/>
                                          </p:val>
                                        </p:tav>
                                      </p:tavLst>
                                    </p:anim>
                                  </p:childTnLst>
                                </p:cTn>
                              </p:par>
                              <p:par>
                                <p:cTn id="51" presetID="9" presetClass="entr" presetSubtype="0" fill="hold" grpId="0" nodeType="withEffect">
                                  <p:stCondLst>
                                    <p:cond delay="0"/>
                                  </p:stCondLst>
                                  <p:childTnLst>
                                    <p:set>
                                      <p:cBhvr>
                                        <p:cTn id="52" dur="1" fill="hold">
                                          <p:stCondLst>
                                            <p:cond delay="0"/>
                                          </p:stCondLst>
                                        </p:cTn>
                                        <p:tgtEl>
                                          <p:spTgt spid="105"/>
                                        </p:tgtEl>
                                        <p:attrNameLst>
                                          <p:attrName>style.visibility</p:attrName>
                                        </p:attrNameLst>
                                      </p:cBhvr>
                                      <p:to>
                                        <p:strVal val="visible"/>
                                      </p:to>
                                    </p:set>
                                    <p:animEffect transition="in" filter="dissolve">
                                      <p:cBhvr>
                                        <p:cTn id="53" dur="500"/>
                                        <p:tgtEl>
                                          <p:spTgt spid="105"/>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01"/>
                                        </p:tgtEl>
                                        <p:attrNameLst>
                                          <p:attrName>style.visibility</p:attrName>
                                        </p:attrNameLst>
                                      </p:cBhvr>
                                      <p:to>
                                        <p:strVal val="visible"/>
                                      </p:to>
                                    </p:set>
                                    <p:anim calcmode="lin" valueType="num">
                                      <p:cBhvr additive="base">
                                        <p:cTn id="58" dur="500" fill="hold"/>
                                        <p:tgtEl>
                                          <p:spTgt spid="101"/>
                                        </p:tgtEl>
                                        <p:attrNameLst>
                                          <p:attrName>ppt_x</p:attrName>
                                        </p:attrNameLst>
                                      </p:cBhvr>
                                      <p:tavLst>
                                        <p:tav tm="0">
                                          <p:val>
                                            <p:strVal val="#ppt_x"/>
                                          </p:val>
                                        </p:tav>
                                        <p:tav tm="100000">
                                          <p:val>
                                            <p:strVal val="#ppt_x"/>
                                          </p:val>
                                        </p:tav>
                                      </p:tavLst>
                                    </p:anim>
                                    <p:anim calcmode="lin" valueType="num">
                                      <p:cBhvr additive="base">
                                        <p:cTn id="59"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102"/>
                                        </p:tgtEl>
                                        <p:attrNameLst>
                                          <p:attrName>style.visibility</p:attrName>
                                        </p:attrNameLst>
                                      </p:cBhvr>
                                      <p:to>
                                        <p:strVal val="visible"/>
                                      </p:to>
                                    </p:set>
                                    <p:anim calcmode="lin" valueType="num">
                                      <p:cBhvr additive="base">
                                        <p:cTn id="64" dur="500" fill="hold"/>
                                        <p:tgtEl>
                                          <p:spTgt spid="102"/>
                                        </p:tgtEl>
                                        <p:attrNameLst>
                                          <p:attrName>ppt_x</p:attrName>
                                        </p:attrNameLst>
                                      </p:cBhvr>
                                      <p:tavLst>
                                        <p:tav tm="0">
                                          <p:val>
                                            <p:strVal val="#ppt_x"/>
                                          </p:val>
                                        </p:tav>
                                        <p:tav tm="100000">
                                          <p:val>
                                            <p:strVal val="#ppt_x"/>
                                          </p:val>
                                        </p:tav>
                                      </p:tavLst>
                                    </p:anim>
                                    <p:anim calcmode="lin" valueType="num">
                                      <p:cBhvr additive="base">
                                        <p:cTn id="65"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103"/>
                                        </p:tgtEl>
                                        <p:attrNameLst>
                                          <p:attrName>style.visibility</p:attrName>
                                        </p:attrNameLst>
                                      </p:cBhvr>
                                      <p:to>
                                        <p:strVal val="visible"/>
                                      </p:to>
                                    </p:set>
                                    <p:anim calcmode="lin" valueType="num">
                                      <p:cBhvr additive="base">
                                        <p:cTn id="70" dur="500" fill="hold"/>
                                        <p:tgtEl>
                                          <p:spTgt spid="103"/>
                                        </p:tgtEl>
                                        <p:attrNameLst>
                                          <p:attrName>ppt_x</p:attrName>
                                        </p:attrNameLst>
                                      </p:cBhvr>
                                      <p:tavLst>
                                        <p:tav tm="0">
                                          <p:val>
                                            <p:strVal val="#ppt_x"/>
                                          </p:val>
                                        </p:tav>
                                        <p:tav tm="100000">
                                          <p:val>
                                            <p:strVal val="#ppt_x"/>
                                          </p:val>
                                        </p:tav>
                                      </p:tavLst>
                                    </p:anim>
                                    <p:anim calcmode="lin" valueType="num">
                                      <p:cBhvr additive="base">
                                        <p:cTn id="71"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104"/>
                                        </p:tgtEl>
                                        <p:attrNameLst>
                                          <p:attrName>style.visibility</p:attrName>
                                        </p:attrNameLst>
                                      </p:cBhvr>
                                      <p:to>
                                        <p:strVal val="visible"/>
                                      </p:to>
                                    </p:set>
                                    <p:anim calcmode="lin" valueType="num">
                                      <p:cBhvr additive="base">
                                        <p:cTn id="76" dur="500" fill="hold"/>
                                        <p:tgtEl>
                                          <p:spTgt spid="104"/>
                                        </p:tgtEl>
                                        <p:attrNameLst>
                                          <p:attrName>ppt_x</p:attrName>
                                        </p:attrNameLst>
                                      </p:cBhvr>
                                      <p:tavLst>
                                        <p:tav tm="0">
                                          <p:val>
                                            <p:strVal val="#ppt_x"/>
                                          </p:val>
                                        </p:tav>
                                        <p:tav tm="100000">
                                          <p:val>
                                            <p:strVal val="#ppt_x"/>
                                          </p:val>
                                        </p:tav>
                                      </p:tavLst>
                                    </p:anim>
                                    <p:anim calcmode="lin" valueType="num">
                                      <p:cBhvr additive="base">
                                        <p:cTn id="77"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4EE61-9B5B-7F26-1691-4CA9DB5F70B2}"/>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33027980-EABC-AB47-A4F8-CB4632AE5CA9}"/>
              </a:ext>
            </a:extLst>
          </p:cNvPr>
          <p:cNvSpPr>
            <a:spLocks noGrp="1"/>
          </p:cNvSpPr>
          <p:nvPr>
            <p:ph type="title"/>
          </p:nvPr>
        </p:nvSpPr>
        <p:spPr>
          <a:xfrm>
            <a:off x="589107" y="1413356"/>
            <a:ext cx="6587869" cy="1229360"/>
          </a:xfrm>
        </p:spPr>
        <p:txBody>
          <a:bodyPr/>
          <a:lstStyle/>
          <a:p>
            <a:r>
              <a:rPr lang="en-US" dirty="0"/>
              <a:t>VCF 9.0 to VCF 9.1</a:t>
            </a:r>
            <a:br>
              <a:rPr lang="en-US" dirty="0"/>
            </a:br>
            <a:r>
              <a:rPr lang="en-US" dirty="0"/>
              <a:t>Upgrade Overview…</a:t>
            </a:r>
          </a:p>
        </p:txBody>
      </p:sp>
    </p:spTree>
    <p:extLst>
      <p:ext uri="{BB962C8B-B14F-4D97-AF65-F5344CB8AC3E}">
        <p14:creationId xmlns:p14="http://schemas.microsoft.com/office/powerpoint/2010/main" val="3243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38CE3-3FF0-45B6-79DE-0B1869C71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57A93-BB70-6DE5-46D1-8AA7F34ECE86}"/>
              </a:ext>
            </a:extLst>
          </p:cNvPr>
          <p:cNvSpPr>
            <a:spLocks noGrp="1"/>
          </p:cNvSpPr>
          <p:nvPr>
            <p:ph type="title"/>
          </p:nvPr>
        </p:nvSpPr>
        <p:spPr/>
        <p:txBody>
          <a:bodyPr/>
          <a:lstStyle/>
          <a:p>
            <a:r>
              <a:rPr lang="en-US" dirty="0"/>
              <a:t>VCF 9.0 </a:t>
            </a:r>
            <a:r>
              <a:rPr lang="en-US" dirty="0">
                <a:sym typeface="Wingdings" pitchFamily="2" charset="2"/>
              </a:rPr>
              <a:t></a:t>
            </a:r>
            <a:r>
              <a:rPr lang="en-US" dirty="0"/>
              <a:t> VCF 9.1 Upgrade Considerations</a:t>
            </a:r>
          </a:p>
        </p:txBody>
      </p:sp>
      <p:sp>
        <p:nvSpPr>
          <p:cNvPr id="3" name="Subtitle 2">
            <a:extLst>
              <a:ext uri="{FF2B5EF4-FFF2-40B4-BE49-F238E27FC236}">
                <a16:creationId xmlns:a16="http://schemas.microsoft.com/office/drawing/2014/main" id="{34D3C372-23BE-CFE7-5CFB-831125529A2F}"/>
              </a:ext>
            </a:extLst>
          </p:cNvPr>
          <p:cNvSpPr>
            <a:spLocks noGrp="1"/>
          </p:cNvSpPr>
          <p:nvPr>
            <p:ph type="subTitle" idx="10"/>
          </p:nvPr>
        </p:nvSpPr>
        <p:spPr/>
        <p:txBody>
          <a:bodyPr/>
          <a:lstStyle/>
          <a:p>
            <a:endParaRPr lang="en-US" dirty="0"/>
          </a:p>
        </p:txBody>
      </p:sp>
      <p:sp>
        <p:nvSpPr>
          <p:cNvPr id="4" name="Content Placeholder 3">
            <a:extLst>
              <a:ext uri="{FF2B5EF4-FFF2-40B4-BE49-F238E27FC236}">
                <a16:creationId xmlns:a16="http://schemas.microsoft.com/office/drawing/2014/main" id="{023E5A24-4131-4661-396F-208AA6F02DC2}"/>
              </a:ext>
            </a:extLst>
          </p:cNvPr>
          <p:cNvSpPr>
            <a:spLocks noGrp="1"/>
          </p:cNvSpPr>
          <p:nvPr>
            <p:ph sz="quarter" idx="14"/>
          </p:nvPr>
        </p:nvSpPr>
        <p:spPr/>
        <p:txBody>
          <a:bodyPr/>
          <a:lstStyle/>
          <a:p>
            <a:r>
              <a:rPr lang="en-US" sz="1800" dirty="0">
                <a:solidFill>
                  <a:schemeClr val="accent2"/>
                </a:solidFill>
              </a:rPr>
              <a:t>Upgrade path is largely the same as VCF 5.2 to VCF 9.1 </a:t>
            </a:r>
          </a:p>
          <a:p>
            <a:r>
              <a:rPr lang="en-US" sz="1800" dirty="0">
                <a:solidFill>
                  <a:schemeClr val="accent2"/>
                </a:solidFill>
              </a:rPr>
              <a:t>Upgrade is driven from VCF Operations</a:t>
            </a:r>
          </a:p>
          <a:p>
            <a:r>
              <a:rPr lang="en-US" sz="1800" dirty="0">
                <a:solidFill>
                  <a:schemeClr val="accent2"/>
                </a:solidFill>
              </a:rPr>
              <a:t>Primary Considerations:</a:t>
            </a:r>
          </a:p>
          <a:p>
            <a:pPr lvl="1"/>
            <a:r>
              <a:rPr lang="en-US" sz="1600" dirty="0">
                <a:solidFill>
                  <a:schemeClr val="accent2"/>
                </a:solidFill>
              </a:rPr>
              <a:t>VCF 9.1 deprecates Fleet Management and Introduces VCF Management Services</a:t>
            </a:r>
          </a:p>
          <a:p>
            <a:pPr lvl="1"/>
            <a:r>
              <a:rPr lang="en-US" sz="1600" dirty="0">
                <a:solidFill>
                  <a:schemeClr val="accent2"/>
                </a:solidFill>
              </a:rPr>
              <a:t>VCF 9.1 introduces the License Server</a:t>
            </a:r>
          </a:p>
          <a:p>
            <a:pPr lvl="2"/>
            <a:r>
              <a:rPr lang="en-US" sz="1400" dirty="0">
                <a:solidFill>
                  <a:schemeClr val="accent2"/>
                </a:solidFill>
              </a:rPr>
              <a:t>If licensed in connected mode, licenses auto configured.  </a:t>
            </a:r>
          </a:p>
          <a:p>
            <a:pPr lvl="2"/>
            <a:r>
              <a:rPr lang="en-US" sz="1400" dirty="0">
                <a:solidFill>
                  <a:schemeClr val="accent2"/>
                </a:solidFill>
              </a:rPr>
              <a:t>If disconnected mode, manually configure.</a:t>
            </a:r>
          </a:p>
          <a:p>
            <a:endParaRPr lang="en-US" dirty="0"/>
          </a:p>
        </p:txBody>
      </p:sp>
    </p:spTree>
    <p:extLst>
      <p:ext uri="{BB962C8B-B14F-4D97-AF65-F5344CB8AC3E}">
        <p14:creationId xmlns:p14="http://schemas.microsoft.com/office/powerpoint/2010/main" val="166698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5CFC-EA9D-6846-4B1A-2CCA52857BBF}"/>
            </a:ext>
          </a:extLst>
        </p:cNvPr>
        <p:cNvGrpSpPr/>
        <p:nvPr/>
      </p:nvGrpSpPr>
      <p:grpSpPr>
        <a:xfrm>
          <a:off x="0" y="0"/>
          <a:ext cx="0" cy="0"/>
          <a:chOff x="0" y="0"/>
          <a:chExt cx="0" cy="0"/>
        </a:xfrm>
      </p:grpSpPr>
      <p:sp>
        <p:nvSpPr>
          <p:cNvPr id="77" name="Rounded Rectangle 76">
            <a:extLst>
              <a:ext uri="{FF2B5EF4-FFF2-40B4-BE49-F238E27FC236}">
                <a16:creationId xmlns:a16="http://schemas.microsoft.com/office/drawing/2014/main" id="{671F730A-83D3-46BF-B9EE-DDB074F0A071}"/>
              </a:ext>
            </a:extLst>
          </p:cNvPr>
          <p:cNvSpPr/>
          <p:nvPr/>
        </p:nvSpPr>
        <p:spPr bwMode="gray">
          <a:xfrm>
            <a:off x="1214530" y="2091757"/>
            <a:ext cx="9759763" cy="3341966"/>
          </a:xfrm>
          <a:prstGeom prst="roundRect">
            <a:avLst/>
          </a:prstGeom>
          <a:solidFill>
            <a:schemeClr val="accent4">
              <a:lumMod val="20000"/>
              <a:lumOff val="80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2" name="Title 1">
            <a:extLst>
              <a:ext uri="{FF2B5EF4-FFF2-40B4-BE49-F238E27FC236}">
                <a16:creationId xmlns:a16="http://schemas.microsoft.com/office/drawing/2014/main" id="{AD644B69-EF23-F47F-272A-CD013A5E2A00}"/>
              </a:ext>
            </a:extLst>
          </p:cNvPr>
          <p:cNvSpPr>
            <a:spLocks noGrp="1"/>
          </p:cNvSpPr>
          <p:nvPr>
            <p:ph type="title"/>
          </p:nvPr>
        </p:nvSpPr>
        <p:spPr/>
        <p:txBody>
          <a:bodyPr/>
          <a:lstStyle/>
          <a:p>
            <a:r>
              <a:rPr lang="en-US" dirty="0"/>
              <a:t>VCF 9.0.x </a:t>
            </a:r>
            <a:r>
              <a:rPr lang="en-US" dirty="0">
                <a:sym typeface="Wingdings" pitchFamily="2" charset="2"/>
              </a:rPr>
              <a:t></a:t>
            </a:r>
            <a:r>
              <a:rPr lang="en-US" dirty="0"/>
              <a:t> VCF 9.1 Upgrade Path</a:t>
            </a:r>
          </a:p>
        </p:txBody>
      </p:sp>
      <p:sp>
        <p:nvSpPr>
          <p:cNvPr id="4" name="Subtitle 3">
            <a:extLst>
              <a:ext uri="{FF2B5EF4-FFF2-40B4-BE49-F238E27FC236}">
                <a16:creationId xmlns:a16="http://schemas.microsoft.com/office/drawing/2014/main" id="{0AE759FB-7AFC-0D59-D9F8-DB175A993194}"/>
              </a:ext>
            </a:extLst>
          </p:cNvPr>
          <p:cNvSpPr>
            <a:spLocks noGrp="1"/>
          </p:cNvSpPr>
          <p:nvPr>
            <p:ph type="subTitle" idx="10"/>
          </p:nvPr>
        </p:nvSpPr>
        <p:spPr/>
        <p:txBody>
          <a:bodyPr/>
          <a:lstStyle/>
          <a:p>
            <a:r>
              <a:rPr lang="en-US" dirty="0"/>
              <a:t>VMware Cloud Foundation</a:t>
            </a:r>
          </a:p>
        </p:txBody>
      </p:sp>
      <p:sp>
        <p:nvSpPr>
          <p:cNvPr id="3" name="Rounded Rectangle 2">
            <a:extLst>
              <a:ext uri="{FF2B5EF4-FFF2-40B4-BE49-F238E27FC236}">
                <a16:creationId xmlns:a16="http://schemas.microsoft.com/office/drawing/2014/main" id="{D1847981-EED9-9290-0336-E4F56BBED1AC}"/>
              </a:ext>
            </a:extLst>
          </p:cNvPr>
          <p:cNvSpPr/>
          <p:nvPr/>
        </p:nvSpPr>
        <p:spPr bwMode="gray">
          <a:xfrm>
            <a:off x="257520" y="2846191"/>
            <a:ext cx="791791" cy="537882"/>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Start</a:t>
            </a:r>
          </a:p>
        </p:txBody>
      </p:sp>
      <p:grpSp>
        <p:nvGrpSpPr>
          <p:cNvPr id="56" name="Group 55">
            <a:extLst>
              <a:ext uri="{FF2B5EF4-FFF2-40B4-BE49-F238E27FC236}">
                <a16:creationId xmlns:a16="http://schemas.microsoft.com/office/drawing/2014/main" id="{6F625AB1-2528-E094-7D91-90B8C7BEEEC5}"/>
              </a:ext>
            </a:extLst>
          </p:cNvPr>
          <p:cNvGrpSpPr/>
          <p:nvPr/>
        </p:nvGrpSpPr>
        <p:grpSpPr>
          <a:xfrm>
            <a:off x="1463761" y="2319514"/>
            <a:ext cx="1708138" cy="1295694"/>
            <a:chOff x="1463761" y="2319514"/>
            <a:chExt cx="1708138" cy="1295694"/>
          </a:xfrm>
        </p:grpSpPr>
        <p:sp>
          <p:nvSpPr>
            <p:cNvPr id="23" name="Google Shape;1876;g398b2a37679_3_8262">
              <a:extLst>
                <a:ext uri="{FF2B5EF4-FFF2-40B4-BE49-F238E27FC236}">
                  <a16:creationId xmlns:a16="http://schemas.microsoft.com/office/drawing/2014/main" id="{B32CBF26-5BC9-C33E-EBF9-21046313C4EE}"/>
                </a:ext>
              </a:extLst>
            </p:cNvPr>
            <p:cNvSpPr/>
            <p:nvPr/>
          </p:nvSpPr>
          <p:spPr>
            <a:xfrm>
              <a:off x="1611169" y="2406657"/>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dirty="0">
                  <a:solidFill>
                    <a:schemeClr val="lt1"/>
                  </a:solidFill>
                  <a:latin typeface="Arial"/>
                  <a:ea typeface="Arial"/>
                  <a:cs typeface="Arial"/>
                  <a:sym typeface="Arial"/>
                </a:rPr>
                <a:t>Upgrade</a:t>
              </a:r>
              <a:r>
                <a:rPr lang="en-US" sz="1200" b="0" i="0" u="none" strike="noStrike" cap="none" dirty="0">
                  <a:solidFill>
                    <a:schemeClr val="lt1"/>
                  </a:solidFill>
                  <a:latin typeface="Arial"/>
                  <a:ea typeface="Arial"/>
                  <a:cs typeface="Arial"/>
                  <a:sym typeface="Arial"/>
                </a:rPr>
                <a:t> Ops to 9.1</a:t>
              </a:r>
            </a:p>
            <a:p>
              <a:pPr marL="0" marR="0" lvl="0" indent="0" algn="ctr" rtl="0">
                <a:lnSpc>
                  <a:spcPct val="100000"/>
                </a:lnSpc>
                <a:spcBef>
                  <a:spcPts val="0"/>
                </a:spcBef>
                <a:spcAft>
                  <a:spcPts val="0"/>
                </a:spcAft>
                <a:buNone/>
              </a:pPr>
              <a:endParaRPr lang="en-US" sz="1200" dirty="0">
                <a:solidFill>
                  <a:schemeClr val="lt1"/>
                </a:solidFill>
                <a:latin typeface="Arial"/>
                <a:ea typeface="Arial"/>
                <a:cs typeface="Arial"/>
                <a:sym typeface="Arial"/>
              </a:endParaRPr>
            </a:p>
            <a:p>
              <a:pPr marL="0" marR="0" lvl="0" indent="0" algn="ctr" rtl="0">
                <a:lnSpc>
                  <a:spcPct val="100000"/>
                </a:lnSpc>
                <a:spcBef>
                  <a:spcPts val="0"/>
                </a:spcBef>
                <a:spcAft>
                  <a:spcPts val="0"/>
                </a:spcAft>
                <a:buNone/>
              </a:pPr>
              <a:r>
                <a:rPr lang="en-US" sz="1000" b="0" i="0" u="none" strike="noStrike" cap="none" dirty="0">
                  <a:solidFill>
                    <a:schemeClr val="lt1"/>
                  </a:solidFill>
                  <a:latin typeface="Arial"/>
                  <a:ea typeface="Arial"/>
                  <a:cs typeface="Arial"/>
                  <a:sym typeface="Arial"/>
                </a:rPr>
                <a:t>(also upgrades Ops Proxy)</a:t>
              </a:r>
              <a:endParaRPr sz="1000" dirty="0"/>
            </a:p>
          </p:txBody>
        </p:sp>
        <p:sp>
          <p:nvSpPr>
            <p:cNvPr id="39" name="Oval 38">
              <a:extLst>
                <a:ext uri="{FF2B5EF4-FFF2-40B4-BE49-F238E27FC236}">
                  <a16:creationId xmlns:a16="http://schemas.microsoft.com/office/drawing/2014/main" id="{D725B5C7-2708-208F-510D-207A37ACEB44}"/>
                </a:ext>
              </a:extLst>
            </p:cNvPr>
            <p:cNvSpPr/>
            <p:nvPr/>
          </p:nvSpPr>
          <p:spPr bwMode="gray">
            <a:xfrm>
              <a:off x="1463761" y="2319514"/>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1</a:t>
              </a:r>
            </a:p>
          </p:txBody>
        </p:sp>
      </p:grpSp>
      <p:grpSp>
        <p:nvGrpSpPr>
          <p:cNvPr id="57" name="Group 56">
            <a:extLst>
              <a:ext uri="{FF2B5EF4-FFF2-40B4-BE49-F238E27FC236}">
                <a16:creationId xmlns:a16="http://schemas.microsoft.com/office/drawing/2014/main" id="{25F5F213-8FF3-9D66-AC72-FA78BB7A9219}"/>
              </a:ext>
            </a:extLst>
          </p:cNvPr>
          <p:cNvGrpSpPr/>
          <p:nvPr/>
        </p:nvGrpSpPr>
        <p:grpSpPr>
          <a:xfrm>
            <a:off x="3337118" y="2296206"/>
            <a:ext cx="1690002" cy="1330685"/>
            <a:chOff x="3337118" y="2296206"/>
            <a:chExt cx="1690002" cy="1330685"/>
          </a:xfrm>
        </p:grpSpPr>
        <p:sp>
          <p:nvSpPr>
            <p:cNvPr id="6" name="Google Shape;1876;g398b2a37679_3_8262">
              <a:extLst>
                <a:ext uri="{FF2B5EF4-FFF2-40B4-BE49-F238E27FC236}">
                  <a16:creationId xmlns:a16="http://schemas.microsoft.com/office/drawing/2014/main" id="{30D22F10-DC34-9B7D-8201-A5DC9D8E87AB}"/>
                </a:ext>
              </a:extLst>
            </p:cNvPr>
            <p:cNvSpPr/>
            <p:nvPr/>
          </p:nvSpPr>
          <p:spPr>
            <a:xfrm>
              <a:off x="3466390" y="2418340"/>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1200" dirty="0">
                  <a:solidFill>
                    <a:schemeClr val="lt1"/>
                  </a:solidFill>
                  <a:ea typeface="Arial"/>
                  <a:cs typeface="Arial"/>
                  <a:sym typeface="Arial"/>
                </a:rPr>
                <a:t>Upgrade SDDC Manager to 9.1</a:t>
              </a:r>
            </a:p>
            <a:p>
              <a:pPr lvl="0" algn="ctr"/>
              <a:endParaRPr lang="en-US" sz="1200" dirty="0">
                <a:solidFill>
                  <a:schemeClr val="lt1"/>
                </a:solidFill>
                <a:cs typeface="Arial"/>
                <a:sym typeface="Arial"/>
              </a:endParaRPr>
            </a:p>
            <a:p>
              <a:pPr lvl="0" algn="ctr"/>
              <a:endParaRPr lang="en-US" sz="1200" dirty="0"/>
            </a:p>
          </p:txBody>
        </p:sp>
        <p:sp>
          <p:nvSpPr>
            <p:cNvPr id="40" name="Oval 39">
              <a:extLst>
                <a:ext uri="{FF2B5EF4-FFF2-40B4-BE49-F238E27FC236}">
                  <a16:creationId xmlns:a16="http://schemas.microsoft.com/office/drawing/2014/main" id="{8F1F42BA-5BCA-4B5E-1367-E37F27C0A673}"/>
                </a:ext>
              </a:extLst>
            </p:cNvPr>
            <p:cNvSpPr/>
            <p:nvPr/>
          </p:nvSpPr>
          <p:spPr bwMode="gray">
            <a:xfrm>
              <a:off x="3337118" y="2296206"/>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2</a:t>
              </a:r>
            </a:p>
          </p:txBody>
        </p:sp>
      </p:grpSp>
      <p:grpSp>
        <p:nvGrpSpPr>
          <p:cNvPr id="58" name="Group 57">
            <a:extLst>
              <a:ext uri="{FF2B5EF4-FFF2-40B4-BE49-F238E27FC236}">
                <a16:creationId xmlns:a16="http://schemas.microsoft.com/office/drawing/2014/main" id="{2BC4062B-382D-2C1A-0AEB-6A7ADBE9F71F}"/>
              </a:ext>
            </a:extLst>
          </p:cNvPr>
          <p:cNvGrpSpPr/>
          <p:nvPr/>
        </p:nvGrpSpPr>
        <p:grpSpPr>
          <a:xfrm>
            <a:off x="5209737" y="2319514"/>
            <a:ext cx="1674939" cy="1354272"/>
            <a:chOff x="5209737" y="2319514"/>
            <a:chExt cx="1674939" cy="1354272"/>
          </a:xfrm>
        </p:grpSpPr>
        <p:sp>
          <p:nvSpPr>
            <p:cNvPr id="7" name="Google Shape;1909;g398b2a37679_3_8262">
              <a:extLst>
                <a:ext uri="{FF2B5EF4-FFF2-40B4-BE49-F238E27FC236}">
                  <a16:creationId xmlns:a16="http://schemas.microsoft.com/office/drawing/2014/main" id="{A1C2C780-85CE-C64F-EB1A-746715D1A506}"/>
                </a:ext>
              </a:extLst>
            </p:cNvPr>
            <p:cNvSpPr/>
            <p:nvPr/>
          </p:nvSpPr>
          <p:spPr>
            <a:xfrm>
              <a:off x="5323946" y="2465235"/>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marR="0" indent="0" algn="ctr">
                <a:lnSpc>
                  <a:spcPct val="100000"/>
                </a:lnSpc>
                <a:spcBef>
                  <a:spcPts val="0"/>
                </a:spcBef>
                <a:spcAft>
                  <a:spcPts val="0"/>
                </a:spcAft>
                <a:buNone/>
              </a:pPr>
              <a:r>
                <a:rPr lang="en-US" sz="1200" dirty="0">
                  <a:solidFill>
                    <a:schemeClr val="lt1"/>
                  </a:solidFill>
                  <a:ea typeface="Arial"/>
                  <a:cs typeface="Arial"/>
                </a:rPr>
                <a:t>Deploy VCF Management Services </a:t>
              </a:r>
            </a:p>
            <a:p>
              <a:pPr marR="0" indent="0" algn="ctr">
                <a:lnSpc>
                  <a:spcPct val="100000"/>
                </a:lnSpc>
                <a:spcBef>
                  <a:spcPts val="0"/>
                </a:spcBef>
                <a:spcAft>
                  <a:spcPts val="0"/>
                </a:spcAft>
                <a:buNone/>
              </a:pPr>
              <a:endParaRPr lang="en-US" sz="1200" dirty="0">
                <a:solidFill>
                  <a:schemeClr val="lt1"/>
                </a:solidFill>
                <a:ea typeface="Arial"/>
                <a:cs typeface="Arial"/>
              </a:endParaRPr>
            </a:p>
            <a:p>
              <a:pPr marR="0" indent="0" algn="ctr">
                <a:lnSpc>
                  <a:spcPct val="100000"/>
                </a:lnSpc>
                <a:spcBef>
                  <a:spcPts val="0"/>
                </a:spcBef>
                <a:spcAft>
                  <a:spcPts val="0"/>
                </a:spcAft>
                <a:buNone/>
              </a:pPr>
              <a:r>
                <a:rPr lang="en-US" sz="1000" dirty="0">
                  <a:solidFill>
                    <a:schemeClr val="lt1"/>
                  </a:solidFill>
                  <a:ea typeface="Arial"/>
                  <a:cs typeface="Arial"/>
                </a:rPr>
                <a:t>(deploys license server)</a:t>
              </a:r>
              <a:endParaRPr sz="1000" dirty="0">
                <a:solidFill>
                  <a:schemeClr val="lt1"/>
                </a:solidFill>
                <a:ea typeface="Arial"/>
                <a:cs typeface="Arial"/>
              </a:endParaRPr>
            </a:p>
          </p:txBody>
        </p:sp>
        <p:sp>
          <p:nvSpPr>
            <p:cNvPr id="41" name="Oval 40">
              <a:extLst>
                <a:ext uri="{FF2B5EF4-FFF2-40B4-BE49-F238E27FC236}">
                  <a16:creationId xmlns:a16="http://schemas.microsoft.com/office/drawing/2014/main" id="{71DB8FB6-C4BF-7D45-6F34-09912C3C3A6C}"/>
                </a:ext>
              </a:extLst>
            </p:cNvPr>
            <p:cNvSpPr/>
            <p:nvPr/>
          </p:nvSpPr>
          <p:spPr bwMode="gray">
            <a:xfrm>
              <a:off x="5209737" y="2319514"/>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3</a:t>
              </a:r>
            </a:p>
          </p:txBody>
        </p:sp>
      </p:grpSp>
      <p:grpSp>
        <p:nvGrpSpPr>
          <p:cNvPr id="59" name="Group 58">
            <a:extLst>
              <a:ext uri="{FF2B5EF4-FFF2-40B4-BE49-F238E27FC236}">
                <a16:creationId xmlns:a16="http://schemas.microsoft.com/office/drawing/2014/main" id="{68ECE813-6614-D9D4-B121-CD05DE5A3100}"/>
              </a:ext>
            </a:extLst>
          </p:cNvPr>
          <p:cNvGrpSpPr/>
          <p:nvPr/>
        </p:nvGrpSpPr>
        <p:grpSpPr>
          <a:xfrm>
            <a:off x="7027940" y="2339880"/>
            <a:ext cx="1711957" cy="1333906"/>
            <a:chOff x="7027940" y="2339880"/>
            <a:chExt cx="1711957" cy="1333906"/>
          </a:xfrm>
        </p:grpSpPr>
        <p:sp>
          <p:nvSpPr>
            <p:cNvPr id="10" name="Google Shape;1910;g398b2a37679_3_8262">
              <a:extLst>
                <a:ext uri="{FF2B5EF4-FFF2-40B4-BE49-F238E27FC236}">
                  <a16:creationId xmlns:a16="http://schemas.microsoft.com/office/drawing/2014/main" id="{034B634F-0A75-5C7D-CDF4-802BFC993714}"/>
                </a:ext>
              </a:extLst>
            </p:cNvPr>
            <p:cNvSpPr/>
            <p:nvPr/>
          </p:nvSpPr>
          <p:spPr>
            <a:xfrm>
              <a:off x="7179167" y="2465235"/>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1200" dirty="0">
                  <a:solidFill>
                    <a:schemeClr val="lt1"/>
                  </a:solidFill>
                  <a:cs typeface="Arial"/>
                  <a:sym typeface="Arial"/>
                </a:rPr>
                <a:t>Verify Software Depot</a:t>
              </a:r>
            </a:p>
            <a:p>
              <a:pPr lvl="0" algn="ctr"/>
              <a:endParaRPr lang="en-US" sz="1200" dirty="0">
                <a:sym typeface="Arial"/>
              </a:endParaRPr>
            </a:p>
            <a:p>
              <a:pPr lvl="0" algn="ctr"/>
              <a:r>
                <a:rPr lang="en-US" sz="1200" dirty="0">
                  <a:solidFill>
                    <a:schemeClr val="lt1"/>
                  </a:solidFill>
                  <a:cs typeface="Arial"/>
                  <a:sym typeface="Arial"/>
                </a:rPr>
                <a:t>Verify License </a:t>
              </a:r>
            </a:p>
          </p:txBody>
        </p:sp>
        <p:sp>
          <p:nvSpPr>
            <p:cNvPr id="42" name="Oval 41">
              <a:extLst>
                <a:ext uri="{FF2B5EF4-FFF2-40B4-BE49-F238E27FC236}">
                  <a16:creationId xmlns:a16="http://schemas.microsoft.com/office/drawing/2014/main" id="{E4CEFA8F-01DF-7C15-779E-07267B0AA071}"/>
                </a:ext>
              </a:extLst>
            </p:cNvPr>
            <p:cNvSpPr/>
            <p:nvPr/>
          </p:nvSpPr>
          <p:spPr bwMode="gray">
            <a:xfrm>
              <a:off x="7027940" y="2339880"/>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4</a:t>
              </a:r>
            </a:p>
          </p:txBody>
        </p:sp>
      </p:grpSp>
      <p:grpSp>
        <p:nvGrpSpPr>
          <p:cNvPr id="60" name="Group 59">
            <a:extLst>
              <a:ext uri="{FF2B5EF4-FFF2-40B4-BE49-F238E27FC236}">
                <a16:creationId xmlns:a16="http://schemas.microsoft.com/office/drawing/2014/main" id="{76BA75E4-F1FD-0A44-CE1E-28279293DEFF}"/>
              </a:ext>
            </a:extLst>
          </p:cNvPr>
          <p:cNvGrpSpPr/>
          <p:nvPr/>
        </p:nvGrpSpPr>
        <p:grpSpPr>
          <a:xfrm>
            <a:off x="8878154" y="2340458"/>
            <a:ext cx="1716964" cy="1315494"/>
            <a:chOff x="8878154" y="2340458"/>
            <a:chExt cx="1716964" cy="1315494"/>
          </a:xfrm>
        </p:grpSpPr>
        <p:sp>
          <p:nvSpPr>
            <p:cNvPr id="11" name="Google Shape;1877;g398b2a37679_3_8262">
              <a:extLst>
                <a:ext uri="{FF2B5EF4-FFF2-40B4-BE49-F238E27FC236}">
                  <a16:creationId xmlns:a16="http://schemas.microsoft.com/office/drawing/2014/main" id="{E4AC8D93-48C2-9770-F83D-AFE498139C39}"/>
                </a:ext>
              </a:extLst>
            </p:cNvPr>
            <p:cNvSpPr/>
            <p:nvPr/>
          </p:nvSpPr>
          <p:spPr>
            <a:xfrm>
              <a:off x="9034388" y="2447401"/>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algn="ctr"/>
              <a:r>
                <a:rPr lang="en-US" sz="1200" dirty="0">
                  <a:solidFill>
                    <a:schemeClr val="lt1"/>
                  </a:solidFill>
                  <a:ea typeface="Arial"/>
                  <a:cs typeface="Arial"/>
                  <a:sym typeface="Arial"/>
                </a:rPr>
                <a:t>Upgrade VCF Management  Components </a:t>
              </a:r>
            </a:p>
            <a:p>
              <a:pPr algn="ctr"/>
              <a:r>
                <a:rPr lang="en-US" sz="1000" dirty="0">
                  <a:solidFill>
                    <a:schemeClr val="lt1"/>
                  </a:solidFill>
                  <a:ea typeface="Arial"/>
                  <a:cs typeface="Arial"/>
                  <a:sym typeface="Arial"/>
                </a:rPr>
                <a:t>(Auto, Ops for Networks, Logs, VIDB</a:t>
              </a:r>
              <a:r>
                <a:rPr lang="en-US" sz="1200" dirty="0">
                  <a:solidFill>
                    <a:schemeClr val="lt1"/>
                  </a:solidFill>
                  <a:ea typeface="Arial"/>
                  <a:cs typeface="Arial"/>
                  <a:sym typeface="Arial"/>
                </a:rPr>
                <a:t>)</a:t>
              </a:r>
              <a:endParaRPr lang="en-US" sz="1200" dirty="0"/>
            </a:p>
          </p:txBody>
        </p:sp>
        <p:sp>
          <p:nvSpPr>
            <p:cNvPr id="43" name="Oval 42">
              <a:extLst>
                <a:ext uri="{FF2B5EF4-FFF2-40B4-BE49-F238E27FC236}">
                  <a16:creationId xmlns:a16="http://schemas.microsoft.com/office/drawing/2014/main" id="{90539C11-23B5-A645-4A53-D5A34A02A30A}"/>
                </a:ext>
              </a:extLst>
            </p:cNvPr>
            <p:cNvSpPr/>
            <p:nvPr/>
          </p:nvSpPr>
          <p:spPr bwMode="gray">
            <a:xfrm>
              <a:off x="8878154" y="2340458"/>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5</a:t>
              </a:r>
            </a:p>
          </p:txBody>
        </p:sp>
      </p:grpSp>
      <p:grpSp>
        <p:nvGrpSpPr>
          <p:cNvPr id="66" name="Group 65">
            <a:extLst>
              <a:ext uri="{FF2B5EF4-FFF2-40B4-BE49-F238E27FC236}">
                <a16:creationId xmlns:a16="http://schemas.microsoft.com/office/drawing/2014/main" id="{6DA9D9E4-11CA-423A-2C09-36A602A6882B}"/>
              </a:ext>
            </a:extLst>
          </p:cNvPr>
          <p:cNvGrpSpPr/>
          <p:nvPr/>
        </p:nvGrpSpPr>
        <p:grpSpPr>
          <a:xfrm>
            <a:off x="5197552" y="3819507"/>
            <a:ext cx="1687124" cy="1342935"/>
            <a:chOff x="5197552" y="3819507"/>
            <a:chExt cx="1687124" cy="1342935"/>
          </a:xfrm>
        </p:grpSpPr>
        <p:sp>
          <p:nvSpPr>
            <p:cNvPr id="26" name="Google Shape;1877;g398b2a37679_3_8262">
              <a:extLst>
                <a:ext uri="{FF2B5EF4-FFF2-40B4-BE49-F238E27FC236}">
                  <a16:creationId xmlns:a16="http://schemas.microsoft.com/office/drawing/2014/main" id="{42337CEA-FDDE-090F-1EA8-4CFE33E5A9A8}"/>
                </a:ext>
              </a:extLst>
            </p:cNvPr>
            <p:cNvSpPr/>
            <p:nvPr/>
          </p:nvSpPr>
          <p:spPr>
            <a:xfrm>
              <a:off x="5323946" y="3953891"/>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dirty="0">
                  <a:solidFill>
                    <a:schemeClr val="lt1"/>
                  </a:solidFill>
                  <a:latin typeface="Arial"/>
                  <a:ea typeface="Arial"/>
                  <a:cs typeface="Arial"/>
                  <a:sym typeface="Arial"/>
                </a:rPr>
                <a:t>Upgrade vSAN Disk Version</a:t>
              </a:r>
            </a:p>
            <a:p>
              <a:pPr marL="0" marR="0" lvl="0" indent="0" algn="ctr" rtl="0">
                <a:lnSpc>
                  <a:spcPct val="100000"/>
                </a:lnSpc>
                <a:spcBef>
                  <a:spcPts val="0"/>
                </a:spcBef>
                <a:spcAft>
                  <a:spcPts val="0"/>
                </a:spcAft>
                <a:buNone/>
              </a:pPr>
              <a:endParaRPr lang="en-US" sz="1200" dirty="0">
                <a:solidFill>
                  <a:schemeClr val="lt1"/>
                </a:solidFill>
                <a:latin typeface="Arial"/>
                <a:cs typeface="Arial"/>
                <a:sym typeface="Arial"/>
              </a:endParaRPr>
            </a:p>
            <a:p>
              <a:pPr marL="0" marR="0" lvl="0" indent="0" algn="ctr" rtl="0">
                <a:lnSpc>
                  <a:spcPct val="100000"/>
                </a:lnSpc>
                <a:spcBef>
                  <a:spcPts val="0"/>
                </a:spcBef>
                <a:spcAft>
                  <a:spcPts val="0"/>
                </a:spcAft>
                <a:buNone/>
              </a:pPr>
              <a:endParaRPr sz="1200" dirty="0"/>
            </a:p>
          </p:txBody>
        </p:sp>
        <p:sp>
          <p:nvSpPr>
            <p:cNvPr id="63" name="Oval 62">
              <a:extLst>
                <a:ext uri="{FF2B5EF4-FFF2-40B4-BE49-F238E27FC236}">
                  <a16:creationId xmlns:a16="http://schemas.microsoft.com/office/drawing/2014/main" id="{F95FC148-6AFA-1414-5C4B-16DB3430DBB4}"/>
                </a:ext>
              </a:extLst>
            </p:cNvPr>
            <p:cNvSpPr/>
            <p:nvPr/>
          </p:nvSpPr>
          <p:spPr bwMode="gray">
            <a:xfrm>
              <a:off x="5197552" y="3819507"/>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8</a:t>
              </a:r>
            </a:p>
          </p:txBody>
        </p:sp>
      </p:grpSp>
      <p:grpSp>
        <p:nvGrpSpPr>
          <p:cNvPr id="68" name="Group 67">
            <a:extLst>
              <a:ext uri="{FF2B5EF4-FFF2-40B4-BE49-F238E27FC236}">
                <a16:creationId xmlns:a16="http://schemas.microsoft.com/office/drawing/2014/main" id="{FB3885F5-5856-2A59-C3F4-A07D208203D9}"/>
              </a:ext>
            </a:extLst>
          </p:cNvPr>
          <p:cNvGrpSpPr/>
          <p:nvPr/>
        </p:nvGrpSpPr>
        <p:grpSpPr>
          <a:xfrm>
            <a:off x="7032067" y="3827092"/>
            <a:ext cx="1707830" cy="1335351"/>
            <a:chOff x="7032067" y="3827092"/>
            <a:chExt cx="1707830" cy="1335351"/>
          </a:xfrm>
        </p:grpSpPr>
        <p:sp>
          <p:nvSpPr>
            <p:cNvPr id="61" name="Google Shape;1877;g398b2a37679_3_8262">
              <a:extLst>
                <a:ext uri="{FF2B5EF4-FFF2-40B4-BE49-F238E27FC236}">
                  <a16:creationId xmlns:a16="http://schemas.microsoft.com/office/drawing/2014/main" id="{8E237203-E668-9FF9-0DFC-3E7077673498}"/>
                </a:ext>
              </a:extLst>
            </p:cNvPr>
            <p:cNvSpPr/>
            <p:nvPr/>
          </p:nvSpPr>
          <p:spPr>
            <a:xfrm>
              <a:off x="7179167" y="3953892"/>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algn="ctr"/>
              <a:r>
                <a:rPr lang="en-US" sz="1200" dirty="0">
                  <a:solidFill>
                    <a:schemeClr val="lt1"/>
                  </a:solidFill>
                  <a:latin typeface="Arial"/>
                  <a:cs typeface="Arial"/>
                  <a:sym typeface="Arial"/>
                </a:rPr>
                <a:t>Apply Config Drift Updates</a:t>
              </a:r>
            </a:p>
            <a:p>
              <a:pPr algn="ctr"/>
              <a:endParaRPr lang="en-US" sz="1200" dirty="0">
                <a:solidFill>
                  <a:schemeClr val="lt1"/>
                </a:solidFill>
                <a:latin typeface="Arial"/>
                <a:cs typeface="Arial"/>
                <a:sym typeface="Arial"/>
              </a:endParaRPr>
            </a:p>
            <a:p>
              <a:pPr algn="ctr"/>
              <a:endParaRPr lang="en-US" sz="1200" dirty="0">
                <a:solidFill>
                  <a:schemeClr val="lt1"/>
                </a:solidFill>
                <a:latin typeface="Arial"/>
                <a:cs typeface="Arial"/>
              </a:endParaRPr>
            </a:p>
          </p:txBody>
        </p:sp>
        <p:sp>
          <p:nvSpPr>
            <p:cNvPr id="64" name="Oval 63">
              <a:extLst>
                <a:ext uri="{FF2B5EF4-FFF2-40B4-BE49-F238E27FC236}">
                  <a16:creationId xmlns:a16="http://schemas.microsoft.com/office/drawing/2014/main" id="{3FD70FD4-EE18-D028-4D9D-F8C63D5D4977}"/>
                </a:ext>
              </a:extLst>
            </p:cNvPr>
            <p:cNvSpPr/>
            <p:nvPr/>
          </p:nvSpPr>
          <p:spPr bwMode="gray">
            <a:xfrm>
              <a:off x="7032067" y="3827092"/>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9</a:t>
              </a:r>
            </a:p>
          </p:txBody>
        </p:sp>
      </p:grpSp>
      <p:grpSp>
        <p:nvGrpSpPr>
          <p:cNvPr id="69" name="Group 68">
            <a:extLst>
              <a:ext uri="{FF2B5EF4-FFF2-40B4-BE49-F238E27FC236}">
                <a16:creationId xmlns:a16="http://schemas.microsoft.com/office/drawing/2014/main" id="{5E34AEAC-6EC1-E7E6-40FB-A18391FC4051}"/>
              </a:ext>
            </a:extLst>
          </p:cNvPr>
          <p:cNvGrpSpPr/>
          <p:nvPr/>
        </p:nvGrpSpPr>
        <p:grpSpPr>
          <a:xfrm>
            <a:off x="8893001" y="3814341"/>
            <a:ext cx="1702117" cy="1348101"/>
            <a:chOff x="8893001" y="3814341"/>
            <a:chExt cx="1702117" cy="1348101"/>
          </a:xfrm>
        </p:grpSpPr>
        <p:sp>
          <p:nvSpPr>
            <p:cNvPr id="27" name="Google Shape;1877;g398b2a37679_3_8262">
              <a:extLst>
                <a:ext uri="{FF2B5EF4-FFF2-40B4-BE49-F238E27FC236}">
                  <a16:creationId xmlns:a16="http://schemas.microsoft.com/office/drawing/2014/main" id="{3007BB68-A77F-CCE2-0B5C-3523785C981A}"/>
                </a:ext>
              </a:extLst>
            </p:cNvPr>
            <p:cNvSpPr/>
            <p:nvPr/>
          </p:nvSpPr>
          <p:spPr>
            <a:xfrm>
              <a:off x="9034388" y="3953891"/>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algn="ctr"/>
              <a:r>
                <a:rPr lang="en-US" sz="1200" dirty="0">
                  <a:solidFill>
                    <a:schemeClr val="lt1"/>
                  </a:solidFill>
                  <a:latin typeface="Arial"/>
                  <a:cs typeface="Arial"/>
                  <a:sym typeface="Arial"/>
                </a:rPr>
                <a:t>License for VCF 9.1</a:t>
              </a:r>
              <a:endParaRPr lang="en-US" sz="1200" dirty="0">
                <a:solidFill>
                  <a:schemeClr val="lt1"/>
                </a:solidFill>
                <a:latin typeface="Arial"/>
                <a:cs typeface="Arial"/>
              </a:endParaRPr>
            </a:p>
          </p:txBody>
        </p:sp>
        <p:grpSp>
          <p:nvGrpSpPr>
            <p:cNvPr id="55" name="Group 54">
              <a:extLst>
                <a:ext uri="{FF2B5EF4-FFF2-40B4-BE49-F238E27FC236}">
                  <a16:creationId xmlns:a16="http://schemas.microsoft.com/office/drawing/2014/main" id="{627D9917-06EB-0EC2-F35B-5350986B27A8}"/>
                </a:ext>
              </a:extLst>
            </p:cNvPr>
            <p:cNvGrpSpPr/>
            <p:nvPr/>
          </p:nvGrpSpPr>
          <p:grpSpPr>
            <a:xfrm>
              <a:off x="8893001" y="3814341"/>
              <a:ext cx="294816" cy="291442"/>
              <a:chOff x="8893001" y="4258841"/>
              <a:chExt cx="294816" cy="291442"/>
            </a:xfrm>
          </p:grpSpPr>
          <p:sp>
            <p:nvSpPr>
              <p:cNvPr id="67" name="Oval 66">
                <a:extLst>
                  <a:ext uri="{FF2B5EF4-FFF2-40B4-BE49-F238E27FC236}">
                    <a16:creationId xmlns:a16="http://schemas.microsoft.com/office/drawing/2014/main" id="{4D32C366-C880-5CBB-15A6-20A0C5D3627D}"/>
                  </a:ext>
                </a:extLst>
              </p:cNvPr>
              <p:cNvSpPr/>
              <p:nvPr/>
            </p:nvSpPr>
            <p:spPr bwMode="gray">
              <a:xfrm>
                <a:off x="8893001" y="4258841"/>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600" dirty="0">
                  <a:solidFill>
                    <a:schemeClr val="bg1"/>
                  </a:solidFill>
                </a:endParaRPr>
              </a:p>
            </p:txBody>
          </p:sp>
          <p:sp>
            <p:nvSpPr>
              <p:cNvPr id="86" name="TextBox 85">
                <a:extLst>
                  <a:ext uri="{FF2B5EF4-FFF2-40B4-BE49-F238E27FC236}">
                    <a16:creationId xmlns:a16="http://schemas.microsoft.com/office/drawing/2014/main" id="{7AA2C24A-4A62-CB4A-3BE6-7E236EDC862B}"/>
                  </a:ext>
                </a:extLst>
              </p:cNvPr>
              <p:cNvSpPr txBox="1"/>
              <p:nvPr/>
            </p:nvSpPr>
            <p:spPr>
              <a:xfrm>
                <a:off x="8929672" y="4313189"/>
                <a:ext cx="207869" cy="184666"/>
              </a:xfrm>
              <a:prstGeom prst="rect">
                <a:avLst/>
              </a:prstGeom>
              <a:noFill/>
            </p:spPr>
            <p:txBody>
              <a:bodyPr wrap="square" lIns="0" tIns="0" rIns="0" bIns="0" rtlCol="0">
                <a:spAutoFit/>
              </a:bodyPr>
              <a:lstStyle/>
              <a:p>
                <a:pPr algn="ctr"/>
                <a:r>
                  <a:rPr lang="en-US" sz="1200" dirty="0">
                    <a:solidFill>
                      <a:schemeClr val="bg1"/>
                    </a:solidFill>
                  </a:rPr>
                  <a:t>10</a:t>
                </a:r>
              </a:p>
            </p:txBody>
          </p:sp>
        </p:grpSp>
      </p:grpSp>
      <p:grpSp>
        <p:nvGrpSpPr>
          <p:cNvPr id="62" name="Group 61">
            <a:extLst>
              <a:ext uri="{FF2B5EF4-FFF2-40B4-BE49-F238E27FC236}">
                <a16:creationId xmlns:a16="http://schemas.microsoft.com/office/drawing/2014/main" id="{0C9192C0-F272-2302-57A6-48A6BADD7E65}"/>
              </a:ext>
            </a:extLst>
          </p:cNvPr>
          <p:cNvGrpSpPr/>
          <p:nvPr/>
        </p:nvGrpSpPr>
        <p:grpSpPr>
          <a:xfrm>
            <a:off x="1463761" y="3801008"/>
            <a:ext cx="1708138" cy="1326948"/>
            <a:chOff x="1463761" y="3801008"/>
            <a:chExt cx="1708138" cy="1326948"/>
          </a:xfrm>
        </p:grpSpPr>
        <p:sp>
          <p:nvSpPr>
            <p:cNvPr id="24" name="Google Shape;1877;g398b2a37679_3_8262">
              <a:extLst>
                <a:ext uri="{FF2B5EF4-FFF2-40B4-BE49-F238E27FC236}">
                  <a16:creationId xmlns:a16="http://schemas.microsoft.com/office/drawing/2014/main" id="{5022FB92-553B-85E9-202B-3C63284216A4}"/>
                </a:ext>
              </a:extLst>
            </p:cNvPr>
            <p:cNvSpPr/>
            <p:nvPr/>
          </p:nvSpPr>
          <p:spPr>
            <a:xfrm>
              <a:off x="1611169" y="3919405"/>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lvl="0" algn="ctr"/>
              <a:r>
                <a:rPr lang="en-US" sz="1200" dirty="0">
                  <a:solidFill>
                    <a:schemeClr val="lt1"/>
                  </a:solidFill>
                  <a:ea typeface="Arial"/>
                  <a:cs typeface="Arial"/>
                  <a:sym typeface="Arial"/>
                </a:rPr>
                <a:t>Upgrade Domain Core Components</a:t>
              </a:r>
            </a:p>
            <a:p>
              <a:pPr lvl="0" algn="ctr"/>
              <a:endParaRPr lang="en-US" sz="1200" dirty="0">
                <a:solidFill>
                  <a:schemeClr val="lt1"/>
                </a:solidFill>
                <a:ea typeface="Arial"/>
                <a:cs typeface="Arial"/>
                <a:sym typeface="Arial"/>
              </a:endParaRPr>
            </a:p>
            <a:p>
              <a:pPr lvl="0" algn="ctr"/>
              <a:r>
                <a:rPr lang="en-US" sz="1200" dirty="0">
                  <a:solidFill>
                    <a:schemeClr val="lt1"/>
                  </a:solidFill>
                  <a:ea typeface="Arial"/>
                  <a:cs typeface="Arial"/>
                  <a:sym typeface="Arial"/>
                </a:rPr>
                <a:t> </a:t>
              </a:r>
              <a:r>
                <a:rPr lang="en-US" sz="1000" dirty="0">
                  <a:solidFill>
                    <a:schemeClr val="lt1"/>
                  </a:solidFill>
                  <a:ea typeface="Arial"/>
                  <a:cs typeface="Arial"/>
                  <a:sym typeface="Arial"/>
                </a:rPr>
                <a:t>(NSX, vCenter, </a:t>
              </a:r>
              <a:r>
                <a:rPr lang="en-US" sz="1000" baseline="30000" dirty="0">
                  <a:solidFill>
                    <a:schemeClr val="lt1"/>
                  </a:solidFill>
                  <a:ea typeface="Arial"/>
                  <a:cs typeface="Arial"/>
                  <a:sym typeface="Arial"/>
                </a:rPr>
                <a:t>1</a:t>
              </a:r>
              <a:r>
                <a:rPr lang="en-US" sz="1000" dirty="0">
                  <a:solidFill>
                    <a:schemeClr val="lt1"/>
                  </a:solidFill>
                  <a:ea typeface="Arial"/>
                  <a:cs typeface="Arial"/>
                  <a:sym typeface="Arial"/>
                </a:rPr>
                <a:t>ESX)</a:t>
              </a:r>
              <a:endParaRPr lang="en-US" sz="1000" dirty="0"/>
            </a:p>
          </p:txBody>
        </p:sp>
        <p:sp>
          <p:nvSpPr>
            <p:cNvPr id="73" name="Oval 72">
              <a:extLst>
                <a:ext uri="{FF2B5EF4-FFF2-40B4-BE49-F238E27FC236}">
                  <a16:creationId xmlns:a16="http://schemas.microsoft.com/office/drawing/2014/main" id="{DADB9F3F-1138-C24C-772F-D3674B8AA5C6}"/>
                </a:ext>
              </a:extLst>
            </p:cNvPr>
            <p:cNvSpPr/>
            <p:nvPr/>
          </p:nvSpPr>
          <p:spPr bwMode="gray">
            <a:xfrm>
              <a:off x="1463761" y="3801008"/>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6</a:t>
              </a:r>
            </a:p>
          </p:txBody>
        </p:sp>
      </p:grpSp>
      <p:grpSp>
        <p:nvGrpSpPr>
          <p:cNvPr id="65" name="Group 64">
            <a:extLst>
              <a:ext uri="{FF2B5EF4-FFF2-40B4-BE49-F238E27FC236}">
                <a16:creationId xmlns:a16="http://schemas.microsoft.com/office/drawing/2014/main" id="{984F8909-8691-F9C0-FB05-23CA06F06A13}"/>
              </a:ext>
            </a:extLst>
          </p:cNvPr>
          <p:cNvGrpSpPr/>
          <p:nvPr/>
        </p:nvGrpSpPr>
        <p:grpSpPr>
          <a:xfrm>
            <a:off x="3321527" y="3794509"/>
            <a:ext cx="1705593" cy="1333447"/>
            <a:chOff x="3321527" y="3794509"/>
            <a:chExt cx="1705593" cy="1333447"/>
          </a:xfrm>
        </p:grpSpPr>
        <p:sp>
          <p:nvSpPr>
            <p:cNvPr id="25" name="Google Shape;1877;g398b2a37679_3_8262">
              <a:extLst>
                <a:ext uri="{FF2B5EF4-FFF2-40B4-BE49-F238E27FC236}">
                  <a16:creationId xmlns:a16="http://schemas.microsoft.com/office/drawing/2014/main" id="{57AD33AA-1C05-65A2-6309-F2EAC5E3A4CA}"/>
                </a:ext>
              </a:extLst>
            </p:cNvPr>
            <p:cNvSpPr/>
            <p:nvPr/>
          </p:nvSpPr>
          <p:spPr>
            <a:xfrm>
              <a:off x="3466390" y="3919405"/>
              <a:ext cx="1560730" cy="1208551"/>
            </a:xfrm>
            <a:prstGeom prst="flowChartProcess">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0" i="0" u="none" strike="noStrike" cap="none" dirty="0">
                  <a:solidFill>
                    <a:schemeClr val="lt1"/>
                  </a:solidFill>
                  <a:latin typeface="Arial"/>
                  <a:ea typeface="Arial"/>
                  <a:cs typeface="Arial"/>
                  <a:sym typeface="Arial"/>
                </a:rPr>
                <a:t>Upgrade VDS Version</a:t>
              </a:r>
            </a:p>
            <a:p>
              <a:pPr marL="0" marR="0" lvl="0" indent="0" algn="ctr" rtl="0">
                <a:lnSpc>
                  <a:spcPct val="100000"/>
                </a:lnSpc>
                <a:spcBef>
                  <a:spcPts val="0"/>
                </a:spcBef>
                <a:spcAft>
                  <a:spcPts val="0"/>
                </a:spcAft>
                <a:buNone/>
              </a:pPr>
              <a:endParaRPr lang="en-US" sz="1200" dirty="0">
                <a:solidFill>
                  <a:schemeClr val="lt1"/>
                </a:solidFill>
                <a:latin typeface="Arial"/>
                <a:cs typeface="Arial"/>
                <a:sym typeface="Arial"/>
              </a:endParaRPr>
            </a:p>
            <a:p>
              <a:pPr marL="0" marR="0" lvl="0" indent="0" algn="ctr" rtl="0">
                <a:lnSpc>
                  <a:spcPct val="100000"/>
                </a:lnSpc>
                <a:spcBef>
                  <a:spcPts val="0"/>
                </a:spcBef>
                <a:spcAft>
                  <a:spcPts val="0"/>
                </a:spcAft>
                <a:buNone/>
              </a:pPr>
              <a:endParaRPr sz="1200" dirty="0"/>
            </a:p>
          </p:txBody>
        </p:sp>
        <p:sp>
          <p:nvSpPr>
            <p:cNvPr id="74" name="Oval 73">
              <a:extLst>
                <a:ext uri="{FF2B5EF4-FFF2-40B4-BE49-F238E27FC236}">
                  <a16:creationId xmlns:a16="http://schemas.microsoft.com/office/drawing/2014/main" id="{CE4CE400-9914-1598-C7DB-CF08AA8C859A}"/>
                </a:ext>
              </a:extLst>
            </p:cNvPr>
            <p:cNvSpPr/>
            <p:nvPr/>
          </p:nvSpPr>
          <p:spPr bwMode="gray">
            <a:xfrm>
              <a:off x="3321527" y="3794509"/>
              <a:ext cx="294816" cy="291442"/>
            </a:xfrm>
            <a:prstGeom prst="ellipse">
              <a:avLst/>
            </a:prstGeom>
            <a:solidFill>
              <a:srgbClr val="00B05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7</a:t>
              </a:r>
            </a:p>
          </p:txBody>
        </p:sp>
      </p:grpSp>
      <p:sp>
        <p:nvSpPr>
          <p:cNvPr id="79" name="Rounded Rectangle 78">
            <a:extLst>
              <a:ext uri="{FF2B5EF4-FFF2-40B4-BE49-F238E27FC236}">
                <a16:creationId xmlns:a16="http://schemas.microsoft.com/office/drawing/2014/main" id="{914FB059-3F14-6358-C85A-25992C94C4F6}"/>
              </a:ext>
            </a:extLst>
          </p:cNvPr>
          <p:cNvSpPr/>
          <p:nvPr/>
        </p:nvSpPr>
        <p:spPr bwMode="gray">
          <a:xfrm>
            <a:off x="11156499" y="4254739"/>
            <a:ext cx="791791" cy="537882"/>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End</a:t>
            </a:r>
          </a:p>
        </p:txBody>
      </p:sp>
      <p:sp>
        <p:nvSpPr>
          <p:cNvPr id="8" name="TextBox 7">
            <a:extLst>
              <a:ext uri="{FF2B5EF4-FFF2-40B4-BE49-F238E27FC236}">
                <a16:creationId xmlns:a16="http://schemas.microsoft.com/office/drawing/2014/main" id="{6BC1BC17-D2E6-35AA-6529-BAB5CBC00F51}"/>
              </a:ext>
            </a:extLst>
          </p:cNvPr>
          <p:cNvSpPr txBox="1"/>
          <p:nvPr/>
        </p:nvSpPr>
        <p:spPr>
          <a:xfrm>
            <a:off x="1689368" y="5199059"/>
            <a:ext cx="2669000" cy="153888"/>
          </a:xfrm>
          <a:prstGeom prst="rect">
            <a:avLst/>
          </a:prstGeom>
          <a:noFill/>
        </p:spPr>
        <p:txBody>
          <a:bodyPr wrap="none" lIns="0" tIns="0" rIns="0" bIns="0" rtlCol="0">
            <a:spAutoFit/>
          </a:bodyPr>
          <a:lstStyle/>
          <a:p>
            <a:r>
              <a:rPr lang="en-US" sz="1000" baseline="30000" dirty="0">
                <a:ea typeface="Arial"/>
                <a:cs typeface="Arial"/>
                <a:sym typeface="Arial"/>
              </a:rPr>
              <a:t>1</a:t>
            </a:r>
            <a:r>
              <a:rPr lang="en-US" sz="1000" dirty="0">
                <a:solidFill>
                  <a:schemeClr val="tx2"/>
                </a:solidFill>
              </a:rPr>
              <a:t>Create 9.1 ESX Image and Import to VCF Ops</a:t>
            </a:r>
          </a:p>
        </p:txBody>
      </p:sp>
    </p:spTree>
    <p:extLst>
      <p:ext uri="{BB962C8B-B14F-4D97-AF65-F5344CB8AC3E}">
        <p14:creationId xmlns:p14="http://schemas.microsoft.com/office/powerpoint/2010/main" val="398550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ppt_x"/>
                                          </p:val>
                                        </p:tav>
                                        <p:tav tm="100000">
                                          <p:val>
                                            <p:strVal val="#ppt_x"/>
                                          </p:val>
                                        </p:tav>
                                      </p:tavLst>
                                    </p:anim>
                                    <p:anim calcmode="lin" valueType="num">
                                      <p:cBhvr additive="base">
                                        <p:cTn id="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7"/>
                                        </p:tgtEl>
                                        <p:attrNameLst>
                                          <p:attrName>style.visibility</p:attrName>
                                        </p:attrNameLst>
                                      </p:cBhvr>
                                      <p:to>
                                        <p:strVal val="visible"/>
                                      </p:to>
                                    </p:set>
                                    <p:anim calcmode="lin" valueType="num">
                                      <p:cBhvr additive="base">
                                        <p:cTn id="13" dur="500" fill="hold"/>
                                        <p:tgtEl>
                                          <p:spTgt spid="57"/>
                                        </p:tgtEl>
                                        <p:attrNameLst>
                                          <p:attrName>ppt_x</p:attrName>
                                        </p:attrNameLst>
                                      </p:cBhvr>
                                      <p:tavLst>
                                        <p:tav tm="0">
                                          <p:val>
                                            <p:strVal val="#ppt_x"/>
                                          </p:val>
                                        </p:tav>
                                        <p:tav tm="100000">
                                          <p:val>
                                            <p:strVal val="#ppt_x"/>
                                          </p:val>
                                        </p:tav>
                                      </p:tavLst>
                                    </p:anim>
                                    <p:anim calcmode="lin" valueType="num">
                                      <p:cBhvr additive="base">
                                        <p:cTn id="1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anim calcmode="lin" valueType="num">
                                      <p:cBhvr additive="base">
                                        <p:cTn id="19" dur="500" fill="hold"/>
                                        <p:tgtEl>
                                          <p:spTgt spid="58"/>
                                        </p:tgtEl>
                                        <p:attrNameLst>
                                          <p:attrName>ppt_x</p:attrName>
                                        </p:attrNameLst>
                                      </p:cBhvr>
                                      <p:tavLst>
                                        <p:tav tm="0">
                                          <p:val>
                                            <p:strVal val="#ppt_x"/>
                                          </p:val>
                                        </p:tav>
                                        <p:tav tm="100000">
                                          <p:val>
                                            <p:strVal val="#ppt_x"/>
                                          </p:val>
                                        </p:tav>
                                      </p:tavLst>
                                    </p:anim>
                                    <p:anim calcmode="lin" valueType="num">
                                      <p:cBhvr additive="base">
                                        <p:cTn id="20"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9"/>
                                        </p:tgtEl>
                                        <p:attrNameLst>
                                          <p:attrName>style.visibility</p:attrName>
                                        </p:attrNameLst>
                                      </p:cBhvr>
                                      <p:to>
                                        <p:strVal val="visible"/>
                                      </p:to>
                                    </p:set>
                                    <p:anim calcmode="lin" valueType="num">
                                      <p:cBhvr additive="base">
                                        <p:cTn id="25" dur="500" fill="hold"/>
                                        <p:tgtEl>
                                          <p:spTgt spid="59"/>
                                        </p:tgtEl>
                                        <p:attrNameLst>
                                          <p:attrName>ppt_x</p:attrName>
                                        </p:attrNameLst>
                                      </p:cBhvr>
                                      <p:tavLst>
                                        <p:tav tm="0">
                                          <p:val>
                                            <p:strVal val="#ppt_x"/>
                                          </p:val>
                                        </p:tav>
                                        <p:tav tm="100000">
                                          <p:val>
                                            <p:strVal val="#ppt_x"/>
                                          </p:val>
                                        </p:tav>
                                      </p:tavLst>
                                    </p:anim>
                                    <p:anim calcmode="lin" valueType="num">
                                      <p:cBhvr additive="base">
                                        <p:cTn id="26"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0"/>
                                        </p:tgtEl>
                                        <p:attrNameLst>
                                          <p:attrName>style.visibility</p:attrName>
                                        </p:attrNameLst>
                                      </p:cBhvr>
                                      <p:to>
                                        <p:strVal val="visible"/>
                                      </p:to>
                                    </p:set>
                                    <p:anim calcmode="lin" valueType="num">
                                      <p:cBhvr additive="base">
                                        <p:cTn id="31" dur="500" fill="hold"/>
                                        <p:tgtEl>
                                          <p:spTgt spid="60"/>
                                        </p:tgtEl>
                                        <p:attrNameLst>
                                          <p:attrName>ppt_x</p:attrName>
                                        </p:attrNameLst>
                                      </p:cBhvr>
                                      <p:tavLst>
                                        <p:tav tm="0">
                                          <p:val>
                                            <p:strVal val="#ppt_x"/>
                                          </p:val>
                                        </p:tav>
                                        <p:tav tm="100000">
                                          <p:val>
                                            <p:strVal val="#ppt_x"/>
                                          </p:val>
                                        </p:tav>
                                      </p:tavLst>
                                    </p:anim>
                                    <p:anim calcmode="lin" valueType="num">
                                      <p:cBhvr additive="base">
                                        <p:cTn id="32"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 calcmode="lin" valueType="num">
                                      <p:cBhvr additive="base">
                                        <p:cTn id="37" dur="500" fill="hold"/>
                                        <p:tgtEl>
                                          <p:spTgt spid="62"/>
                                        </p:tgtEl>
                                        <p:attrNameLst>
                                          <p:attrName>ppt_x</p:attrName>
                                        </p:attrNameLst>
                                      </p:cBhvr>
                                      <p:tavLst>
                                        <p:tav tm="0">
                                          <p:val>
                                            <p:strVal val="#ppt_x"/>
                                          </p:val>
                                        </p:tav>
                                        <p:tav tm="100000">
                                          <p:val>
                                            <p:strVal val="#ppt_x"/>
                                          </p:val>
                                        </p:tav>
                                      </p:tavLst>
                                    </p:anim>
                                    <p:anim calcmode="lin" valueType="num">
                                      <p:cBhvr additive="base">
                                        <p:cTn id="38" dur="500" fill="hold"/>
                                        <p:tgtEl>
                                          <p:spTgt spid="62"/>
                                        </p:tgtEl>
                                        <p:attrNameLst>
                                          <p:attrName>ppt_y</p:attrName>
                                        </p:attrNameLst>
                                      </p:cBhvr>
                                      <p:tavLst>
                                        <p:tav tm="0">
                                          <p:val>
                                            <p:strVal val="1+#ppt_h/2"/>
                                          </p:val>
                                        </p:tav>
                                        <p:tav tm="100000">
                                          <p:val>
                                            <p:strVal val="#ppt_y"/>
                                          </p:val>
                                        </p:tav>
                                      </p:tavLst>
                                    </p:anim>
                                  </p:childTnLst>
                                </p:cTn>
                              </p:par>
                              <p:par>
                                <p:cTn id="39" presetID="9"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dissolve">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65"/>
                                        </p:tgtEl>
                                        <p:attrNameLst>
                                          <p:attrName>style.visibility</p:attrName>
                                        </p:attrNameLst>
                                      </p:cBhvr>
                                      <p:to>
                                        <p:strVal val="visible"/>
                                      </p:to>
                                    </p:set>
                                    <p:anim calcmode="lin" valueType="num">
                                      <p:cBhvr additive="base">
                                        <p:cTn id="46" dur="500" fill="hold"/>
                                        <p:tgtEl>
                                          <p:spTgt spid="65"/>
                                        </p:tgtEl>
                                        <p:attrNameLst>
                                          <p:attrName>ppt_x</p:attrName>
                                        </p:attrNameLst>
                                      </p:cBhvr>
                                      <p:tavLst>
                                        <p:tav tm="0">
                                          <p:val>
                                            <p:strVal val="#ppt_x"/>
                                          </p:val>
                                        </p:tav>
                                        <p:tav tm="100000">
                                          <p:val>
                                            <p:strVal val="#ppt_x"/>
                                          </p:val>
                                        </p:tav>
                                      </p:tavLst>
                                    </p:anim>
                                    <p:anim calcmode="lin" valueType="num">
                                      <p:cBhvr additive="base">
                                        <p:cTn id="47"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66"/>
                                        </p:tgtEl>
                                        <p:attrNameLst>
                                          <p:attrName>style.visibility</p:attrName>
                                        </p:attrNameLst>
                                      </p:cBhvr>
                                      <p:to>
                                        <p:strVal val="visible"/>
                                      </p:to>
                                    </p:set>
                                    <p:anim calcmode="lin" valueType="num">
                                      <p:cBhvr additive="base">
                                        <p:cTn id="52" dur="500" fill="hold"/>
                                        <p:tgtEl>
                                          <p:spTgt spid="66"/>
                                        </p:tgtEl>
                                        <p:attrNameLst>
                                          <p:attrName>ppt_x</p:attrName>
                                        </p:attrNameLst>
                                      </p:cBhvr>
                                      <p:tavLst>
                                        <p:tav tm="0">
                                          <p:val>
                                            <p:strVal val="#ppt_x"/>
                                          </p:val>
                                        </p:tav>
                                        <p:tav tm="100000">
                                          <p:val>
                                            <p:strVal val="#ppt_x"/>
                                          </p:val>
                                        </p:tav>
                                      </p:tavLst>
                                    </p:anim>
                                    <p:anim calcmode="lin" valueType="num">
                                      <p:cBhvr additive="base">
                                        <p:cTn id="53"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68"/>
                                        </p:tgtEl>
                                        <p:attrNameLst>
                                          <p:attrName>style.visibility</p:attrName>
                                        </p:attrNameLst>
                                      </p:cBhvr>
                                      <p:to>
                                        <p:strVal val="visible"/>
                                      </p:to>
                                    </p:set>
                                    <p:anim calcmode="lin" valueType="num">
                                      <p:cBhvr additive="base">
                                        <p:cTn id="58" dur="500" fill="hold"/>
                                        <p:tgtEl>
                                          <p:spTgt spid="68"/>
                                        </p:tgtEl>
                                        <p:attrNameLst>
                                          <p:attrName>ppt_x</p:attrName>
                                        </p:attrNameLst>
                                      </p:cBhvr>
                                      <p:tavLst>
                                        <p:tav tm="0">
                                          <p:val>
                                            <p:strVal val="#ppt_x"/>
                                          </p:val>
                                        </p:tav>
                                        <p:tav tm="100000">
                                          <p:val>
                                            <p:strVal val="#ppt_x"/>
                                          </p:val>
                                        </p:tav>
                                      </p:tavLst>
                                    </p:anim>
                                    <p:anim calcmode="lin" valueType="num">
                                      <p:cBhvr additive="base">
                                        <p:cTn id="59"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69"/>
                                        </p:tgtEl>
                                        <p:attrNameLst>
                                          <p:attrName>style.visibility</p:attrName>
                                        </p:attrNameLst>
                                      </p:cBhvr>
                                      <p:to>
                                        <p:strVal val="visible"/>
                                      </p:to>
                                    </p:set>
                                    <p:anim calcmode="lin" valueType="num">
                                      <p:cBhvr additive="base">
                                        <p:cTn id="64" dur="500" fill="hold"/>
                                        <p:tgtEl>
                                          <p:spTgt spid="69"/>
                                        </p:tgtEl>
                                        <p:attrNameLst>
                                          <p:attrName>ppt_x</p:attrName>
                                        </p:attrNameLst>
                                      </p:cBhvr>
                                      <p:tavLst>
                                        <p:tav tm="0">
                                          <p:val>
                                            <p:strVal val="#ppt_x"/>
                                          </p:val>
                                        </p:tav>
                                        <p:tav tm="100000">
                                          <p:val>
                                            <p:strVal val="#ppt_x"/>
                                          </p:val>
                                        </p:tav>
                                      </p:tavLst>
                                    </p:anim>
                                    <p:anim calcmode="lin" valueType="num">
                                      <p:cBhvr additive="base">
                                        <p:cTn id="65"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21215-EFCB-99ED-4B15-2CE55D0E2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746C4-BE40-F2FE-4920-532814D3ABDB}"/>
              </a:ext>
            </a:extLst>
          </p:cNvPr>
          <p:cNvSpPr>
            <a:spLocks noGrp="1"/>
          </p:cNvSpPr>
          <p:nvPr>
            <p:ph type="title"/>
          </p:nvPr>
        </p:nvSpPr>
        <p:spPr/>
        <p:txBody>
          <a:bodyPr/>
          <a:lstStyle/>
          <a:p>
            <a:r>
              <a:rPr lang="en-US" dirty="0"/>
              <a:t>VCF 9.1 Upgrade Paths</a:t>
            </a:r>
          </a:p>
        </p:txBody>
      </p:sp>
      <p:sp>
        <p:nvSpPr>
          <p:cNvPr id="29" name="Subtitle 28">
            <a:extLst>
              <a:ext uri="{FF2B5EF4-FFF2-40B4-BE49-F238E27FC236}">
                <a16:creationId xmlns:a16="http://schemas.microsoft.com/office/drawing/2014/main" id="{00E1FDFF-D569-FB71-4B6C-9E3A5FBF51E7}"/>
              </a:ext>
            </a:extLst>
          </p:cNvPr>
          <p:cNvSpPr>
            <a:spLocks noGrp="1"/>
          </p:cNvSpPr>
          <p:nvPr>
            <p:ph type="subTitle" idx="10"/>
          </p:nvPr>
        </p:nvSpPr>
        <p:spPr/>
        <p:txBody>
          <a:bodyPr/>
          <a:lstStyle/>
          <a:p>
            <a:r>
              <a:rPr lang="en-US" dirty="0"/>
              <a:t>Overview</a:t>
            </a:r>
          </a:p>
        </p:txBody>
      </p:sp>
      <p:sp>
        <p:nvSpPr>
          <p:cNvPr id="3" name="Rounded Rectangle 2">
            <a:extLst>
              <a:ext uri="{FF2B5EF4-FFF2-40B4-BE49-F238E27FC236}">
                <a16:creationId xmlns:a16="http://schemas.microsoft.com/office/drawing/2014/main" id="{84590C99-4FCF-C477-2FA9-A2A12584E385}"/>
              </a:ext>
            </a:extLst>
          </p:cNvPr>
          <p:cNvSpPr/>
          <p:nvPr/>
        </p:nvSpPr>
        <p:spPr bwMode="gray">
          <a:xfrm>
            <a:off x="559711" y="2590115"/>
            <a:ext cx="1746995" cy="862022"/>
          </a:xfrm>
          <a:prstGeom prst="roundRect">
            <a:avLst/>
          </a:prstGeom>
          <a:solidFill>
            <a:srgbClr val="00B0F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vSphere 8.x </a:t>
            </a:r>
          </a:p>
          <a:p>
            <a:pPr algn="ctr"/>
            <a:r>
              <a:rPr lang="en-US" sz="800" dirty="0">
                <a:solidFill>
                  <a:schemeClr val="bg1"/>
                </a:solidFill>
              </a:rPr>
              <a:t>(w NSX)</a:t>
            </a:r>
          </a:p>
        </p:txBody>
      </p:sp>
      <p:sp>
        <p:nvSpPr>
          <p:cNvPr id="5" name="Rounded Rectangle 4">
            <a:extLst>
              <a:ext uri="{FF2B5EF4-FFF2-40B4-BE49-F238E27FC236}">
                <a16:creationId xmlns:a16="http://schemas.microsoft.com/office/drawing/2014/main" id="{075A3B8A-A5F5-F4C1-DB15-004ABA284E9D}"/>
              </a:ext>
            </a:extLst>
          </p:cNvPr>
          <p:cNvSpPr/>
          <p:nvPr/>
        </p:nvSpPr>
        <p:spPr bwMode="gray">
          <a:xfrm>
            <a:off x="559712" y="4459495"/>
            <a:ext cx="1746995" cy="851572"/>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VCF 5.2.x</a:t>
            </a:r>
          </a:p>
        </p:txBody>
      </p:sp>
      <p:sp>
        <p:nvSpPr>
          <p:cNvPr id="6" name="Rounded Rectangle 5">
            <a:extLst>
              <a:ext uri="{FF2B5EF4-FFF2-40B4-BE49-F238E27FC236}">
                <a16:creationId xmlns:a16="http://schemas.microsoft.com/office/drawing/2014/main" id="{A2738D3F-1AFB-41C8-D2BB-B61E0EEC2B8E}"/>
              </a:ext>
            </a:extLst>
          </p:cNvPr>
          <p:cNvSpPr/>
          <p:nvPr/>
        </p:nvSpPr>
        <p:spPr bwMode="gray">
          <a:xfrm>
            <a:off x="559712" y="5361235"/>
            <a:ext cx="1746995" cy="868973"/>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VCF 9.0.x</a:t>
            </a:r>
          </a:p>
        </p:txBody>
      </p:sp>
      <p:sp>
        <p:nvSpPr>
          <p:cNvPr id="4" name="Rounded Rectangle 3">
            <a:extLst>
              <a:ext uri="{FF2B5EF4-FFF2-40B4-BE49-F238E27FC236}">
                <a16:creationId xmlns:a16="http://schemas.microsoft.com/office/drawing/2014/main" id="{D63BB8B8-4EF0-FDA1-64CB-DEB89677DAC8}"/>
              </a:ext>
            </a:extLst>
          </p:cNvPr>
          <p:cNvSpPr/>
          <p:nvPr/>
        </p:nvSpPr>
        <p:spPr bwMode="gray">
          <a:xfrm>
            <a:off x="559712" y="3519298"/>
            <a:ext cx="1746995" cy="857383"/>
          </a:xfrm>
          <a:prstGeom prst="roundRect">
            <a:avLst/>
          </a:prstGeom>
          <a:solidFill>
            <a:srgbClr val="0070C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VVF 9.0.x</a:t>
            </a:r>
          </a:p>
        </p:txBody>
      </p:sp>
      <p:sp>
        <p:nvSpPr>
          <p:cNvPr id="7" name="TextBox 6">
            <a:extLst>
              <a:ext uri="{FF2B5EF4-FFF2-40B4-BE49-F238E27FC236}">
                <a16:creationId xmlns:a16="http://schemas.microsoft.com/office/drawing/2014/main" id="{4AFB62DD-FB7A-75CB-6C5E-6548015B423B}"/>
              </a:ext>
            </a:extLst>
          </p:cNvPr>
          <p:cNvSpPr txBox="1"/>
          <p:nvPr/>
        </p:nvSpPr>
        <p:spPr>
          <a:xfrm>
            <a:off x="579809" y="1341884"/>
            <a:ext cx="1615827" cy="276999"/>
          </a:xfrm>
          <a:prstGeom prst="rect">
            <a:avLst/>
          </a:prstGeom>
          <a:noFill/>
        </p:spPr>
        <p:txBody>
          <a:bodyPr wrap="none" lIns="0" tIns="0" rIns="0" bIns="0" rtlCol="0">
            <a:spAutoFit/>
          </a:bodyPr>
          <a:lstStyle/>
          <a:p>
            <a:pPr algn="l"/>
            <a:r>
              <a:rPr lang="en-US" dirty="0">
                <a:solidFill>
                  <a:schemeClr val="tx2"/>
                </a:solidFill>
              </a:rPr>
              <a:t>Starting Point…</a:t>
            </a:r>
            <a:endParaRPr lang="en-US" sz="1800" dirty="0">
              <a:solidFill>
                <a:schemeClr val="tx2"/>
              </a:solidFill>
            </a:endParaRPr>
          </a:p>
        </p:txBody>
      </p:sp>
      <p:sp>
        <p:nvSpPr>
          <p:cNvPr id="33" name="TextBox 32">
            <a:extLst>
              <a:ext uri="{FF2B5EF4-FFF2-40B4-BE49-F238E27FC236}">
                <a16:creationId xmlns:a16="http://schemas.microsoft.com/office/drawing/2014/main" id="{322ADA3B-3496-A47E-CB35-7481FED6079A}"/>
              </a:ext>
            </a:extLst>
          </p:cNvPr>
          <p:cNvSpPr txBox="1"/>
          <p:nvPr/>
        </p:nvSpPr>
        <p:spPr>
          <a:xfrm>
            <a:off x="2699928" y="1341884"/>
            <a:ext cx="1855316" cy="276999"/>
          </a:xfrm>
          <a:prstGeom prst="rect">
            <a:avLst/>
          </a:prstGeom>
          <a:noFill/>
        </p:spPr>
        <p:txBody>
          <a:bodyPr wrap="none" lIns="0" tIns="0" rIns="0" bIns="0" rtlCol="0">
            <a:spAutoFit/>
          </a:bodyPr>
          <a:lstStyle/>
          <a:p>
            <a:pPr algn="l"/>
            <a:r>
              <a:rPr lang="en-US" dirty="0">
                <a:solidFill>
                  <a:schemeClr val="tx2"/>
                </a:solidFill>
              </a:rPr>
              <a:t>What’s Involved…</a:t>
            </a:r>
            <a:endParaRPr lang="en-US" sz="1800" dirty="0">
              <a:solidFill>
                <a:schemeClr val="tx2"/>
              </a:solidFill>
            </a:endParaRPr>
          </a:p>
        </p:txBody>
      </p:sp>
      <p:sp>
        <p:nvSpPr>
          <p:cNvPr id="52" name="TextBox 51">
            <a:extLst>
              <a:ext uri="{FF2B5EF4-FFF2-40B4-BE49-F238E27FC236}">
                <a16:creationId xmlns:a16="http://schemas.microsoft.com/office/drawing/2014/main" id="{6B802F77-71D7-A8BD-833B-7442A0E83639}"/>
              </a:ext>
            </a:extLst>
          </p:cNvPr>
          <p:cNvSpPr txBox="1"/>
          <p:nvPr/>
        </p:nvSpPr>
        <p:spPr>
          <a:xfrm>
            <a:off x="9275994" y="1340564"/>
            <a:ext cx="1949252" cy="276999"/>
          </a:xfrm>
          <a:prstGeom prst="rect">
            <a:avLst/>
          </a:prstGeom>
          <a:noFill/>
        </p:spPr>
        <p:txBody>
          <a:bodyPr wrap="none" lIns="0" tIns="0" rIns="0" bIns="0" rtlCol="0">
            <a:spAutoFit/>
          </a:bodyPr>
          <a:lstStyle/>
          <a:p>
            <a:pPr algn="l"/>
            <a:r>
              <a:rPr lang="en-US" dirty="0">
                <a:solidFill>
                  <a:schemeClr val="tx2"/>
                </a:solidFill>
              </a:rPr>
              <a:t>Upgrade Method…</a:t>
            </a:r>
            <a:endParaRPr lang="en-US" sz="1800" dirty="0">
              <a:solidFill>
                <a:schemeClr val="tx2"/>
              </a:solidFill>
            </a:endParaRPr>
          </a:p>
        </p:txBody>
      </p:sp>
      <p:sp>
        <p:nvSpPr>
          <p:cNvPr id="47" name="Rounded Rectangle 46">
            <a:extLst>
              <a:ext uri="{FF2B5EF4-FFF2-40B4-BE49-F238E27FC236}">
                <a16:creationId xmlns:a16="http://schemas.microsoft.com/office/drawing/2014/main" id="{235ECE14-8D3B-A6B3-0A91-905FD8949FC2}"/>
              </a:ext>
            </a:extLst>
          </p:cNvPr>
          <p:cNvSpPr/>
          <p:nvPr/>
        </p:nvSpPr>
        <p:spPr bwMode="gray">
          <a:xfrm>
            <a:off x="2712332" y="3529882"/>
            <a:ext cx="6110121" cy="836214"/>
          </a:xfrm>
          <a:prstGeom prst="roundRect">
            <a:avLst/>
          </a:prstGeom>
          <a:solidFill>
            <a:srgbClr val="0070C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dirty="0">
                <a:solidFill>
                  <a:schemeClr val="bg1"/>
                </a:solidFill>
              </a:rPr>
              <a:t>Manually upgrade vSphere to 9.1</a:t>
            </a:r>
          </a:p>
          <a:p>
            <a:r>
              <a:rPr lang="en-US" sz="1100" dirty="0">
                <a:solidFill>
                  <a:schemeClr val="bg1"/>
                </a:solidFill>
              </a:rPr>
              <a:t>Deploy VCF Installer &amp; download binaries</a:t>
            </a:r>
          </a:p>
          <a:p>
            <a:r>
              <a:rPr lang="en-US" sz="1100" dirty="0">
                <a:solidFill>
                  <a:schemeClr val="bg1"/>
                </a:solidFill>
              </a:rPr>
              <a:t>Converge to VCF  – deploys VCF Management Services, VCF Ops, VCF Auto</a:t>
            </a:r>
          </a:p>
          <a:p>
            <a:r>
              <a:rPr lang="en-US" sz="1100" dirty="0">
                <a:solidFill>
                  <a:schemeClr val="bg1"/>
                </a:solidFill>
              </a:rPr>
              <a:t>Verify license</a:t>
            </a:r>
          </a:p>
        </p:txBody>
      </p:sp>
      <p:sp>
        <p:nvSpPr>
          <p:cNvPr id="53" name="Rounded Rectangle 52">
            <a:extLst>
              <a:ext uri="{FF2B5EF4-FFF2-40B4-BE49-F238E27FC236}">
                <a16:creationId xmlns:a16="http://schemas.microsoft.com/office/drawing/2014/main" id="{155334F4-E156-E697-45DF-95FC1871F1A3}"/>
              </a:ext>
            </a:extLst>
          </p:cNvPr>
          <p:cNvSpPr/>
          <p:nvPr/>
        </p:nvSpPr>
        <p:spPr bwMode="gray">
          <a:xfrm>
            <a:off x="9263991" y="2598683"/>
            <a:ext cx="1785436" cy="854331"/>
          </a:xfrm>
          <a:prstGeom prst="roundRect">
            <a:avLst/>
          </a:prstGeom>
          <a:solidFill>
            <a:srgbClr val="00B0F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buFont typeface="Arial" panose="020B0604020202020204" pitchFamily="34" charset="0"/>
              <a:buChar char="•"/>
            </a:pPr>
            <a:r>
              <a:rPr lang="en-US" sz="1200" dirty="0">
                <a:solidFill>
                  <a:schemeClr val="bg1"/>
                </a:solidFill>
              </a:rPr>
              <a:t>VCF Installer</a:t>
            </a:r>
          </a:p>
        </p:txBody>
      </p:sp>
      <p:sp>
        <p:nvSpPr>
          <p:cNvPr id="54" name="Rounded Rectangle 53">
            <a:extLst>
              <a:ext uri="{FF2B5EF4-FFF2-40B4-BE49-F238E27FC236}">
                <a16:creationId xmlns:a16="http://schemas.microsoft.com/office/drawing/2014/main" id="{5E05C885-891D-131E-5976-CF622EBB85D4}"/>
              </a:ext>
            </a:extLst>
          </p:cNvPr>
          <p:cNvSpPr/>
          <p:nvPr/>
        </p:nvSpPr>
        <p:spPr bwMode="gray">
          <a:xfrm>
            <a:off x="9263991" y="3524002"/>
            <a:ext cx="1785436" cy="848507"/>
          </a:xfrm>
          <a:prstGeom prst="roundRect">
            <a:avLst/>
          </a:prstGeom>
          <a:solidFill>
            <a:srgbClr val="0070C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buFont typeface="Arial" panose="020B0604020202020204" pitchFamily="34" charset="0"/>
              <a:buChar char="•"/>
            </a:pPr>
            <a:r>
              <a:rPr lang="en-US" sz="1200" dirty="0">
                <a:solidFill>
                  <a:schemeClr val="bg1"/>
                </a:solidFill>
              </a:rPr>
              <a:t>VCF Installer</a:t>
            </a:r>
          </a:p>
        </p:txBody>
      </p:sp>
      <p:sp>
        <p:nvSpPr>
          <p:cNvPr id="55" name="Rounded Rectangle 54">
            <a:extLst>
              <a:ext uri="{FF2B5EF4-FFF2-40B4-BE49-F238E27FC236}">
                <a16:creationId xmlns:a16="http://schemas.microsoft.com/office/drawing/2014/main" id="{BD722368-C5FA-5E58-BFAF-C99E7936EB0F}"/>
              </a:ext>
            </a:extLst>
          </p:cNvPr>
          <p:cNvSpPr/>
          <p:nvPr/>
        </p:nvSpPr>
        <p:spPr bwMode="gray">
          <a:xfrm>
            <a:off x="9263991" y="4444075"/>
            <a:ext cx="1785436" cy="86427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buFont typeface="Arial" panose="020B0604020202020204" pitchFamily="34" charset="0"/>
              <a:buChar char="•"/>
            </a:pPr>
            <a:r>
              <a:rPr lang="en-US" sz="1200" dirty="0">
                <a:solidFill>
                  <a:schemeClr val="bg1"/>
                </a:solidFill>
              </a:rPr>
              <a:t>Manual Upgrade</a:t>
            </a:r>
          </a:p>
          <a:p>
            <a:pPr marL="171450" indent="-171450" algn="ctr">
              <a:buFont typeface="Arial" panose="020B0604020202020204" pitchFamily="34" charset="0"/>
              <a:buChar char="•"/>
            </a:pPr>
            <a:r>
              <a:rPr lang="en-US" sz="1200" dirty="0">
                <a:solidFill>
                  <a:schemeClr val="bg1"/>
                </a:solidFill>
              </a:rPr>
              <a:t>VCF Ops LCM</a:t>
            </a:r>
          </a:p>
        </p:txBody>
      </p:sp>
      <p:sp>
        <p:nvSpPr>
          <p:cNvPr id="56" name="Rounded Rectangle 55">
            <a:extLst>
              <a:ext uri="{FF2B5EF4-FFF2-40B4-BE49-F238E27FC236}">
                <a16:creationId xmlns:a16="http://schemas.microsoft.com/office/drawing/2014/main" id="{2F1A6B0C-C793-2E33-3313-D3045A7D5965}"/>
              </a:ext>
            </a:extLst>
          </p:cNvPr>
          <p:cNvSpPr/>
          <p:nvPr/>
        </p:nvSpPr>
        <p:spPr bwMode="gray">
          <a:xfrm>
            <a:off x="9275994" y="5389381"/>
            <a:ext cx="1785436" cy="840827"/>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buFont typeface="Arial" panose="020B0604020202020204" pitchFamily="34" charset="0"/>
              <a:buChar char="•"/>
            </a:pPr>
            <a:r>
              <a:rPr lang="en-US" sz="1200" dirty="0">
                <a:solidFill>
                  <a:schemeClr val="bg1"/>
                </a:solidFill>
              </a:rPr>
              <a:t>Manual upgrade</a:t>
            </a:r>
          </a:p>
          <a:p>
            <a:pPr marL="171450" indent="-171450" algn="ctr">
              <a:buFont typeface="Arial" panose="020B0604020202020204" pitchFamily="34" charset="0"/>
              <a:buChar char="•"/>
            </a:pPr>
            <a:r>
              <a:rPr lang="en-US" sz="1200" dirty="0">
                <a:solidFill>
                  <a:schemeClr val="bg1"/>
                </a:solidFill>
              </a:rPr>
              <a:t>VCF Ops LCM</a:t>
            </a:r>
          </a:p>
        </p:txBody>
      </p:sp>
      <p:sp>
        <p:nvSpPr>
          <p:cNvPr id="57" name="Rounded Rectangle 56">
            <a:extLst>
              <a:ext uri="{FF2B5EF4-FFF2-40B4-BE49-F238E27FC236}">
                <a16:creationId xmlns:a16="http://schemas.microsoft.com/office/drawing/2014/main" id="{332F895C-1727-ABA9-AE82-711C45B4C7D3}"/>
              </a:ext>
            </a:extLst>
          </p:cNvPr>
          <p:cNvSpPr/>
          <p:nvPr/>
        </p:nvSpPr>
        <p:spPr bwMode="gray">
          <a:xfrm>
            <a:off x="2712333" y="5389381"/>
            <a:ext cx="6110121" cy="840827"/>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dirty="0">
                <a:solidFill>
                  <a:schemeClr val="bg1"/>
                </a:solidFill>
              </a:rPr>
              <a:t>Manually upgrade VCF Ops &amp; Ops Proxy</a:t>
            </a:r>
          </a:p>
          <a:p>
            <a:r>
              <a:rPr lang="en-US" sz="1100" dirty="0">
                <a:solidFill>
                  <a:schemeClr val="bg1"/>
                </a:solidFill>
              </a:rPr>
              <a:t>Use VCF Ops to upgrade SDDC Manager</a:t>
            </a:r>
          </a:p>
          <a:p>
            <a:r>
              <a:rPr lang="en-US" sz="1100" dirty="0">
                <a:solidFill>
                  <a:schemeClr val="bg1"/>
                </a:solidFill>
              </a:rPr>
              <a:t>Manually deploy VCF Management Services</a:t>
            </a:r>
          </a:p>
          <a:p>
            <a:r>
              <a:rPr lang="en-US" sz="1100" dirty="0">
                <a:solidFill>
                  <a:schemeClr val="bg1"/>
                </a:solidFill>
              </a:rPr>
              <a:t>Use Ops LCM to upgrade NSX, vCenter, ESX</a:t>
            </a:r>
          </a:p>
          <a:p>
            <a:r>
              <a:rPr lang="en-US" sz="1100" dirty="0">
                <a:solidFill>
                  <a:schemeClr val="bg1"/>
                </a:solidFill>
              </a:rPr>
              <a:t>Verify Licensing </a:t>
            </a:r>
          </a:p>
        </p:txBody>
      </p:sp>
      <p:sp>
        <p:nvSpPr>
          <p:cNvPr id="58" name="Rounded Rectangle 57">
            <a:extLst>
              <a:ext uri="{FF2B5EF4-FFF2-40B4-BE49-F238E27FC236}">
                <a16:creationId xmlns:a16="http://schemas.microsoft.com/office/drawing/2014/main" id="{60BEEC8B-AECA-7402-CEED-36382133C908}"/>
              </a:ext>
            </a:extLst>
          </p:cNvPr>
          <p:cNvSpPr/>
          <p:nvPr/>
        </p:nvSpPr>
        <p:spPr bwMode="gray">
          <a:xfrm>
            <a:off x="2714287" y="4446797"/>
            <a:ext cx="6110121" cy="864270"/>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dirty="0">
                <a:solidFill>
                  <a:schemeClr val="bg1"/>
                </a:solidFill>
              </a:rPr>
              <a:t>Manual Install/upgrade of VCF Ops &amp; Ops Proxy</a:t>
            </a:r>
          </a:p>
          <a:p>
            <a:r>
              <a:rPr lang="en-US" sz="1100" dirty="0">
                <a:solidFill>
                  <a:schemeClr val="bg1"/>
                </a:solidFill>
              </a:rPr>
              <a:t>Use VCF Ops to upgrade SDDC Manager</a:t>
            </a:r>
          </a:p>
          <a:p>
            <a:r>
              <a:rPr lang="en-US" sz="1100" dirty="0">
                <a:solidFill>
                  <a:schemeClr val="bg1"/>
                </a:solidFill>
              </a:rPr>
              <a:t>Manually deploy VCF Management Services</a:t>
            </a:r>
          </a:p>
          <a:p>
            <a:r>
              <a:rPr lang="en-US" sz="1100" dirty="0">
                <a:solidFill>
                  <a:schemeClr val="bg1"/>
                </a:solidFill>
              </a:rPr>
              <a:t>Use Ops LCM to upgrade NSX, vCenter, ESX</a:t>
            </a:r>
          </a:p>
          <a:p>
            <a:r>
              <a:rPr lang="en-US" sz="1100" dirty="0">
                <a:solidFill>
                  <a:schemeClr val="bg1"/>
                </a:solidFill>
              </a:rPr>
              <a:t>Relicense</a:t>
            </a:r>
          </a:p>
        </p:txBody>
      </p:sp>
      <p:sp>
        <p:nvSpPr>
          <p:cNvPr id="10" name="Rounded Rectangle 9">
            <a:extLst>
              <a:ext uri="{FF2B5EF4-FFF2-40B4-BE49-F238E27FC236}">
                <a16:creationId xmlns:a16="http://schemas.microsoft.com/office/drawing/2014/main" id="{8F32F401-322B-0A2C-C222-F56AD459EC45}"/>
              </a:ext>
            </a:extLst>
          </p:cNvPr>
          <p:cNvSpPr/>
          <p:nvPr/>
        </p:nvSpPr>
        <p:spPr bwMode="gray">
          <a:xfrm>
            <a:off x="2709976" y="2598684"/>
            <a:ext cx="6110121" cy="850497"/>
          </a:xfrm>
          <a:prstGeom prst="roundRect">
            <a:avLst/>
          </a:prstGeom>
          <a:solidFill>
            <a:srgbClr val="00B0F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dirty="0">
                <a:solidFill>
                  <a:schemeClr val="bg1"/>
                </a:solidFill>
              </a:rPr>
              <a:t>Update to vSphere 8.0u3 and NSX 4.2.x.</a:t>
            </a:r>
          </a:p>
          <a:p>
            <a:r>
              <a:rPr lang="en-US" sz="1100" dirty="0">
                <a:solidFill>
                  <a:schemeClr val="bg1"/>
                </a:solidFill>
              </a:rPr>
              <a:t>Deploy VCF Installer &amp; download binaries</a:t>
            </a:r>
          </a:p>
          <a:p>
            <a:r>
              <a:rPr lang="en-US" sz="1100" dirty="0">
                <a:solidFill>
                  <a:schemeClr val="bg1"/>
                </a:solidFill>
              </a:rPr>
              <a:t>Converge to VCF  – deploys VCF Management Services, VCF Ops, VCF Auto</a:t>
            </a:r>
          </a:p>
          <a:p>
            <a:r>
              <a:rPr lang="en-US" sz="1100" dirty="0">
                <a:solidFill>
                  <a:schemeClr val="bg1"/>
                </a:solidFill>
              </a:rPr>
              <a:t>Use VCF Ops LCM to upgrade vSphere</a:t>
            </a:r>
          </a:p>
          <a:p>
            <a:r>
              <a:rPr lang="en-US" sz="1100" dirty="0">
                <a:solidFill>
                  <a:schemeClr val="bg1"/>
                </a:solidFill>
              </a:rPr>
              <a:t>Relicense</a:t>
            </a:r>
          </a:p>
        </p:txBody>
      </p:sp>
      <p:sp>
        <p:nvSpPr>
          <p:cNvPr id="34" name="Rounded Rectangle 33">
            <a:extLst>
              <a:ext uri="{FF2B5EF4-FFF2-40B4-BE49-F238E27FC236}">
                <a16:creationId xmlns:a16="http://schemas.microsoft.com/office/drawing/2014/main" id="{6D77413C-E8DE-F3B6-53C7-5102E90EC57F}"/>
              </a:ext>
            </a:extLst>
          </p:cNvPr>
          <p:cNvSpPr/>
          <p:nvPr/>
        </p:nvSpPr>
        <p:spPr bwMode="gray">
          <a:xfrm>
            <a:off x="559309" y="1642968"/>
            <a:ext cx="1746995" cy="868972"/>
          </a:xfrm>
          <a:prstGeom prst="roundRect">
            <a:avLst/>
          </a:prstGeom>
          <a:solidFill>
            <a:srgbClr val="00B0F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vSphere 8.x </a:t>
            </a:r>
          </a:p>
          <a:p>
            <a:pPr algn="ctr"/>
            <a:r>
              <a:rPr lang="en-US" sz="800" dirty="0">
                <a:solidFill>
                  <a:schemeClr val="bg1"/>
                </a:solidFill>
              </a:rPr>
              <a:t>(w/out NSX)</a:t>
            </a:r>
          </a:p>
        </p:txBody>
      </p:sp>
      <p:sp>
        <p:nvSpPr>
          <p:cNvPr id="35" name="Rounded Rectangle 34">
            <a:extLst>
              <a:ext uri="{FF2B5EF4-FFF2-40B4-BE49-F238E27FC236}">
                <a16:creationId xmlns:a16="http://schemas.microsoft.com/office/drawing/2014/main" id="{A4CD1F87-01A5-1545-E476-60A0985BEDAB}"/>
              </a:ext>
            </a:extLst>
          </p:cNvPr>
          <p:cNvSpPr/>
          <p:nvPr/>
        </p:nvSpPr>
        <p:spPr bwMode="gray">
          <a:xfrm>
            <a:off x="9275994" y="1653907"/>
            <a:ext cx="1785436" cy="853802"/>
          </a:xfrm>
          <a:prstGeom prst="roundRect">
            <a:avLst/>
          </a:prstGeom>
          <a:solidFill>
            <a:srgbClr val="00B0F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gn="ctr">
              <a:buFont typeface="Arial" panose="020B0604020202020204" pitchFamily="34" charset="0"/>
              <a:buChar char="•"/>
            </a:pPr>
            <a:r>
              <a:rPr lang="en-US" sz="1200" dirty="0">
                <a:solidFill>
                  <a:schemeClr val="bg1"/>
                </a:solidFill>
              </a:rPr>
              <a:t>Manual upgrade</a:t>
            </a:r>
          </a:p>
          <a:p>
            <a:pPr marL="171450" indent="-171450" algn="ctr">
              <a:buFont typeface="Arial" panose="020B0604020202020204" pitchFamily="34" charset="0"/>
              <a:buChar char="•"/>
            </a:pPr>
            <a:r>
              <a:rPr lang="en-US" sz="1200" dirty="0">
                <a:solidFill>
                  <a:schemeClr val="bg1"/>
                </a:solidFill>
              </a:rPr>
              <a:t>VCF Installer</a:t>
            </a:r>
          </a:p>
        </p:txBody>
      </p:sp>
      <p:sp>
        <p:nvSpPr>
          <p:cNvPr id="36" name="Rounded Rectangle 35">
            <a:extLst>
              <a:ext uri="{FF2B5EF4-FFF2-40B4-BE49-F238E27FC236}">
                <a16:creationId xmlns:a16="http://schemas.microsoft.com/office/drawing/2014/main" id="{C4EE4F74-2DCD-10C3-62A8-F08762F8CCE2}"/>
              </a:ext>
            </a:extLst>
          </p:cNvPr>
          <p:cNvSpPr/>
          <p:nvPr/>
        </p:nvSpPr>
        <p:spPr bwMode="gray">
          <a:xfrm>
            <a:off x="2712332" y="1654555"/>
            <a:ext cx="6110121" cy="857385"/>
          </a:xfrm>
          <a:prstGeom prst="roundRect">
            <a:avLst/>
          </a:prstGeom>
          <a:solidFill>
            <a:srgbClr val="00B0F0"/>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dirty="0">
                <a:solidFill>
                  <a:schemeClr val="bg1"/>
                </a:solidFill>
              </a:rPr>
              <a:t>Manually upgrade vSphere to 9.1</a:t>
            </a:r>
          </a:p>
          <a:p>
            <a:r>
              <a:rPr lang="en-US" sz="1100" dirty="0">
                <a:solidFill>
                  <a:schemeClr val="bg1"/>
                </a:solidFill>
              </a:rPr>
              <a:t>Deploy VCF Installer &amp; download binaries</a:t>
            </a:r>
          </a:p>
          <a:p>
            <a:r>
              <a:rPr lang="en-US" sz="1100" dirty="0">
                <a:solidFill>
                  <a:schemeClr val="bg1"/>
                </a:solidFill>
              </a:rPr>
              <a:t>Converge to VCF – deploys VCF Management Services, VCF Ops, NSX, VCF Auto</a:t>
            </a:r>
          </a:p>
          <a:p>
            <a:r>
              <a:rPr lang="en-US" sz="1100" dirty="0">
                <a:solidFill>
                  <a:schemeClr val="bg1"/>
                </a:solidFill>
              </a:rPr>
              <a:t>Relicense</a:t>
            </a:r>
          </a:p>
        </p:txBody>
      </p:sp>
    </p:spTree>
    <p:extLst>
      <p:ext uri="{BB962C8B-B14F-4D97-AF65-F5344CB8AC3E}">
        <p14:creationId xmlns:p14="http://schemas.microsoft.com/office/powerpoint/2010/main" val="1399295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88EBA-45D4-49D9-1BA8-003248B3142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FED8918-A133-B628-1EFD-1308B0BEA78B}"/>
              </a:ext>
            </a:extLst>
          </p:cNvPr>
          <p:cNvSpPr>
            <a:spLocks noGrp="1"/>
          </p:cNvSpPr>
          <p:nvPr>
            <p:ph type="title"/>
          </p:nvPr>
        </p:nvSpPr>
        <p:spPr>
          <a:xfrm>
            <a:off x="589107" y="1413356"/>
            <a:ext cx="6587869" cy="1229360"/>
          </a:xfrm>
        </p:spPr>
        <p:txBody>
          <a:bodyPr/>
          <a:lstStyle/>
          <a:p>
            <a:r>
              <a:rPr lang="en-US" dirty="0"/>
              <a:t>Additional Upgrade</a:t>
            </a:r>
            <a:br>
              <a:rPr lang="en-US" dirty="0"/>
            </a:br>
            <a:r>
              <a:rPr lang="en-US" dirty="0"/>
              <a:t>Considerations…</a:t>
            </a:r>
          </a:p>
        </p:txBody>
      </p:sp>
    </p:spTree>
    <p:extLst>
      <p:ext uri="{BB962C8B-B14F-4D97-AF65-F5344CB8AC3E}">
        <p14:creationId xmlns:p14="http://schemas.microsoft.com/office/powerpoint/2010/main" val="2669367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0C331-9B48-4A06-BF9B-EF7552B3B865}"/>
              </a:ext>
            </a:extLst>
          </p:cNvPr>
          <p:cNvSpPr>
            <a:spLocks noGrp="1"/>
          </p:cNvSpPr>
          <p:nvPr>
            <p:ph type="title"/>
          </p:nvPr>
        </p:nvSpPr>
        <p:spPr>
          <a:xfrm>
            <a:off x="579809" y="412751"/>
            <a:ext cx="11001004" cy="381000"/>
          </a:xfrm>
        </p:spPr>
        <p:txBody>
          <a:bodyPr wrap="none" anchor="b">
            <a:normAutofit/>
          </a:bodyPr>
          <a:lstStyle/>
          <a:p>
            <a:r>
              <a:rPr lang="en-US" sz="2600" dirty="0"/>
              <a:t>VCF 9.1 Upgrade Considerations</a:t>
            </a:r>
          </a:p>
        </p:txBody>
      </p:sp>
      <p:sp>
        <p:nvSpPr>
          <p:cNvPr id="12" name="Subtitle 2">
            <a:extLst>
              <a:ext uri="{FF2B5EF4-FFF2-40B4-BE49-F238E27FC236}">
                <a16:creationId xmlns:a16="http://schemas.microsoft.com/office/drawing/2014/main" id="{1470603C-5426-3C1B-8C07-AC6E73E0681A}"/>
              </a:ext>
            </a:extLst>
          </p:cNvPr>
          <p:cNvSpPr>
            <a:spLocks noGrp="1"/>
          </p:cNvSpPr>
          <p:nvPr>
            <p:ph type="subTitle" idx="10"/>
          </p:nvPr>
        </p:nvSpPr>
        <p:spPr>
          <a:xfrm>
            <a:off x="592866" y="811830"/>
            <a:ext cx="10962687" cy="247743"/>
          </a:xfrm>
        </p:spPr>
        <p:txBody>
          <a:bodyPr/>
          <a:lstStyle/>
          <a:p>
            <a:r>
              <a:rPr lang="en-US" dirty="0"/>
              <a:t>NSX</a:t>
            </a:r>
          </a:p>
        </p:txBody>
      </p:sp>
      <p:pic>
        <p:nvPicPr>
          <p:cNvPr id="7" name="Picture 6">
            <a:extLst>
              <a:ext uri="{FF2B5EF4-FFF2-40B4-BE49-F238E27FC236}">
                <a16:creationId xmlns:a16="http://schemas.microsoft.com/office/drawing/2014/main" id="{00B8671C-EFAF-559D-048D-B1F53CEEC2D1}"/>
              </a:ext>
            </a:extLst>
          </p:cNvPr>
          <p:cNvPicPr>
            <a:picLocks noChangeAspect="1"/>
          </p:cNvPicPr>
          <p:nvPr/>
        </p:nvPicPr>
        <p:blipFill>
          <a:blip r:embed="rId2"/>
          <a:stretch>
            <a:fillRect/>
          </a:stretch>
        </p:blipFill>
        <p:spPr>
          <a:xfrm>
            <a:off x="6221402" y="4362328"/>
            <a:ext cx="5865445" cy="1407707"/>
          </a:xfrm>
          <a:prstGeom prst="rect">
            <a:avLst/>
          </a:prstGeom>
          <a:noFill/>
        </p:spPr>
      </p:pic>
      <p:sp>
        <p:nvSpPr>
          <p:cNvPr id="5" name="Content Placeholder 4">
            <a:extLst>
              <a:ext uri="{FF2B5EF4-FFF2-40B4-BE49-F238E27FC236}">
                <a16:creationId xmlns:a16="http://schemas.microsoft.com/office/drawing/2014/main" id="{4154BA54-0450-88C5-15FD-C69C9FAED941}"/>
              </a:ext>
            </a:extLst>
          </p:cNvPr>
          <p:cNvSpPr>
            <a:spLocks noGrp="1"/>
          </p:cNvSpPr>
          <p:nvPr>
            <p:ph sz="quarter" idx="17"/>
          </p:nvPr>
        </p:nvSpPr>
        <p:spPr>
          <a:xfrm>
            <a:off x="0" y="1600201"/>
            <a:ext cx="5893593" cy="4572000"/>
          </a:xfrm>
        </p:spPr>
        <p:txBody>
          <a:bodyPr>
            <a:noAutofit/>
          </a:bodyPr>
          <a:lstStyle/>
          <a:p>
            <a:pPr>
              <a:lnSpc>
                <a:spcPct val="90000"/>
              </a:lnSpc>
            </a:pPr>
            <a:r>
              <a:rPr lang="en-US" dirty="0">
                <a:solidFill>
                  <a:schemeClr val="accent2"/>
                </a:solidFill>
              </a:rPr>
              <a:t>NSX 4.2.x </a:t>
            </a:r>
            <a:r>
              <a:rPr lang="en-US" dirty="0">
                <a:solidFill>
                  <a:schemeClr val="accent2"/>
                </a:solidFill>
                <a:sym typeface="Wingdings" pitchFamily="2" charset="2"/>
              </a:rPr>
              <a:t></a:t>
            </a:r>
            <a:r>
              <a:rPr lang="en-US" dirty="0">
                <a:solidFill>
                  <a:schemeClr val="accent2"/>
                </a:solidFill>
              </a:rPr>
              <a:t> NSX 9.1 Upgrades</a:t>
            </a:r>
          </a:p>
          <a:p>
            <a:pPr lvl="1">
              <a:lnSpc>
                <a:spcPct val="90000"/>
              </a:lnSpc>
            </a:pPr>
            <a:r>
              <a:rPr lang="en-US" dirty="0">
                <a:solidFill>
                  <a:schemeClr val="accent2"/>
                </a:solidFill>
              </a:rPr>
              <a:t>Standalone NSX upgrade not supported.  Import NSX 4.2.x to VCF, then upgrade.</a:t>
            </a:r>
          </a:p>
          <a:p>
            <a:pPr lvl="1">
              <a:lnSpc>
                <a:spcPct val="90000"/>
              </a:lnSpc>
            </a:pPr>
            <a:r>
              <a:rPr lang="en-US" dirty="0">
                <a:solidFill>
                  <a:schemeClr val="accent2"/>
                </a:solidFill>
              </a:rPr>
              <a:t>Finalize NSX upgrade after all ESX hosts in the domain have been upgraded to 9.1.</a:t>
            </a:r>
          </a:p>
          <a:p>
            <a:pPr>
              <a:lnSpc>
                <a:spcPct val="90000"/>
              </a:lnSpc>
            </a:pPr>
            <a:r>
              <a:rPr lang="en-US" dirty="0">
                <a:solidFill>
                  <a:schemeClr val="accent2"/>
                </a:solidFill>
              </a:rPr>
              <a:t>NSX Federation</a:t>
            </a:r>
          </a:p>
          <a:p>
            <a:pPr lvl="1">
              <a:lnSpc>
                <a:spcPct val="90000"/>
              </a:lnSpc>
            </a:pPr>
            <a:r>
              <a:rPr lang="en-US" dirty="0">
                <a:solidFill>
                  <a:schemeClr val="accent2"/>
                </a:solidFill>
              </a:rPr>
              <a:t>NSX Global Managers must be manually upgraded.</a:t>
            </a:r>
          </a:p>
          <a:p>
            <a:pPr>
              <a:lnSpc>
                <a:spcPct val="90000"/>
              </a:lnSpc>
            </a:pPr>
            <a:r>
              <a:rPr lang="en-US" dirty="0">
                <a:solidFill>
                  <a:schemeClr val="accent2"/>
                </a:solidFill>
              </a:rPr>
              <a:t>Shared NSX</a:t>
            </a:r>
          </a:p>
          <a:p>
            <a:pPr lvl="1">
              <a:lnSpc>
                <a:spcPct val="90000"/>
              </a:lnSpc>
            </a:pPr>
            <a:r>
              <a:rPr lang="en-US" dirty="0">
                <a:solidFill>
                  <a:schemeClr val="accent2"/>
                </a:solidFill>
              </a:rPr>
              <a:t>Finalize NSX upgrade on management domain after all ESX hosts across all domains have been upgraded to 9.1.</a:t>
            </a:r>
          </a:p>
        </p:txBody>
      </p:sp>
      <p:pic>
        <p:nvPicPr>
          <p:cNvPr id="8" name="Picture 7">
            <a:extLst>
              <a:ext uri="{FF2B5EF4-FFF2-40B4-BE49-F238E27FC236}">
                <a16:creationId xmlns:a16="http://schemas.microsoft.com/office/drawing/2014/main" id="{6CC403B1-0518-B1EC-8F6F-953C7AC44D72}"/>
              </a:ext>
            </a:extLst>
          </p:cNvPr>
          <p:cNvPicPr>
            <a:picLocks noChangeAspect="1"/>
          </p:cNvPicPr>
          <p:nvPr/>
        </p:nvPicPr>
        <p:blipFill>
          <a:blip r:embed="rId3"/>
          <a:stretch>
            <a:fillRect/>
          </a:stretch>
        </p:blipFill>
        <p:spPr>
          <a:xfrm>
            <a:off x="6147572" y="2164353"/>
            <a:ext cx="6013106" cy="1531227"/>
          </a:xfrm>
          <a:prstGeom prst="rect">
            <a:avLst/>
          </a:prstGeom>
        </p:spPr>
      </p:pic>
    </p:spTree>
    <p:extLst>
      <p:ext uri="{BB962C8B-B14F-4D97-AF65-F5344CB8AC3E}">
        <p14:creationId xmlns:p14="http://schemas.microsoft.com/office/powerpoint/2010/main" val="3053677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1FA62-0808-1705-56D6-10B163DBB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C8563-E666-374C-C082-84352EF30117}"/>
              </a:ext>
            </a:extLst>
          </p:cNvPr>
          <p:cNvSpPr>
            <a:spLocks noGrp="1"/>
          </p:cNvSpPr>
          <p:nvPr>
            <p:ph type="title"/>
          </p:nvPr>
        </p:nvSpPr>
        <p:spPr>
          <a:xfrm>
            <a:off x="579809" y="412751"/>
            <a:ext cx="11001004" cy="381000"/>
          </a:xfrm>
        </p:spPr>
        <p:txBody>
          <a:bodyPr wrap="none" anchor="b">
            <a:normAutofit/>
          </a:bodyPr>
          <a:lstStyle/>
          <a:p>
            <a:r>
              <a:rPr lang="en-US" sz="2600" dirty="0"/>
              <a:t>VCF 9.1 Upgrade Considerations</a:t>
            </a:r>
          </a:p>
        </p:txBody>
      </p:sp>
      <p:sp>
        <p:nvSpPr>
          <p:cNvPr id="12" name="Subtitle 2">
            <a:extLst>
              <a:ext uri="{FF2B5EF4-FFF2-40B4-BE49-F238E27FC236}">
                <a16:creationId xmlns:a16="http://schemas.microsoft.com/office/drawing/2014/main" id="{D133C192-110F-D80B-49DD-1212CB174B00}"/>
              </a:ext>
            </a:extLst>
          </p:cNvPr>
          <p:cNvSpPr>
            <a:spLocks noGrp="1"/>
          </p:cNvSpPr>
          <p:nvPr>
            <p:ph type="subTitle" idx="10"/>
          </p:nvPr>
        </p:nvSpPr>
        <p:spPr>
          <a:xfrm>
            <a:off x="592866" y="811830"/>
            <a:ext cx="10962687" cy="247743"/>
          </a:xfrm>
        </p:spPr>
        <p:txBody>
          <a:bodyPr/>
          <a:lstStyle/>
          <a:p>
            <a:r>
              <a:rPr lang="en-US" dirty="0"/>
              <a:t>VIDB</a:t>
            </a:r>
          </a:p>
        </p:txBody>
      </p:sp>
      <p:sp>
        <p:nvSpPr>
          <p:cNvPr id="5" name="Content Placeholder 4">
            <a:extLst>
              <a:ext uri="{FF2B5EF4-FFF2-40B4-BE49-F238E27FC236}">
                <a16:creationId xmlns:a16="http://schemas.microsoft.com/office/drawing/2014/main" id="{7EED831C-8AE8-71A8-9A61-39FBA4DC2EE7}"/>
              </a:ext>
            </a:extLst>
          </p:cNvPr>
          <p:cNvSpPr>
            <a:spLocks noGrp="1"/>
          </p:cNvSpPr>
          <p:nvPr>
            <p:ph sz="quarter" idx="17"/>
          </p:nvPr>
        </p:nvSpPr>
        <p:spPr>
          <a:xfrm>
            <a:off x="0" y="1600201"/>
            <a:ext cx="5893593" cy="4572000"/>
          </a:xfrm>
        </p:spPr>
        <p:txBody>
          <a:bodyPr>
            <a:noAutofit/>
          </a:bodyPr>
          <a:lstStyle/>
          <a:p>
            <a:pPr>
              <a:lnSpc>
                <a:spcPct val="90000"/>
              </a:lnSpc>
            </a:pPr>
            <a:r>
              <a:rPr lang="en-US" dirty="0">
                <a:solidFill>
                  <a:schemeClr val="accent2"/>
                </a:solidFill>
              </a:rPr>
              <a:t>VCF 9.0 Introduced the VCF Identity Broker (VIDB)</a:t>
            </a:r>
          </a:p>
          <a:p>
            <a:pPr lvl="1">
              <a:lnSpc>
                <a:spcPct val="90000"/>
              </a:lnSpc>
            </a:pPr>
            <a:r>
              <a:rPr lang="en-US" dirty="0">
                <a:solidFill>
                  <a:schemeClr val="accent2"/>
                </a:solidFill>
              </a:rPr>
              <a:t>Embedded Mode:  runs with vCenter.</a:t>
            </a:r>
          </a:p>
          <a:p>
            <a:pPr lvl="1">
              <a:lnSpc>
                <a:spcPct val="90000"/>
              </a:lnSpc>
            </a:pPr>
            <a:r>
              <a:rPr lang="en-US" dirty="0">
                <a:solidFill>
                  <a:schemeClr val="accent2"/>
                </a:solidFill>
              </a:rPr>
              <a:t>Appliance Mode: runs as cluster of 3 VMs. </a:t>
            </a:r>
          </a:p>
          <a:p>
            <a:pPr>
              <a:lnSpc>
                <a:spcPct val="90000"/>
              </a:lnSpc>
            </a:pPr>
            <a:endParaRPr lang="en-US" dirty="0">
              <a:solidFill>
                <a:schemeClr val="accent2"/>
              </a:solidFill>
            </a:endParaRPr>
          </a:p>
          <a:p>
            <a:pPr>
              <a:lnSpc>
                <a:spcPct val="90000"/>
              </a:lnSpc>
            </a:pPr>
            <a:r>
              <a:rPr lang="en-US" dirty="0">
                <a:solidFill>
                  <a:schemeClr val="accent2"/>
                </a:solidFill>
              </a:rPr>
              <a:t>In VCF 9.1 the VIDB “appliance mode” is now part of the VCF management services</a:t>
            </a:r>
          </a:p>
          <a:p>
            <a:pPr lvl="1">
              <a:lnSpc>
                <a:spcPct val="90000"/>
              </a:lnSpc>
            </a:pPr>
            <a:r>
              <a:rPr lang="en-US" dirty="0">
                <a:solidFill>
                  <a:schemeClr val="accent2"/>
                </a:solidFill>
              </a:rPr>
              <a:t>If VIDB is deployed in “appliance mode” and running on an NSX overlay segment, move it to the management network prior to upgrade.</a:t>
            </a:r>
          </a:p>
          <a:p>
            <a:pPr lvl="1">
              <a:lnSpc>
                <a:spcPct val="90000"/>
              </a:lnSpc>
            </a:pPr>
            <a:r>
              <a:rPr lang="en-US" dirty="0">
                <a:solidFill>
                  <a:schemeClr val="accent2"/>
                </a:solidFill>
              </a:rPr>
              <a:t>Note:  does not apply to embedded VIDB</a:t>
            </a:r>
          </a:p>
        </p:txBody>
      </p:sp>
      <p:pic>
        <p:nvPicPr>
          <p:cNvPr id="3" name="Picture 2">
            <a:extLst>
              <a:ext uri="{FF2B5EF4-FFF2-40B4-BE49-F238E27FC236}">
                <a16:creationId xmlns:a16="http://schemas.microsoft.com/office/drawing/2014/main" id="{AE16D9F3-3904-E7D9-2A63-CEB75DD578D5}"/>
              </a:ext>
            </a:extLst>
          </p:cNvPr>
          <p:cNvPicPr>
            <a:picLocks noChangeAspect="1"/>
          </p:cNvPicPr>
          <p:nvPr/>
        </p:nvPicPr>
        <p:blipFill>
          <a:blip r:embed="rId2"/>
          <a:stretch>
            <a:fillRect/>
          </a:stretch>
        </p:blipFill>
        <p:spPr>
          <a:xfrm>
            <a:off x="6116257" y="2812493"/>
            <a:ext cx="6072567" cy="1340408"/>
          </a:xfrm>
          <a:prstGeom prst="rect">
            <a:avLst/>
          </a:prstGeom>
        </p:spPr>
      </p:pic>
    </p:spTree>
    <p:extLst>
      <p:ext uri="{BB962C8B-B14F-4D97-AF65-F5344CB8AC3E}">
        <p14:creationId xmlns:p14="http://schemas.microsoft.com/office/powerpoint/2010/main" val="757169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0EC87E-7DB7-B631-D6C6-7E7710AD7D05}"/>
              </a:ext>
            </a:extLst>
          </p:cNvPr>
          <p:cNvSpPr>
            <a:spLocks noGrp="1"/>
          </p:cNvSpPr>
          <p:nvPr>
            <p:ph type="title"/>
          </p:nvPr>
        </p:nvSpPr>
        <p:spPr/>
        <p:txBody>
          <a:bodyPr/>
          <a:lstStyle/>
          <a:p>
            <a:r>
              <a:rPr lang="en-US" dirty="0"/>
              <a:t>VCF 9.1 Upgrade Considerations</a:t>
            </a:r>
          </a:p>
        </p:txBody>
      </p:sp>
      <p:sp>
        <p:nvSpPr>
          <p:cNvPr id="7" name="Subtitle 6">
            <a:extLst>
              <a:ext uri="{FF2B5EF4-FFF2-40B4-BE49-F238E27FC236}">
                <a16:creationId xmlns:a16="http://schemas.microsoft.com/office/drawing/2014/main" id="{348F8D74-35E5-A294-DE14-86E14A35D774}"/>
              </a:ext>
            </a:extLst>
          </p:cNvPr>
          <p:cNvSpPr>
            <a:spLocks noGrp="1"/>
          </p:cNvSpPr>
          <p:nvPr>
            <p:ph type="subTitle" idx="10"/>
          </p:nvPr>
        </p:nvSpPr>
        <p:spPr/>
        <p:txBody>
          <a:bodyPr/>
          <a:lstStyle/>
          <a:p>
            <a:r>
              <a:rPr lang="en-US" dirty="0"/>
              <a:t>VCF Management Components</a:t>
            </a:r>
          </a:p>
        </p:txBody>
      </p:sp>
      <p:sp>
        <p:nvSpPr>
          <p:cNvPr id="10" name="Text Placeholder 9">
            <a:extLst>
              <a:ext uri="{FF2B5EF4-FFF2-40B4-BE49-F238E27FC236}">
                <a16:creationId xmlns:a16="http://schemas.microsoft.com/office/drawing/2014/main" id="{A4134E7D-CC4D-AA99-1F7A-8FE9EDB9A12F}"/>
              </a:ext>
            </a:extLst>
          </p:cNvPr>
          <p:cNvSpPr>
            <a:spLocks noGrp="1"/>
          </p:cNvSpPr>
          <p:nvPr>
            <p:ph type="body" sz="quarter" idx="28"/>
          </p:nvPr>
        </p:nvSpPr>
        <p:spPr/>
        <p:txBody>
          <a:bodyPr/>
          <a:lstStyle/>
          <a:p>
            <a:r>
              <a:rPr lang="en-US" dirty="0"/>
              <a:t>VCF Automation</a:t>
            </a:r>
          </a:p>
        </p:txBody>
      </p:sp>
      <p:sp>
        <p:nvSpPr>
          <p:cNvPr id="9" name="Text Placeholder 8">
            <a:extLst>
              <a:ext uri="{FF2B5EF4-FFF2-40B4-BE49-F238E27FC236}">
                <a16:creationId xmlns:a16="http://schemas.microsoft.com/office/drawing/2014/main" id="{4A5C90E3-8A6C-B587-A3A2-46327CF150AB}"/>
              </a:ext>
            </a:extLst>
          </p:cNvPr>
          <p:cNvSpPr>
            <a:spLocks noGrp="1"/>
          </p:cNvSpPr>
          <p:nvPr>
            <p:ph type="body" sz="quarter" idx="26"/>
          </p:nvPr>
        </p:nvSpPr>
        <p:spPr/>
        <p:txBody>
          <a:bodyPr/>
          <a:lstStyle/>
          <a:p>
            <a:r>
              <a:rPr lang="en-US" dirty="0"/>
              <a:t>VCF Logs</a:t>
            </a:r>
          </a:p>
        </p:txBody>
      </p:sp>
      <p:sp>
        <p:nvSpPr>
          <p:cNvPr id="8" name="Text Placeholder 7">
            <a:extLst>
              <a:ext uri="{FF2B5EF4-FFF2-40B4-BE49-F238E27FC236}">
                <a16:creationId xmlns:a16="http://schemas.microsoft.com/office/drawing/2014/main" id="{50AC622A-BD54-21B5-0D53-C833366D2C01}"/>
              </a:ext>
            </a:extLst>
          </p:cNvPr>
          <p:cNvSpPr>
            <a:spLocks noGrp="1"/>
          </p:cNvSpPr>
          <p:nvPr>
            <p:ph type="body" sz="quarter" idx="23"/>
          </p:nvPr>
        </p:nvSpPr>
        <p:spPr/>
        <p:txBody>
          <a:bodyPr/>
          <a:lstStyle/>
          <a:p>
            <a:r>
              <a:rPr lang="en-US" dirty="0"/>
              <a:t>VCF Ops for Networks</a:t>
            </a:r>
          </a:p>
        </p:txBody>
      </p:sp>
      <p:sp>
        <p:nvSpPr>
          <p:cNvPr id="11" name="Text Placeholder 10">
            <a:extLst>
              <a:ext uri="{FF2B5EF4-FFF2-40B4-BE49-F238E27FC236}">
                <a16:creationId xmlns:a16="http://schemas.microsoft.com/office/drawing/2014/main" id="{7771645D-024C-3BF8-8A18-AE73AC2C42FB}"/>
              </a:ext>
            </a:extLst>
          </p:cNvPr>
          <p:cNvSpPr>
            <a:spLocks noGrp="1"/>
          </p:cNvSpPr>
          <p:nvPr>
            <p:ph type="body" sz="quarter" idx="29"/>
          </p:nvPr>
        </p:nvSpPr>
        <p:spPr/>
        <p:txBody>
          <a:bodyPr/>
          <a:lstStyle/>
          <a:p>
            <a:r>
              <a:rPr lang="en-US" dirty="0"/>
              <a:t>Import existing Aria Automation 8.x to VCF Operations and upgrade</a:t>
            </a:r>
          </a:p>
          <a:p>
            <a:pPr lvl="1"/>
            <a:r>
              <a:rPr lang="en-US" dirty="0"/>
              <a:t>Migration upgrade – deploys second instance, migrates data, removes original.</a:t>
            </a:r>
          </a:p>
        </p:txBody>
      </p:sp>
      <p:sp>
        <p:nvSpPr>
          <p:cNvPr id="12" name="Text Placeholder 11">
            <a:extLst>
              <a:ext uri="{FF2B5EF4-FFF2-40B4-BE49-F238E27FC236}">
                <a16:creationId xmlns:a16="http://schemas.microsoft.com/office/drawing/2014/main" id="{B06171DA-4E24-7504-05B5-D8AD1B59C24E}"/>
              </a:ext>
            </a:extLst>
          </p:cNvPr>
          <p:cNvSpPr>
            <a:spLocks noGrp="1"/>
          </p:cNvSpPr>
          <p:nvPr>
            <p:ph type="body" sz="quarter" idx="30"/>
          </p:nvPr>
        </p:nvSpPr>
        <p:spPr/>
        <p:txBody>
          <a:bodyPr/>
          <a:lstStyle/>
          <a:p>
            <a:r>
              <a:rPr lang="en-US" dirty="0"/>
              <a:t>No direct upgrade path for VMware Aria Logs.</a:t>
            </a:r>
          </a:p>
          <a:p>
            <a:pPr lvl="1"/>
            <a:r>
              <a:rPr lang="en-US" dirty="0"/>
              <a:t>Deploy VCF 9.1 Log Management &amp; migrate the configuration.</a:t>
            </a:r>
          </a:p>
          <a:p>
            <a:r>
              <a:rPr lang="en-US" dirty="0"/>
              <a:t>To upgrade from VCF 9.0 log management, Logs must be running on the VCF Management Network.</a:t>
            </a:r>
          </a:p>
        </p:txBody>
      </p:sp>
      <p:sp>
        <p:nvSpPr>
          <p:cNvPr id="13" name="Text Placeholder 12">
            <a:extLst>
              <a:ext uri="{FF2B5EF4-FFF2-40B4-BE49-F238E27FC236}">
                <a16:creationId xmlns:a16="http://schemas.microsoft.com/office/drawing/2014/main" id="{990DC1DA-0E57-48FF-A298-0965DE5B7CDA}"/>
              </a:ext>
            </a:extLst>
          </p:cNvPr>
          <p:cNvSpPr>
            <a:spLocks noGrp="1"/>
          </p:cNvSpPr>
          <p:nvPr>
            <p:ph type="body" sz="quarter" idx="31"/>
          </p:nvPr>
        </p:nvSpPr>
        <p:spPr/>
        <p:txBody>
          <a:bodyPr/>
          <a:lstStyle/>
          <a:p>
            <a:r>
              <a:rPr lang="en-US" dirty="0"/>
              <a:t>Import 6.14.0 Patch6, 6.14.1 or later and upgrade.</a:t>
            </a:r>
          </a:p>
          <a:p>
            <a:r>
              <a:rPr lang="en-US" dirty="0"/>
              <a:t>Limited to one instance.</a:t>
            </a:r>
          </a:p>
        </p:txBody>
      </p:sp>
      <p:pic>
        <p:nvPicPr>
          <p:cNvPr id="15" name="Picture 14">
            <a:extLst>
              <a:ext uri="{FF2B5EF4-FFF2-40B4-BE49-F238E27FC236}">
                <a16:creationId xmlns:a16="http://schemas.microsoft.com/office/drawing/2014/main" id="{37C6C762-E082-75FD-B39B-9A080EF96D7E}"/>
              </a:ext>
            </a:extLst>
          </p:cNvPr>
          <p:cNvPicPr>
            <a:picLocks noChangeAspect="1"/>
          </p:cNvPicPr>
          <p:nvPr/>
        </p:nvPicPr>
        <p:blipFill>
          <a:blip r:embed="rId2"/>
          <a:stretch>
            <a:fillRect/>
          </a:stretch>
        </p:blipFill>
        <p:spPr>
          <a:xfrm>
            <a:off x="745266" y="4986799"/>
            <a:ext cx="3059722" cy="677401"/>
          </a:xfrm>
          <a:prstGeom prst="rect">
            <a:avLst/>
          </a:prstGeom>
        </p:spPr>
      </p:pic>
      <p:pic>
        <p:nvPicPr>
          <p:cNvPr id="16" name="Picture 15">
            <a:extLst>
              <a:ext uri="{FF2B5EF4-FFF2-40B4-BE49-F238E27FC236}">
                <a16:creationId xmlns:a16="http://schemas.microsoft.com/office/drawing/2014/main" id="{10760A14-67EA-5D67-06A9-C99966BFB30E}"/>
              </a:ext>
            </a:extLst>
          </p:cNvPr>
          <p:cNvPicPr>
            <a:picLocks noChangeAspect="1"/>
          </p:cNvPicPr>
          <p:nvPr/>
        </p:nvPicPr>
        <p:blipFill>
          <a:blip r:embed="rId3"/>
          <a:stretch>
            <a:fillRect/>
          </a:stretch>
        </p:blipFill>
        <p:spPr>
          <a:xfrm>
            <a:off x="8086663" y="4961399"/>
            <a:ext cx="3423984" cy="631731"/>
          </a:xfrm>
          <a:prstGeom prst="rect">
            <a:avLst/>
          </a:prstGeom>
        </p:spPr>
      </p:pic>
      <p:pic>
        <p:nvPicPr>
          <p:cNvPr id="17" name="Picture 16">
            <a:extLst>
              <a:ext uri="{FF2B5EF4-FFF2-40B4-BE49-F238E27FC236}">
                <a16:creationId xmlns:a16="http://schemas.microsoft.com/office/drawing/2014/main" id="{21F5828A-5696-6046-440D-D45804B75227}"/>
              </a:ext>
            </a:extLst>
          </p:cNvPr>
          <p:cNvPicPr>
            <a:picLocks noChangeAspect="1"/>
          </p:cNvPicPr>
          <p:nvPr/>
        </p:nvPicPr>
        <p:blipFill>
          <a:blip r:embed="rId4"/>
          <a:stretch>
            <a:fillRect/>
          </a:stretch>
        </p:blipFill>
        <p:spPr>
          <a:xfrm>
            <a:off x="4511828" y="4979229"/>
            <a:ext cx="3165168" cy="677401"/>
          </a:xfrm>
          <a:prstGeom prst="rect">
            <a:avLst/>
          </a:prstGeom>
        </p:spPr>
      </p:pic>
    </p:spTree>
    <p:extLst>
      <p:ext uri="{BB962C8B-B14F-4D97-AF65-F5344CB8AC3E}">
        <p14:creationId xmlns:p14="http://schemas.microsoft.com/office/powerpoint/2010/main" val="349500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7069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898F452D-1A43-447A-BE0C-11060F9C9D39}" vid="{5B66E56F-88DA-457D-A485-7D4212373F39}"/>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3F91C0C4ECEE479555FEA4A4EB2B48" ma:contentTypeVersion="15" ma:contentTypeDescription="Create a new document." ma:contentTypeScope="" ma:versionID="c6a87b1e4bc033b72f454e04dac54d88">
  <xsd:schema xmlns:xsd="http://www.w3.org/2001/XMLSchema" xmlns:xs="http://www.w3.org/2001/XMLSchema" xmlns:p="http://schemas.microsoft.com/office/2006/metadata/properties" xmlns:ns2="34d4d772-b3f2-47fc-9a2d-2126f9957ae8" xmlns:ns3="d345b56e-75a0-4ca8-9b4b-110cb999efd5" targetNamespace="http://schemas.microsoft.com/office/2006/metadata/properties" ma:root="true" ma:fieldsID="6eb14a52ad1190b1f78ecaeae027f828" ns2:_="" ns3:_="">
    <xsd:import namespace="34d4d772-b3f2-47fc-9a2d-2126f9957ae8"/>
    <xsd:import namespace="d345b56e-75a0-4ca8-9b4b-110cb999ef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d4d772-b3f2-47fc-9a2d-2126f9957a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2db59af-f8a6-47a7-a7a2-8d3f5d7884b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345b56e-75a0-4ca8-9b4b-110cb999efd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e60bf06-978e-4056-b583-56563198eef8}" ma:internalName="TaxCatchAll" ma:showField="CatchAllData" ma:web="d345b56e-75a0-4ca8-9b4b-110cb999efd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4d4d772-b3f2-47fc-9a2d-2126f9957ae8">
      <Terms xmlns="http://schemas.microsoft.com/office/infopath/2007/PartnerControls"/>
    </lcf76f155ced4ddcb4097134ff3c332f>
    <TaxCatchAll xmlns="d345b56e-75a0-4ca8-9b4b-110cb999efd5" xsi:nil="true"/>
    <SharedWithUsers xmlns="d345b56e-75a0-4ca8-9b4b-110cb999efd5">
      <UserInfo>
        <DisplayName>Juanly Cabrera</DisplayName>
        <AccountId>17</AccountId>
        <AccountType/>
      </UserInfo>
      <UserInfo>
        <DisplayName>Andre Fernandes</DisplayName>
        <AccountId>20</AccountId>
        <AccountType/>
      </UserInfo>
    </SharedWithUsers>
  </documentManagement>
</p:properties>
</file>

<file path=customXml/itemProps1.xml><?xml version="1.0" encoding="utf-8"?>
<ds:datastoreItem xmlns:ds="http://schemas.openxmlformats.org/officeDocument/2006/customXml" ds:itemID="{28FF4D8F-9B19-4DA8-8A71-562BBA95DC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d4d772-b3f2-47fc-9a2d-2126f9957ae8"/>
    <ds:schemaRef ds:uri="d345b56e-75a0-4ca8-9b4b-110cb999ef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D99180-4DF7-4231-B572-5E5D5B192DA4}">
  <ds:schemaRefs>
    <ds:schemaRef ds:uri="http://schemas.microsoft.com/sharepoint/v3/contenttype/forms"/>
  </ds:schemaRefs>
</ds:datastoreItem>
</file>

<file path=customXml/itemProps3.xml><?xml version="1.0" encoding="utf-8"?>
<ds:datastoreItem xmlns:ds="http://schemas.openxmlformats.org/officeDocument/2006/customXml" ds:itemID="{51634573-F7D8-4ECC-B5FF-91D1E5D2E650}">
  <ds:schemaRefs>
    <ds:schemaRef ds:uri="http://schemas.openxmlformats.org/package/2006/metadata/core-properties"/>
    <ds:schemaRef ds:uri="http://schemas.microsoft.com/office/2006/documentManagement/types"/>
    <ds:schemaRef ds:uri="34d4d772-b3f2-47fc-9a2d-2126f9957ae8"/>
    <ds:schemaRef ds:uri="http://purl.org/dc/terms/"/>
    <ds:schemaRef ds:uri="http://purl.org/dc/elements/1.1/"/>
    <ds:schemaRef ds:uri="d345b56e-75a0-4ca8-9b4b-110cb999efd5"/>
    <ds:schemaRef ds:uri="http://schemas.microsoft.com/office/infopath/2007/PartnerControls"/>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VMware 2025 Light</Template>
  <TotalTime>75321</TotalTime>
  <Words>2771</Words>
  <Application>Microsoft Macintosh PowerPoint</Application>
  <PresentationFormat>Custom</PresentationFormat>
  <Paragraphs>536</Paragraphs>
  <Slides>26</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Camphor Std</vt:lpstr>
      <vt:lpstr>Helvetica Neue</vt:lpstr>
      <vt:lpstr>Metropolis</vt:lpstr>
      <vt:lpstr>Metropolis-Regular</vt:lpstr>
      <vt:lpstr>Open Sans</vt:lpstr>
      <vt:lpstr>System Font Regular</vt:lpstr>
      <vt:lpstr>Wingdings</vt:lpstr>
      <vt:lpstr>VMware 2025 Light</vt:lpstr>
      <vt:lpstr>Upgrading to VMware Cloud Foundation 9.1</vt:lpstr>
      <vt:lpstr>Upgrade  Overview…</vt:lpstr>
      <vt:lpstr>VCF 9.1 Upgrade at-a-Glance</vt:lpstr>
      <vt:lpstr>Private Cloud Constructs within VMware Cloud Foundation</vt:lpstr>
      <vt:lpstr>VCF Fleet Components Overview*</vt:lpstr>
      <vt:lpstr>VCF 9.1 Upgrade High Level Overview</vt:lpstr>
      <vt:lpstr>Deprecated  Features…</vt:lpstr>
      <vt:lpstr>Deprecated Feature</vt:lpstr>
      <vt:lpstr>Deprecated Feature</vt:lpstr>
      <vt:lpstr>vSphere 8.x to VCF 9.1 Upgrade Overview…</vt:lpstr>
      <vt:lpstr>Upgrade Path Differs Depending if NSX and Aria Ops is Used</vt:lpstr>
      <vt:lpstr>vSphere 8.x  VCF 9.1 Upgrade Considerations</vt:lpstr>
      <vt:lpstr>vSphere 8.x Upgrade Path</vt:lpstr>
      <vt:lpstr>VCF 5.2 to VCF 9.1 Upgrade Overview…</vt:lpstr>
      <vt:lpstr>VCF 5.2  VCF 9.1 Upgrade Considerations</vt:lpstr>
      <vt:lpstr>Notable Changes between VCF 5.2 and VCF 9.1</vt:lpstr>
      <vt:lpstr>5.2.x Upgrade Path</vt:lpstr>
      <vt:lpstr>VCF 9.0 to VCF 9.1 Upgrade Overview…</vt:lpstr>
      <vt:lpstr>VCF 9.0  VCF 9.1 Upgrade Considerations</vt:lpstr>
      <vt:lpstr>VCF 9.0.x  VCF 9.1 Upgrade Path</vt:lpstr>
      <vt:lpstr>VCF 9.1 Upgrade Paths</vt:lpstr>
      <vt:lpstr>Additional Upgrade Considerations…</vt:lpstr>
      <vt:lpstr>VCF 9.1 Upgrade Considerations</vt:lpstr>
      <vt:lpstr>VCF 9.1 Upgrade Considerations</vt:lpstr>
      <vt:lpstr>VCF 9.1 Upgrade Considerations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Kyle Gleed</dc:creator>
  <cp:keywords>VMware</cp:keywords>
  <cp:lastModifiedBy>Aditi Pandey</cp:lastModifiedBy>
  <cp:revision>145</cp:revision>
  <cp:lastPrinted>2025-08-06T01:09:27Z</cp:lastPrinted>
  <dcterms:created xsi:type="dcterms:W3CDTF">2025-03-15T03:57:45Z</dcterms:created>
  <dcterms:modified xsi:type="dcterms:W3CDTF">2026-05-13T16:13:45Z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0x0101008B3F91C0C4ECEE479555FEA4A4EB2B48</vt:lpwstr>
  </property>
  <property fmtid="{D5CDD505-2E9C-101B-9397-08002B2CF9AE}" pid="3" name="MediaServiceImageTags">
    <vt:lpwstr/>
  </property>
</Properties>
</file>